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22.7</c:v>
                </c:pt>
                <c:pt idx="1">
                  <c:v>34.8</c:v>
                </c:pt>
                <c:pt idx="2">
                  <c:v>40.4</c:v>
                </c:pt>
                <c:pt idx="3">
                  <c:v>43.3</c:v>
                </c:pt>
                <c:pt idx="4">
                  <c:v>45.9</c:v>
                </c:pt>
                <c:pt idx="5">
                  <c:v>51.2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87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$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11900</c:v>
                </c:pt>
                <c:pt idx="1">
                  <c:v>10672</c:v>
                </c:pt>
                <c:pt idx="2">
                  <c:v>5816</c:v>
                </c:pt>
                <c:pt idx="3">
                  <c:v>7364</c:v>
                </c:pt>
                <c:pt idx="4">
                  <c:v>9548</c:v>
                </c:pt>
                <c:pt idx="5">
                  <c:v>5632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684.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Monthly report pack, September 2026. Sample Electrical &amp; Air Pty Ltd. An electrical and air-conditioning contractor in Brisbane: maintenance contracts, installations and call-outs. 7 technicians, 3 office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fourth sheet: September 2026 vs August 2026: Gross margin (P&amp;L), September 30.1%; Cost to win a customer $162; Technician time on jobs 64.3%.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installation invoiced in September 2026. Gross margin % · Whole job, recognised when invoiced: revenue less materials, subcontractors and technician time at $68/hour. Before overheads: not profit. One 35.0% target for every job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installation invoiced in September 2026. Gross margin $ · Whole job, recognised when invoiced: revenue less materials, subcontractors and technician time at $68/hour. Before overheads: not profit. One 35.0% target for every job for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Gross margin (P&amp;L). Gross profit ÷ revenue. All technician wages and on-costs included; overheads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Cost to win a customer. Marketing spend ÷ new customers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it's worked out: Technician time on jobs. Hours charged to jobs ÷ hours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and loss,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and loss,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sheet at 30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Cash flow,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Jobs, September 2026 (1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Jobs, September 2026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The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Jobs (September)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Cash and balance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Assumptions: GST, BAS and payroll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Monthly report pack,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An electrical and air-conditioning contractor in Brisbane: maintenance contracts, installations and call-outs. 7 technicians, 3 office staff.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The fourth sheet: September 2026 vs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(P&amp;L),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B42318"/>
                </a:solidFill>
                <a:latin typeface="Roboto"/>
              </a:rPr>
              <a:t>30.1%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▼ from 33.2% in 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Cost to win a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▼ from $205 in 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on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64.3%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▲ from 61.6% in 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installation invoiced in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margin % · Whole job, recognised when invoiced: revenue less materials, subcontractors and technician time at $68/hour. Before overheads: not profit. One 35.0% target for every job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72845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3117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installation invoiced in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margin $ · Whole job, recognised when invoiced: revenue less materials, subcontractors and technician time at $68/hour. Before overheads: not profit. One 35.0% target for every job for now.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Gross margin (P&amp;L)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Gross profit ÷ revenue. All technician wages and on-costs included; overheads are not.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 (every job invoiced in the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$225,460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$199,523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($64,860)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($51,530)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($9,300)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($79,587)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($72,352)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$67,813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(P&amp;L)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33.2%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Cost to win a customer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Marketing spend ÷ new customers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 customers (first job ever)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Cost per new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it's worked out: Technician time on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Hours charged to jobs ÷ hours available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78636"/>
          <a:ext cx="11277295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charged to jobs (timesheets)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752.5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655.0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per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7.6 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Hours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1,170.4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1,064.0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Time on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61.6%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 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 (jobs)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146,300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Call-outs: technician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Call-outs: materials charged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9,035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225,460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199,523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25,937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(64,860)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(51,530)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(13,330)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(9,300)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(incl. on-costs)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(79,587)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(72,352)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(7,235)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cost of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(157,647)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(133,182)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(24,465)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67,813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66,341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Office and admin wages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(21,900)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Marketing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(7,600)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(8,400)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fuel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(8,300)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Rent and occupancy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Profit and loss,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IT and software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Other overheads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(3,900)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operating expenses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(54,000)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B42318"/>
                          </a:solidFill>
                          <a:latin typeface="Roboto"/>
                        </a:rPr>
                        <a:t>(54,100)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Depreciation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(4,500)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(4,300)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8,233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6,841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provision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(2,058)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(1,710)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profit after tax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6,175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5,131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1,044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120,228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92,859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debtors (unpaid invoices)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185,678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159,756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25,922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 on hand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Prepayments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392,906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339,615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53,291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Vehicles and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255,200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247,700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648,106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587,315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60,791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Trade creditors (bills due next month)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85,866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66,913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18,953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Wages owed (since the last pay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37,678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4,523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3,296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1,227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PAYG withholding payable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47,754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31,836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15,918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 payable (net)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32,817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22,477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10,340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Employee leave provisions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105,100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 payable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35,268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33,210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2,058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Balance sheet at 30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current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349,906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290,290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59,616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liabilities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444,906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390,290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54,616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Net assets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203,200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197,025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6,175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Share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Retained earnings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193,200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187,025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6,175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203,200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197,025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flow,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Sep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Aug 2026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Change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Receipts from customers (invoices paid)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222,094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191,442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suppliers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(102,223)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(107,261)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5,038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Payments to 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(73,222)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(73,222)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Interest paid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(1,080)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(1,100)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GST, PAYG and income tax paid (BAS)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operating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45,569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9,859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35,710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Purchase of vehicles and equipment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investing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(13,200)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 repaid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cash from financing activities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(5,000)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Net change in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Cash at start of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92,859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88,000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4,859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Cash at end of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120,228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92,859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27,369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12 of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Jobs, September 2026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Labour cost (incl. on-costs)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Bulimba EV chargers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Carindale solar and battery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13,800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3,128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10,672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34.8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Chermside clinic cabling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Milton office LED lighting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9,548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Wacol warehouse switchboard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West End cafe air-con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2,584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5,816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Ashgrove aged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Bulimba school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3,150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1,088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2,002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Carindale vet clinic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Chermside retail centre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1,564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2,936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Fortitude Valley hotel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Kangaroo Point townhouses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62.9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Milton office tower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Newstead gym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1,158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13 of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Jobs, September 2026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Type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Materials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Subcontractors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Labour cost (incl. on-costs)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Job 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Riverside Apartments (strata)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2,316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Rocklea factory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4,350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1,496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2,744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Southbank cafe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Wacol logistics depot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3,350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1,156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2,124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West End brewery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Wynnum medical centre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2,450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1,594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 call-outs (each one is in the spreadsheet)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33,810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10,098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14 of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The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9326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An electrical and air-conditioning contractor in Brisbane: maintenance contracts, installations and call-outs. 7 technicians, 3 office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Reporting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September 2026 (the last closed month), compared with August 2026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Financial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FY2027: 1 July 2026 to 30 June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15 of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Jobs (September)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 customers, invoiced on the 1st, paid in about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 named jobs, each with its own quote, materials, subcontractors and hours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64 jobs at $163/hour plus materials marked up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Jobs in September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84 in total (every one is in the spreadsheet download and CSV)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16 of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 employed full time: $79,587 in September incl. on-costs (every available hour at $68)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Job costing rate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$68/hour = technician wages incl. on-costs ÷ available hours, worked out each month; time charged to jobs + time not charged = technician wages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Working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20 in August (21 weekdays, less the Ekka People's Day holiday, Wed 12 Aug), 22 in September; 7.6 hours a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set month by month, as shown in the P&amp;L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Income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25% of profit, provided monthly; the PAYG instalment is paid with each quarter's 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17 of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Cash and balance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2435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Customer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each invoice is paid on its own date; unpaid invoices at month end = debtors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Supplier bills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materials and subcontractors are paid the following month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Equipment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$5,000 repaid each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New equipment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a $12,000 trailer bought in September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18 of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Assumptions: GST, BAS and payroll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Monthly report pack, September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4" cy="18653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registered; 10%, accruals basis: GST on a sale is owed when it's invoiced, a credit on a bill is claimed when it's received. The P&amp;L excludes GST; invoices, bills, debtors, creditors and cash include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quarterly, self-lodged: GST on sales − GST credits + PAYG withheld + PAYG instalment. July to September is due 28 October; October to December, 28 February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fortnightly on Thursdays: $39,795 gross (a 26th of the year's gross wages); net pay $31,836 and super $4,775 paid on the day; PAYG withheld (about 20% of gross, $7,959) goes with the BAS. Two months a year have three pay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Super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12% of gross wages, paid with each pay run (Payday Super, from 1 July 2026)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Payroll 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none: Queensland's threshold is $1.3 million of wages a year (rate 4.75% above it); this business pays about $1,159,000 including super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Banking days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money only moves on banking days: a payment due on a weekend or Queensland public holiday moves to the next banking day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trades-sample-statements.pptx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19 of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