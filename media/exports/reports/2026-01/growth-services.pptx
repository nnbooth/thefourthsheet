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Sheet1!$A$2:$A$17</c:f>
              <c:strCache>
                <c:ptCount val="16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</c:strCache>
            </c:strRef>
          </c:cat>
          <c:val>
            <c:numRef>
              <c:f>Sheet1!$B$2:$B$17</c:f>
              <c:numCache>
                <c:formatCode>$#,##0;[Red]($#,##0);"-"</c:formatCode>
                <c:ptCount val="16"/>
                <c:pt idx="0">
                  <c:v>103550</c:v>
                </c:pt>
                <c:pt idx="1">
                  <c:v>118390</c:v>
                </c:pt>
                <c:pt idx="2">
                  <c:v>125715</c:v>
                </c:pt>
                <c:pt idx="3">
                  <c:v>96560</c:v>
                </c:pt>
                <c:pt idx="4">
                  <c:v>121275</c:v>
                </c:pt>
                <c:pt idx="5">
                  <c:v>84340</c:v>
                </c:pt>
                <c:pt idx="6">
                  <c:v>69985</c:v>
                </c:pt>
                <c:pt idx="7">
                  <c:v>104970</c:v>
                </c:pt>
                <c:pt idx="8">
                  <c:v>99060</c:v>
                </c:pt>
                <c:pt idx="9">
                  <c:v>94805</c:v>
                </c:pt>
                <c:pt idx="10">
                  <c:v>67745</c:v>
                </c:pt>
                <c:pt idx="11">
                  <c:v>65650</c:v>
                </c:pt>
                <c:pt idx="12">
                  <c:v>78550</c:v>
                </c:pt>
                <c:pt idx="13">
                  <c:v>92575</c:v>
                </c:pt>
                <c:pt idx="14">
                  <c:v>76600</c:v>
                </c:pt>
                <c:pt idx="15">
                  <c:v>102350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Sheet1!$A$2:$A$17</c:f>
              <c:strCache>
                <c:ptCount val="16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</c:strCache>
            </c:strRef>
          </c:cat>
          <c:val>
            <c:numRef>
              <c:f>Sheet1!$B$2:$B$17</c:f>
              <c:numCache>
                <c:formatCode>$#,##0;[Red]($#,##0);"-"</c:formatCode>
                <c:ptCount val="16"/>
                <c:pt idx="0">
                  <c:v>77350</c:v>
                </c:pt>
                <c:pt idx="1">
                  <c:v>96790</c:v>
                </c:pt>
                <c:pt idx="2">
                  <c:v>103515</c:v>
                </c:pt>
                <c:pt idx="3">
                  <c:v>73060</c:v>
                </c:pt>
                <c:pt idx="4">
                  <c:v>92075</c:v>
                </c:pt>
                <c:pt idx="5">
                  <c:v>53340</c:v>
                </c:pt>
                <c:pt idx="6">
                  <c:v>40885</c:v>
                </c:pt>
                <c:pt idx="7">
                  <c:v>65570</c:v>
                </c:pt>
                <c:pt idx="8">
                  <c:v>70760</c:v>
                </c:pt>
                <c:pt idx="9">
                  <c:v>71205</c:v>
                </c:pt>
                <c:pt idx="10">
                  <c:v>42845</c:v>
                </c:pt>
                <c:pt idx="11">
                  <c:v>42050</c:v>
                </c:pt>
                <c:pt idx="12">
                  <c:v>50650</c:v>
                </c:pt>
                <c:pt idx="13">
                  <c:v>51775</c:v>
                </c:pt>
                <c:pt idx="14">
                  <c:v>32800</c:v>
                </c:pt>
                <c:pt idx="15">
                  <c:v>66950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2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Sheet1!$A$2:$A$17</c:f>
              <c:strCache>
                <c:ptCount val="16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</c:strCache>
            </c:strRef>
          </c:cat>
          <c:val>
            <c:numRef>
              <c:f>Sheet1!$B$2:$B$17</c:f>
              <c:numCache>
                <c:formatCode>$#,##0;[Red]($#,##0);"-"</c:formatCode>
                <c:ptCount val="16"/>
                <c:pt idx="0">
                  <c:v>16500</c:v>
                </c:pt>
                <c:pt idx="1">
                  <c:v>16500</c:v>
                </c:pt>
                <c:pt idx="2">
                  <c:v>16500</c:v>
                </c:pt>
                <c:pt idx="3">
                  <c:v>16500</c:v>
                </c:pt>
                <c:pt idx="4">
                  <c:v>16500</c:v>
                </c:pt>
                <c:pt idx="5">
                  <c:v>24000</c:v>
                </c:pt>
                <c:pt idx="6">
                  <c:v>24000</c:v>
                </c:pt>
                <c:pt idx="7">
                  <c:v>24000</c:v>
                </c:pt>
                <c:pt idx="8">
                  <c:v>24000</c:v>
                </c:pt>
                <c:pt idx="9">
                  <c:v>17900</c:v>
                </c:pt>
                <c:pt idx="10">
                  <c:v>17900</c:v>
                </c:pt>
                <c:pt idx="11">
                  <c:v>17900</c:v>
                </c:pt>
                <c:pt idx="12">
                  <c:v>17900</c:v>
                </c:pt>
                <c:pt idx="13">
                  <c:v>31100</c:v>
                </c:pt>
                <c:pt idx="14">
                  <c:v>31100</c:v>
                </c:pt>
                <c:pt idx="15">
                  <c:v>31100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Sheet1!$A$2:$A$17</c:f>
              <c:strCache>
                <c:ptCount val="16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</c:strCache>
            </c:strRef>
          </c:cat>
          <c:val>
            <c:numRef>
              <c:f>Sheet1!$B$2:$B$17</c:f>
              <c:numCache>
                <c:formatCode>$#,##0;[Red]($#,##0);"-"</c:formatCode>
                <c:ptCount val="16"/>
                <c:pt idx="0">
                  <c:v>9700</c:v>
                </c:pt>
                <c:pt idx="1">
                  <c:v>5100</c:v>
                </c:pt>
                <c:pt idx="2">
                  <c:v>5700</c:v>
                </c:pt>
                <c:pt idx="3">
                  <c:v>7000</c:v>
                </c:pt>
                <c:pt idx="4">
                  <c:v>12700</c:v>
                </c:pt>
                <c:pt idx="5">
                  <c:v>7000</c:v>
                </c:pt>
                <c:pt idx="6">
                  <c:v>5100</c:v>
                </c:pt>
                <c:pt idx="7">
                  <c:v>15400</c:v>
                </c:pt>
                <c:pt idx="8">
                  <c:v>4300</c:v>
                </c:pt>
                <c:pt idx="9">
                  <c:v>5700</c:v>
                </c:pt>
                <c:pt idx="10">
                  <c:v>7000</c:v>
                </c:pt>
                <c:pt idx="11">
                  <c:v>5700</c:v>
                </c:pt>
                <c:pt idx="12">
                  <c:v>10000</c:v>
                </c:pt>
                <c:pt idx="13">
                  <c:v>9700</c:v>
                </c:pt>
                <c:pt idx="14">
                  <c:v>12700</c:v>
                </c:pt>
                <c:pt idx="15">
                  <c:v>4300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2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products and services are growing?. Sample Advisory Pty Ltd. Period: January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All. January against January last year: 6.0%; Year to date (Jul to Jan 2026): $578,275; Gross margin, year to date: 67.5%. Revenue is $578,275 this financial year to date (Jul to Jan 2026). Training makes the highest gross margin (77.9%); Projects the lowest (65.0%). The business needs 65.0% gross margin just to cover overheads. Projects: 65.0% gross margin, 25.0 points over the 40.0% target ($89,665 ahead on $358,275 this financial year to date). Training: 77.9% gross margin, 37.9 points over the 40.0% target ($20,880 ahead on $55,100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Projects. January against January last year: (8.4%); Year to date (Jul to Jan 2026): $358,275; Gross margin, year to date: 65.0%. Projects brought in $358,275 this financial year to date, at a 65.0% gross margin (below the 67.5% overall). Projects: 65.0% gross margin, 25.0 points over the 40.0% target ($89,665 ahead on $358,275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Retainers. January against January last year: 88.5%; Year to date (Jul to Jan 2026): $164,900; Gross margin, year to date: 69.3%. Retainers brought in $164,900 this financial year to date, at a 69.3% gross margin (above the 67.5% overall). Retainers: 69.3% gross margin, 29.3 points over the 40.0% target ($48,240 ahead on $164,900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Training. January against January last year: (38.6%); Year to date (Jul to Jan 2026): $55,100; Gross margin, year to date: 77.9%. Training brought in $55,100 this financial year to date, at a 77.9% gross margin (above the 67.5% overall). Training: 77.9% gross margin, 37.9 points over the 40.0% target ($20,880 ahead on $55,100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type of work: financial year to date (Jul to Jan 2026) against the same period last year · Services. Same period last year: Not available: the data starts October 2024. From gross margin to profit: January's client work made $69,830 gross margin (68.2%). Consultant time not charged to client work took $15,180 and overheads $51,360, leaving $3,290 profit before tax (3.2% of revenue). To cover overheads, client work needs a 65.0%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products and services are growing?</a:t>
            </a:r>
          </a:p>
        </p:txBody>
      </p:sp>
      <p:pic>
        <p:nvPicPr>
          <p:cNvPr id="3" name="Picture 2" descr="mark-4th-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Advisory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January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January 2026: Locked. January 2026 is locked (closed 3 Feb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All.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January against January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$102,350 against $96,560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Jan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$578,275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67.5%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$390,095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318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Revenue is $578,275 this financial year to date (Jul to Jan 2026). Training makes the highest gross margin (77.9%); Projects the lowest (65.0%). The business needs 65.0% gross margin just to cover overheads.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Projects: 65.0% gross margin, 25.0 points over the 40.0% target ($89,665 ahead on $358,275 this financial year to date). Training: 77.9% gross margin, 37.9 points over the 40.0% target ($20,880 ahead on $55,100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Projects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Projects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January against January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(8.4%)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$66,950 against $73,060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Jan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$358,275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65.0%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$232,975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 brought in $358,275 this financial year to date, at a 65.0% gross margin (below the 67.5%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Projects: 65.0% gross margin, 25.0 points over the 40.0% target ($89,665 ahead on $358,275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Retainers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Retainers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January against January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88.5%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$31,100 against $16,500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Jan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$164,900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69.3%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$114,200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Retainers brought in $164,900 this financial year to date, at a 69.3% gross margin (above the 67.5%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Retainers: 69.3% gross margin, 29.3 points over the 40.0% target ($48,240 ahead on $164,900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Training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Training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January against January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(38.6%)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$4,300 against $7,000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Jan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$55,100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77.9%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$42,920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Training brought in $55,100 this financial year to date, at a 77.9% gross margin (above the 67.5%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Training: 77.9% gross margin, 37.9 points over the 40.0% target ($20,880 ahead on $55,100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7193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By type of work: financial year to date (Jul to Jan 2026) against the same period last year · Services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58240"/>
            <a:ext cx="11277295" cy="644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Same period last year: Not available: the data starts October 2024. From gross margin to profit: January's client work made $69,830 gross margin (68.2%). Consultant time not charged to client work took $15,180 and overheads $51,360, leaving $3,290 profit before tax (3.2% of revenue). To cover overheads, client work needs a 65.0%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03476"/>
          <a:ext cx="1127729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Year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Same period last year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Growth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%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Projects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$358,275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$232,975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Retainers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$164,900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$114,200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69.3%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$55,100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$42,920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77.9%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$578,275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$390,095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67.5%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