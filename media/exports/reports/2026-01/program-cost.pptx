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3"/>
          <c:y val="0.03"/>
          <c:w val="0.58"/>
          <c:h val="0.88"/>
        </c:manualLayout>
      </c:layout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$</c:v>
                </c:pt>
              </c:strCache>
            </c:strRef>
          </c:tx>
          <c:dPt>
            <c:idx val="0"/>
            <c:spPr>
              <a:solidFill>
                <a:srgbClr val="0E9F6E"/>
              </a:solidFill>
            </c:spPr>
          </c:dPt>
          <c:dPt>
            <c:idx val="1"/>
            <c:spPr>
              <a:solidFill>
                <a:srgbClr val="0E9F6E"/>
              </a:solidFill>
            </c:spPr>
          </c:dPt>
          <c:dPt>
            <c:idx val="2"/>
            <c:spPr>
              <a:solidFill>
                <a:srgbClr val="0E9F6E"/>
              </a:solidFill>
            </c:spPr>
          </c:dPt>
          <c:dPt>
            <c:idx val="3"/>
            <c:spPr>
              <a:solidFill>
                <a:srgbClr val="0E9F6E"/>
              </a:solidFill>
            </c:spPr>
          </c:dPt>
          <c:cat>
            <c:strRef>
              <c:f>Sheet1!$A$2:$A$5</c:f>
              <c:strCache>
                <c:ptCount val="4"/>
                <c:pt idx="0">
                  <c:v>Community meals (2025-26)</c:v>
                </c:pt>
                <c:pt idx="1">
                  <c:v>Digital literacy</c:v>
                </c:pt>
                <c:pt idx="2">
                  <c:v>Youth outreach</c:v>
                </c:pt>
                <c:pt idx="3">
                  <c:v>Housing support</c:v>
                </c:pt>
              </c:strCache>
            </c:strRef>
          </c:cat>
          <c:val>
            <c:numRef>
              <c:f>Sheet1!$B$2:$B$5</c:f>
              <c:numCache>
                <c:formatCode>$#,##0;[Red]($#,##0);"-"</c:formatCode>
                <c:ptCount val="4"/>
                <c:pt idx="0">
                  <c:v>6943</c:v>
                </c:pt>
                <c:pt idx="1">
                  <c:v>8305</c:v>
                </c:pt>
                <c:pt idx="2">
                  <c:v>39701</c:v>
                </c:pt>
                <c:pt idx="3">
                  <c:v>57236</c:v>
                </c:pt>
              </c:numCache>
            </c:numRef>
          </c:val>
        </c:ser>
        <c:dLbls>
          <c:numFmt formatCode="$#,##0;[Red]($#,##0);&quot;-&quot;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65821.4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>
          <a:latin typeface="Roboto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Spend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Sheet1!$A$2:$A$17</c:f>
              <c:strCache>
                <c:ptCount val="16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</c:strCache>
            </c:strRef>
          </c:cat>
          <c:val>
            <c:numRef>
              <c:f>Sheet1!$B$2:$B$17</c:f>
              <c:numCache>
                <c:formatCode>$#,##0;[Red]($#,##0);"-"</c:formatCode>
                <c:ptCount val="1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30502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2"/>
        <c:noMultiLvlLbl val="0"/>
      </c:catAx>
      <c:valAx>
        <c:axId val="-2100718248"/>
        <c:scaling>
          <c:orientation val="minMax"/>
          <c:max val="40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100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Spend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Sheet1!$A$2:$A$17</c:f>
              <c:strCache>
                <c:ptCount val="16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</c:strCache>
            </c:strRef>
          </c:cat>
          <c:val>
            <c:numRef>
              <c:f>Sheet1!$B$2:$B$17</c:f>
              <c:numCache>
                <c:formatCode>$#,##0;[Red]($#,##0);"-"</c:formatCode>
                <c:ptCount val="1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17363</c:v>
                </c:pt>
                <c:pt idx="10">
                  <c:v>21144</c:v>
                </c:pt>
                <c:pt idx="11">
                  <c:v>17537</c:v>
                </c:pt>
                <c:pt idx="12">
                  <c:v>21925</c:v>
                </c:pt>
                <c:pt idx="13">
                  <c:v>21079</c:v>
                </c:pt>
                <c:pt idx="14">
                  <c:v>19272</c:v>
                </c:pt>
                <c:pt idx="15">
                  <c:v>21157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2"/>
        <c:noMultiLvlLbl val="0"/>
      </c:catAx>
      <c:valAx>
        <c:axId val="-2100718248"/>
        <c:scaling>
          <c:orientation val="minMax"/>
          <c:max val="25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50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Spend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Sheet1!$A$2:$A$17</c:f>
              <c:strCache>
                <c:ptCount val="16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</c:strCache>
            </c:strRef>
          </c:cat>
          <c:val>
            <c:numRef>
              <c:f>Sheet1!$B$2:$B$17</c:f>
              <c:numCache>
                <c:formatCode>$#,##0;[Red]($#,##0);"-"</c:formatCode>
                <c:ptCount val="1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5160</c:v>
                </c:pt>
                <c:pt idx="13">
                  <c:v>4585</c:v>
                </c:pt>
                <c:pt idx="14">
                  <c:v>5221</c:v>
                </c:pt>
                <c:pt idx="15">
                  <c:v>4426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2"/>
        <c:noMultiLvlLbl val="0"/>
      </c:catAx>
      <c:valAx>
        <c:axId val="-2100718248"/>
        <c:scaling>
          <c:orientation val="minMax"/>
          <c:max val="6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20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Spend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Sheet1!$A$2:$A$17</c:f>
              <c:strCache>
                <c:ptCount val="16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</c:strCache>
            </c:strRef>
          </c:cat>
          <c:val>
            <c:numRef>
              <c:f>Sheet1!$B$2:$B$17</c:f>
              <c:numCache>
                <c:formatCode>$#,##0;[Red]($#,##0);"-"</c:formatCode>
                <c:ptCount val="1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3400</c:v>
                </c:pt>
                <c:pt idx="10">
                  <c:v>3500</c:v>
                </c:pt>
                <c:pt idx="11">
                  <c:v>4000</c:v>
                </c:pt>
                <c:pt idx="12">
                  <c:v>3200</c:v>
                </c:pt>
                <c:pt idx="13">
                  <c:v>3100</c:v>
                </c:pt>
                <c:pt idx="14">
                  <c:v>3800</c:v>
                </c:pt>
                <c:pt idx="15">
                  <c:v>3700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2"/>
        <c:noMultiLvlLbl val="0"/>
      </c:catAx>
      <c:valAx>
        <c:axId val="-2100718248"/>
        <c:scaling>
          <c:orientation val="minMax"/>
          <c:max val="5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10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does each program really cost?. Sample Community Services Ltd. Period: January 2026. In short: Housing support costs $57,236 in full in January: $26,734 more than its grant spending, once its share of shared costs is added. Each program's full cost: what its grant pays for, plus its fair share of the costs no single grant covers (untied program costs and administration, shared by grant spending). Pick a program and every chart and note follows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 programs. Housing support is the biggest program: $57,236 in January once its share of untied program costs and administration is added to $30,502 of grant spending. Shared costs add 87.6% on top of grant spending across all programs. The full cost (not just the grant line) is the number for renewal applications, where the funder lets you recover a share of overheads. Pick a program above to see it on its own.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Housing support. Housing support cost $57,236 in full in January: $30,502 paid by the State Housing Program grant, and $26,734 of shared costs no grant covers. It has spent 101.7% of its budget to date, with $329,498 left and 11 months to go. The full cost is $57,236 a month; $26,734 of it is shared cost the grant doesn't pay for. Worth asking for as much of it as the funder allows at renewal.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Youth outreach. Youth outreach cost $39,701 in full in January: $21,157 paid by the State Department of Families grant, and $18,544 of shared costs no grant covers. It has spent 99.6% of its budget to date, with $340,523 left and 17 months to go. The full cost is $39,701 a month; $18,544 of it is shared cost the grant doesn't pay for. Worth asking for as much of it as the funder allows at renewal.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Digital literacy. Digital literacy cost $8,305 in full in January: $4,426 paid by the Philanthropic foundation grant, and $3,879 of shared costs no grant covers. It has spent 97.0% of its budget to date, with $70,608 left and 14 months to go. The full cost is $8,305 a month; $3,879 of it is shared cost the grant doesn't pay for. Worth asking for as much of it as the funder allows at renewal.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Community meals (2025-26). Community meals (2025-26) cost $6,943 in full in January: $3,700 paid by the Local council community grant grant, and $3,243 of shared costs no grant covers. It has spent 96.2% of its budget to date, with $19,300 left and 5 months to go. The full cost is $6,943 a month; $3,243 of it is shared cost the grant doesn't pay for. Worth asking for as much of it as the funder allows at renewal.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Relationship Id="rId3" Type="http://schemas.openxmlformats.org/officeDocument/2006/relationships/chart" Target="../charts/char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Relationship Id="rId3" Type="http://schemas.openxmlformats.org/officeDocument/2006/relationships/chart" Target="../charts/chart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965960"/>
            <a:ext cx="11277295" cy="1097280"/>
          </a:xfrm>
        </p:spPr>
        <p:txBody>
          <a:bodyPr wrap="square"/>
          <a:lstStyle/>
          <a:p>
            <a:pPr algn="l">
              <a:defRPr>
                <a:latin typeface="Roboto"/>
              </a:defRPr>
            </a:pPr>
            <a:r>
              <a:rPr sz="3400" b="1">
                <a:solidFill>
                  <a:srgbClr val="25342A"/>
                </a:solidFill>
                <a:latin typeface="Roboto"/>
              </a:rPr>
              <a:t>What does each program really cost?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640080" cy="640080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>
                <a:latin typeface="Roboto"/>
              </a:defRPr>
            </a:pPr>
            <a:r>
              <a:rPr sz="1600" b="1">
                <a:solidFill>
                  <a:srgbClr val="FFFFFF"/>
                </a:solidFill>
                <a:latin typeface="Roboto"/>
              </a:rPr>
              <a:t>4th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658368"/>
            <a:ext cx="5486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800" b="1">
                <a:solidFill>
                  <a:srgbClr val="25342A"/>
                </a:solidFill>
                <a:latin typeface="Roboto"/>
              </a:rPr>
              <a:t>The Fourth Sheet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8A7A52"/>
                </a:solidFill>
                <a:latin typeface="Roboto"/>
              </a:rPr>
              <a:t>SAMPLE DATA · invented figures for demonstration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54680"/>
            <a:ext cx="11277295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5F6F63"/>
                </a:solidFill>
                <a:latin typeface="Roboto"/>
              </a:rPr>
              <a:t>Sample Community Services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03320"/>
            <a:ext cx="11277295" cy="9804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400" b="0">
                <a:solidFill>
                  <a:srgbClr val="25342A"/>
                </a:solidFill>
                <a:latin typeface="Roboto"/>
              </a:rPr>
              <a:t>Period: January 2026. In short: Housing support costs $57,236 in full in January: $26,734 more than its grant spending, once its share of shared costs is added. Each program's full cost: what its grant pays for, plus its fair share of the costs no single grant covers (untied program costs and administration, shared by grant spending). Pick a program and every chart and note follows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775200"/>
            <a:ext cx="11277295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How final is this data?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January 2026: Locked. January 2026 is locked (closed 3 Feb 2026). These numbers won't change.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program-cost.pptx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1 of 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All programs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What does each program really cost?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Full cost of each program, January 2026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278636"/>
          <a:ext cx="11277295" cy="2267712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Rectangle 6"/>
          <p:cNvSpPr/>
          <p:nvPr/>
        </p:nvSpPr>
        <p:spPr>
          <a:xfrm>
            <a:off x="457200" y="3637788"/>
            <a:ext cx="5501487" cy="129540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594360" y="3692652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966972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Housing support is the biggest program: $57,236 in January once its share of untied program costs and administration is added to $30,502 of grant spending. Shared costs add 87.6% on top of grant spending across all programs.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33007" y="3637788"/>
            <a:ext cx="5501487" cy="129540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370167" y="3692652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70167" y="3966972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The full cost (not just the grant line) is the number for renewal applications, where the funder lets you recover a share of overheads. Pick a program above to see it on its own.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program-cost.pptx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2 of 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Housing support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What does each program really cost?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Grant spending, by month · Housing support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278636"/>
          <a:ext cx="11277295" cy="364388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Rectangle 6"/>
          <p:cNvSpPr/>
          <p:nvPr/>
        </p:nvSpPr>
        <p:spPr>
          <a:xfrm>
            <a:off x="457200" y="5013960"/>
            <a:ext cx="5501487" cy="129540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594360" y="506882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5343144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Housing support cost $57,236 in full in January: $30,502 paid by the State Housing Program grant, and $26,734 of shared costs no grant covers. It has spent 101.7% of its budget to date, with $329,498 left and 11 months to go.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33007" y="5013960"/>
            <a:ext cx="5501487" cy="129540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370167" y="506882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70167" y="5343144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The full cost is $57,236 a month; $26,734 of it is shared cost the grant doesn't pay for. Worth asking for as much of it as the funder allows at renewal.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program-cost.pptx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3 of 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Youth outreach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What does each program really cost?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Grant spending, by month · Youth outreach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278636"/>
          <a:ext cx="11277295" cy="364388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Rectangle 6"/>
          <p:cNvSpPr/>
          <p:nvPr/>
        </p:nvSpPr>
        <p:spPr>
          <a:xfrm>
            <a:off x="457200" y="5013960"/>
            <a:ext cx="5501487" cy="129540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594360" y="506882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5343144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Youth outreach cost $39,701 in full in January: $21,157 paid by the State Department of Families grant, and $18,544 of shared costs no grant covers. It has spent 99.6% of its budget to date, with $340,523 left and 17 months to go.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33007" y="5013960"/>
            <a:ext cx="5501487" cy="129540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370167" y="506882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70167" y="5343144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The full cost is $39,701 a month; $18,544 of it is shared cost the grant doesn't pay for. Worth asking for as much of it as the funder allows at renewal.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program-cost.pptx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4 of 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Digital literacy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What does each program really cost?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Grant spending, by month · Digital literacy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278636"/>
          <a:ext cx="11277295" cy="364388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Rectangle 6"/>
          <p:cNvSpPr/>
          <p:nvPr/>
        </p:nvSpPr>
        <p:spPr>
          <a:xfrm>
            <a:off x="457200" y="5013960"/>
            <a:ext cx="5501487" cy="129540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594360" y="506882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5343144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Digital literacy cost $8,305 in full in January: $4,426 paid by the Philanthropic foundation grant, and $3,879 of shared costs no grant covers. It has spent 97.0% of its budget to date, with $70,608 left and 14 months to go.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33007" y="5013960"/>
            <a:ext cx="5501487" cy="129540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370167" y="506882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70167" y="5343144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The full cost is $8,305 a month; $3,879 of it is shared cost the grant doesn't pay for. Worth asking for as much of it as the funder allows at renewal.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program-cost.pptx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5 of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Community meals (2025-26)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What does each program really cost?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Grant spending, by month · Community meals (2025-26)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278636"/>
          <a:ext cx="11277295" cy="364388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Rectangle 6"/>
          <p:cNvSpPr/>
          <p:nvPr/>
        </p:nvSpPr>
        <p:spPr>
          <a:xfrm>
            <a:off x="457200" y="5013960"/>
            <a:ext cx="5501487" cy="129540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594360" y="506882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5343144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Community meals (2025-26) cost $6,943 in full in January: $3,700 paid by the Local council community grant grant, and $3,243 of shared costs no grant covers. It has spent 96.2% of its budget to date, with $19,300 left and 5 months to go.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33007" y="5013960"/>
            <a:ext cx="5501487" cy="129540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370167" y="506882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70167" y="5343144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The full cost is $6,943 a month; $3,243 of it is shared cost the grant doesn't pay for. Worth asking for as much of it as the funder allows at renewal.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program-cost.pptx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6 of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5342A"/>
      </a:dk2>
      <a:lt2>
        <a:srgbClr val="F4F7F2"/>
      </a:lt2>
      <a:accent1>
        <a:srgbClr val="2F7A5D"/>
      </a:accent1>
      <a:accent2>
        <a:srgbClr val="0E9F6E"/>
      </a:accent2>
      <a:accent3>
        <a:srgbClr val="7D8790"/>
      </a:accent3>
      <a:accent4>
        <a:srgbClr val="8A6D3B"/>
      </a:accent4>
      <a:accent5>
        <a:srgbClr val="B42318"/>
      </a:accent5>
      <a:accent6>
        <a:srgbClr val="8E9CAB"/>
      </a:accent6>
      <a:hlink>
        <a:srgbClr val="0000FF"/>
      </a:hlink>
      <a:folHlink>
        <a:srgbClr val="800080"/>
      </a:folHlink>
    </a:clrScheme>
    <a:fontScheme name="Office">
      <a:maj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