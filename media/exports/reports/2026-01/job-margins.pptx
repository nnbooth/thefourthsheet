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cat>
            <c:strRef>
              <c:f>Sheet1!$A$2:$A$4</c:f>
              <c:strCache>
                <c:ptCount val="3"/>
                <c:pt idx="0">
                  <c:v>Installations</c:v>
                </c:pt>
                <c:pt idx="1">
                  <c:v>Call-outs and repairs</c:v>
                </c:pt>
                <c:pt idx="2">
                  <c:v>Maintenance contracts</c:v>
                </c:pt>
              </c:strCache>
            </c:strRef>
          </c:cat>
          <c:val>
            <c:numRef>
              <c:f>Sheet1!$B$2:$B$4</c:f>
              <c:numCache>
                <c:formatCode>0.0"%";[Red](0.0"%")</c:formatCode>
                <c:ptCount val="3"/>
                <c:pt idx="0">
                  <c:v>32.0</c:v>
                </c:pt>
                <c:pt idx="1">
                  <c:v>47.6</c:v>
                </c:pt>
                <c:pt idx="2">
                  <c:v>63.8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3.369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dPt>
            <c:idx val="7"/>
            <c:spPr>
              <a:solidFill>
                <a:srgbClr val="0E9F6E"/>
              </a:solidFill>
            </c:spPr>
          </c:dPt>
          <c:dPt>
            <c:idx val="8"/>
            <c:spPr>
              <a:solidFill>
                <a:srgbClr val="0E9F6E"/>
              </a:solidFill>
            </c:spPr>
          </c:dPt>
          <c:dPt>
            <c:idx val="9"/>
            <c:spPr>
              <a:solidFill>
                <a:srgbClr val="0E9F6E"/>
              </a:solidFill>
            </c:spPr>
          </c:dPt>
          <c:dPt>
            <c:idx val="10"/>
            <c:spPr>
              <a:solidFill>
                <a:srgbClr val="0E9F6E"/>
              </a:solidFill>
            </c:spPr>
          </c:dPt>
          <c:dPt>
            <c:idx val="11"/>
            <c:spPr>
              <a:solidFill>
                <a:srgbClr val="0E9F6E"/>
              </a:solidFill>
            </c:spPr>
          </c:dPt>
          <c:cat>
            <c:strRef>
              <c:f>Sheet1!$A$2:$A$13</c:f>
              <c:strCache>
                <c:ptCount val="12"/>
                <c:pt idx="0">
                  <c:v>Kangaroo Point townhouses</c:v>
                </c:pt>
                <c:pt idx="1">
                  <c:v>West End brewery</c:v>
                </c:pt>
                <c:pt idx="2">
                  <c:v>Rocklea factory</c:v>
                </c:pt>
                <c:pt idx="3">
                  <c:v>Milton office tower</c:v>
                </c:pt>
                <c:pt idx="4">
                  <c:v>Bulimba school</c:v>
                </c:pt>
                <c:pt idx="5">
                  <c:v>Chermside retail centre</c:v>
                </c:pt>
                <c:pt idx="6">
                  <c:v>Southbank cafe group</c:v>
                </c:pt>
                <c:pt idx="7">
                  <c:v>Fortitude Valley hotel</c:v>
                </c:pt>
                <c:pt idx="8">
                  <c:v>Riverside Apartments (strata)</c:v>
                </c:pt>
                <c:pt idx="9">
                  <c:v>Newstead gym</c:v>
                </c:pt>
                <c:pt idx="10">
                  <c:v>Ashgrove aged care</c:v>
                </c:pt>
                <c:pt idx="11">
                  <c:v>Wynnum medical centre</c:v>
                </c:pt>
              </c:strCache>
            </c:strRef>
          </c:cat>
          <c:val>
            <c:numRef>
              <c:f>Sheet1!$B$2:$B$13</c:f>
              <c:numCache>
                <c:formatCode>0.0"%";[Red](0.0"%")</c:formatCode>
                <c:ptCount val="12"/>
                <c:pt idx="0">
                  <c:v>62.9</c:v>
                </c:pt>
                <c:pt idx="1">
                  <c:v>63.1</c:v>
                </c:pt>
                <c:pt idx="2">
                  <c:v>63.1</c:v>
                </c:pt>
                <c:pt idx="3">
                  <c:v>63.4</c:v>
                </c:pt>
                <c:pt idx="4">
                  <c:v>63.6</c:v>
                </c:pt>
                <c:pt idx="5">
                  <c:v>63.8</c:v>
                </c:pt>
                <c:pt idx="6">
                  <c:v>64.0</c:v>
                </c:pt>
                <c:pt idx="7">
                  <c:v>64.2</c:v>
                </c:pt>
                <c:pt idx="8">
                  <c:v>64.3</c:v>
                </c:pt>
                <c:pt idx="9">
                  <c:v>64.3</c:v>
                </c:pt>
                <c:pt idx="10">
                  <c:v>64.4</c:v>
                </c:pt>
                <c:pt idx="11">
                  <c:v>65.1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4.864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7D8790"/>
              </a:solidFill>
            </c:spPr>
          </c:dPt>
          <c:dPt>
            <c:idx val="1"/>
            <c:spPr>
              <a:solidFill>
                <a:srgbClr val="7D8790"/>
              </a:solidFill>
            </c:spPr>
          </c:dPt>
          <c:dPt>
            <c:idx val="2"/>
            <c:spPr>
              <a:solidFill>
                <a:srgbClr val="7D8790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cat>
            <c:strRef>
              <c:f>Sheet1!$A$2:$A$6</c:f>
              <c:strCache>
                <c:ptCount val="5"/>
                <c:pt idx="0">
                  <c:v>Mount Gravatt clinic solar and battery</c:v>
                </c:pt>
                <c:pt idx="1">
                  <c:v>West End factory switchboard upgrade</c:v>
                </c:pt>
                <c:pt idx="2">
                  <c:v>Milton townhouses switchboard upgrade</c:v>
                </c:pt>
                <c:pt idx="3">
                  <c:v>Wynnum office data cabling</c:v>
                </c:pt>
                <c:pt idx="4">
                  <c:v>Chermside shop data cabling</c:v>
                </c:pt>
              </c:strCache>
            </c:strRef>
          </c:cat>
          <c:val>
            <c:numRef>
              <c:f>Sheet1!$B$2:$B$6</c:f>
              <c:numCache>
                <c:formatCode>0.0"%";[Red](0.0"%")</c:formatCode>
                <c:ptCount val="5"/>
                <c:pt idx="0">
                  <c:v>19.6</c:v>
                </c:pt>
                <c:pt idx="1">
                  <c:v>32.1</c:v>
                </c:pt>
                <c:pt idx="2">
                  <c:v>32.9</c:v>
                </c:pt>
                <c:pt idx="3">
                  <c:v>38.3</c:v>
                </c:pt>
                <c:pt idx="4">
                  <c:v>45.3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2.09499999999999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cat>
            <c:strRef>
              <c:f>Sheet1!$A$2:$A$7</c:f>
              <c:strCache>
                <c:ptCount val="6"/>
                <c:pt idx="0">
                  <c:v>1-hour call-outs (7)</c:v>
                </c:pt>
                <c:pt idx="1">
                  <c:v>1.5-hour call-outs (11)</c:v>
                </c:pt>
                <c:pt idx="2">
                  <c:v>2.5-hour call-outs (11)</c:v>
                </c:pt>
                <c:pt idx="3">
                  <c:v>2-hour call-outs (8)</c:v>
                </c:pt>
                <c:pt idx="4">
                  <c:v>3-hour call-outs (21)</c:v>
                </c:pt>
                <c:pt idx="5">
                  <c:v>4-hour call-outs (4)</c:v>
                </c:pt>
              </c:strCache>
            </c:strRef>
          </c:cat>
          <c:val>
            <c:numRef>
              <c:f>Sheet1!$B$2:$B$7</c:f>
              <c:numCache>
                <c:formatCode>0.0"%";[Red](0.0"%")</c:formatCode>
                <c:ptCount val="6"/>
                <c:pt idx="0">
                  <c:v>40.7</c:v>
                </c:pt>
                <c:pt idx="1">
                  <c:v>42.7</c:v>
                </c:pt>
                <c:pt idx="2">
                  <c:v>46.4</c:v>
                </c:pt>
                <c:pt idx="3">
                  <c:v>47.6</c:v>
                </c:pt>
                <c:pt idx="4">
                  <c:v>50.5</c:v>
                </c:pt>
                <c:pt idx="5">
                  <c:v>50.8</c:v>
                </c:pt>
              </c:numCache>
            </c:numRef>
          </c:val>
        </c:ser>
        <c:dLbls>
          <c:numFmt formatCode="0.0&quot;%&quot;;[Red](0.0&quot;%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8.41999999999999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 %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Sheet1!$A$2:$A$17</c:f>
              <c:strCache>
                <c:ptCount val="16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</c:strCache>
            </c:strRef>
          </c:cat>
          <c:val>
            <c:numRef>
              <c:f>Sheet1!$B$2:$B$17</c:f>
              <c:numCache>
                <c:formatCode>0.0"%";[Red](0.0"%")</c:formatCode>
                <c:ptCount val="16"/>
                <c:pt idx="0">
                  <c:v>40.1</c:v>
                </c:pt>
                <c:pt idx="1">
                  <c:v>43.5</c:v>
                </c:pt>
                <c:pt idx="2">
                  <c:v>46.5</c:v>
                </c:pt>
                <c:pt idx="3">
                  <c:v>48.5</c:v>
                </c:pt>
                <c:pt idx="4">
                  <c:v>42.9</c:v>
                </c:pt>
                <c:pt idx="5">
                  <c:v>43.0</c:v>
                </c:pt>
                <c:pt idx="6">
                  <c:v>44.7</c:v>
                </c:pt>
                <c:pt idx="7">
                  <c:v>42.1</c:v>
                </c:pt>
                <c:pt idx="8">
                  <c:v>46.8</c:v>
                </c:pt>
                <c:pt idx="9">
                  <c:v>42.3</c:v>
                </c:pt>
                <c:pt idx="10">
                  <c:v>49.5</c:v>
                </c:pt>
                <c:pt idx="11">
                  <c:v>44.0</c:v>
                </c:pt>
                <c:pt idx="12">
                  <c:v>44.7</c:v>
                </c:pt>
                <c:pt idx="13">
                  <c:v>40.5</c:v>
                </c:pt>
                <c:pt idx="14">
                  <c:v>43.7</c:v>
                </c:pt>
                <c:pt idx="15">
                  <c:v>41.9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6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.0&quot;%&quot;;[Red](0.0&quot;%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jobs actually make money?. Sample Electrical &amp; Air Pty Ltd. Period: January 2026. In short: Jobs made a 41.9% gross margin in January: maintenance contracts the most (63.8%), installations the least (32.0%).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gross margin to profit. January's jobs made $76,716 gross margin (41.9%). Technician time not charged to jobs took $22,372 and overheads $58,730, leaving ($4,386) profit before tax ((2.4%) of revenue). To cover overheads, jobs need a 44.2%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jobs. Job gross margin, January · All jobs: 41.9%; Job gross margin, December · All jobs: 43.7%; Gross margin jobs need to break even: 44.2%. In January maintenance contracts made a 63.8% job gross margin, installations made a 32.0% job gross margin, call-outs and repairs made a 47.6% job gross margin (technician time at $68 an hour, wages and all on-costs). Jobs need 44.2% just to cover overheads. Installations: 32.0% gross margin, 3.0 points under the 35.0% target: about $3,301 on $109,100 of revenue in January. It's below the 44.2% needed to cover overheads, too. Maintenance contracts: 63.8% gross margin, 28.8 points over the 35.0% target ($11,549 ahead on $40,100 in January).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Maintenance contracts. Job gross margin, January · Maintenance contracts: 63.8%; Job gross margin, December · Maintenance contracts: 63.8%; Gross margin jobs need to break even: 44.2%. All 12 contracts made more than the 35.0% job gross margin target. The thinnest was Kangaroo Point townhouses at 62.9% job gross margin: 14.0 h of technician time on a $2,700 monthly fee. The thinnest, Kangaroo Point townhouses: 62.9% gross margin, 27.9 points over the 35.0% target ($753 ahead on $2,700 in January). All maintenance contracts: 63.8% gross margin, 28.8 points over the 35.0% target ($11,549 ahead on $40,100 in January).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on each maintenance contract, January 2026. The month's fee less materials and technician time at $68/hour. Target 35.0% is what to price for; break-even 44.2% only covers overheads and time not charged.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Installations. Job gross margin, January · Installations: 32.0%; Job gross margin, December · Installations: 31.6%; Gross margin jobs need to break even: 44.2%. 3 of the 5 installation jobs invoiced in January made less than the 35.0% job gross margin target. The Mount Gravatt clinic solar and battery made a 19.6% job gross margin: 110.0 h of technician time ($7,480) and $3,000 of subcontractors on a $30,200 job. Jobs need 44.2% gross margin just to cover overheads. 3 installations under the 35.0% target, worth about $5,859 between them on $75,900 of revenue. The biggest gap, Mount Gravatt clinic solar and battery: 19.6% gross margin, 15.4 points under the 35.0% target: about $4,650 on $30,200 of revenue in January. It's below the 44.2% needed to cover overheads,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Call-outs and repairs. Job gross margin, January · Call-outs and repairs: 47.6%; Job gross margin, December · Call-outs and repairs: 47.9%; Gross margin jobs need to break even: 44.2%; Technician time charged, January: $23,797; Materials charged, January: $10,309. 62 call-outs in January billed $23,797 of technician time and $10,309 of materials ($7,930 at cost plus 30%), and made a 47.6% job gross margin between them. Gross margins run from 40.7% to 50.8% by length: the hourly rate covers technician time comfortably, so the gross margin mostly moves with how much material goes on the van. All call-outs: 47.6% gross margin, 12.6 points over the 35.0% target ($4,311 ahead on $34,106 in January).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Job gross margin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jobs actually make money?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January 2026. In short: Jobs made a 41.9% gross margin in January: maintenance contracts the most (63.8%), installations the least (32.0%). Every job's gross margin: revenue less materials, subcontractors and technician time at $68 an hour (fully loaded: wages and all on-costs). Pick a type of job and every number, chart and note on the page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January 2026: Locked. January 2026 is locked (closed 3 Feb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From gross margin to profit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January's jobs made $76,716 gross margin (41.9%). Technician time not charged to jobs took $22,372 and overheads $58,730, leaving ($4,386) profit before tax ((2.4%) of revenue). To cover overheads, jobs need a 44.2%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69136"/>
          <a:ext cx="11277294" cy="34198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608734"/>
                <a:gridCol w="766856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$76,716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wages and on-costs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$72,352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charged to jobs (at cost)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$49,980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Technician time not charged to jobs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$22,372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profit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$54,344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Overheads (operating expenses, depreciation, interest)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$58,730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 (the P&amp;L)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($4,386)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$183,306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on jobs,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Profit before tax, % of revenue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B42318"/>
                          </a:solidFill>
                          <a:latin typeface="Roboto"/>
                        </a:rPr>
                        <a:t>(2.4%)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Gross margin jobs need just to cover overheads and time not charged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jobs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by type of job, January 2026.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January · All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41.9%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December · All jobs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43.7%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(January)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188366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6960588" y="2661025"/>
            <a:ext cx="0" cy="1657625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63308" y="431865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80755" y="2661025"/>
            <a:ext cx="0" cy="1657625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683475" y="455639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44.2%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991100"/>
            <a:ext cx="5501487" cy="13639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 January maintenance contracts made a 63.8% job gross margin, installations made a 32.0% job gross margin, call-outs and repairs made a 47.6% job gross margin (technician time at $68 an hour, wages and all on-costs). Jobs need 44.2%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4991100"/>
            <a:ext cx="5501487" cy="13639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459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20284"/>
            <a:ext cx="5227167" cy="9982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32.0% gross margin, 3.0 points under the 35.0% target: about $3,301 on $109,100 of revenue in January. It's below the 44.2% needed to cover overheads, too. Maintenance contracts: 63.8% gross margin, 28.8 points over the 35.0% target ($11,549 ahead on $40,100 in January).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594360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January · Maintenance contracts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2498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4429658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December · Maintenance contracts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658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27796" y="960120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8264956" y="1033272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4956" y="1399032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64792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(January)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28600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594360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12 contracts made more than the 35.0% job gross margin target. The thinnest was Kangaroo Point townhouses at 62.9% job gross margin: 14.0 h of technician time on a $2,700 monthly fee.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33007" y="228600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370167" y="23408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0167" y="261518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thinnest, Kangaroo Point townhouses: 62.9% gross margin, 27.9 points over the 35.0% target ($753 ahead on $2,700 in January). All maintenance contracts: 63.8% gross margin, 28.8 points over the 35.0% target ($11,549 ahead on $40,100 in January).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on each maintenance contract, January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4541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The month's fee less materials and technician time at $68/hour. Target 35.0% is what to price for; break-even 44.2% only covers overheads and time not charged.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9136"/>
          <a:ext cx="11277295" cy="43373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6898280" y="1599255"/>
            <a:ext cx="0" cy="3816827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01000" y="5416082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02069" y="1599255"/>
            <a:ext cx="0" cy="3816827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04789" y="5653826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44.2%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each installation invoiced in January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January · Installations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32.0%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December · Installations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31.6%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(January)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19" name="Connector 18"/>
          <p:cNvCxnSpPr/>
          <p:nvPr/>
        </p:nvCxnSpPr>
        <p:spPr>
          <a:xfrm>
            <a:off x="8234842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7562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89956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292676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44.2%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 of the 5 installation jobs invoiced in January made less than the 35.0% job gross margin target. The Mount Gravatt clinic solar and battery made a 19.6% job gross margin: 110.0 h of technician time ($7,480) and $3,000 of subcontractors on a $30,200 job. Jobs need 44.2% gross margin just to cover overheads.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 installations under the 35.0% target, worth about $5,859 between them on $75,900 of revenue. The biggest gap, Mount Gravatt clinic solar and battery: 19.6% gross margin, 15.4 points under the 35.0% target: about $4,650 on $30,200 of revenue in January. It's below the 44.2% needed to cover overheads, too.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Job gross margin on call-outs by length, January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January · Call-outs and repairs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47.6%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58379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2895539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Job gross margin, December · Call-outs and repairs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47.9%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95539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35.0%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9558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5196718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 jobs need to break even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6718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6718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covers overheads and time not charged (January)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60737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497897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Technician time charged, January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7897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$23,797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7897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69.8% of call-out revenue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61916" y="1278636"/>
            <a:ext cx="2072579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9799076" y="1351788"/>
            <a:ext cx="1798259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Materials charged, January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99076" y="1717548"/>
            <a:ext cx="1798259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$10,309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99076" y="2083308"/>
            <a:ext cx="1798259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$7,930 at cost, plus 30%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2604516"/>
          <a:ext cx="11277295" cy="211988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7" name="Connector 26"/>
          <p:cNvCxnSpPr/>
          <p:nvPr/>
        </p:nvCxnSpPr>
        <p:spPr>
          <a:xfrm>
            <a:off x="7759065" y="2668112"/>
            <a:ext cx="0" cy="1865498"/>
          </a:xfrm>
          <a:prstGeom prst="line">
            <a:avLst/>
          </a:prstGeom>
          <a:ln w="19050">
            <a:solidFill>
              <a:srgbClr val="25342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661785" y="4533610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25342A"/>
                </a:solidFill>
                <a:latin typeface="Roboto"/>
              </a:rPr>
              <a:t>Target 35.0%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789117" y="2668112"/>
            <a:ext cx="0" cy="1865498"/>
          </a:xfrm>
          <a:prstGeom prst="line">
            <a:avLst/>
          </a:prstGeom>
          <a:ln w="19050">
            <a:solidFill>
              <a:srgbClr val="B42318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691837" y="4771354"/>
            <a:ext cx="2194560" cy="23774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1000" b="1">
                <a:solidFill>
                  <a:srgbClr val="B42318"/>
                </a:solidFill>
                <a:latin typeface="Roboto"/>
              </a:rPr>
              <a:t>Break-even 44.2%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27320"/>
            <a:ext cx="5501487" cy="11277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594360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62 call-outs in January billed $23,797 of technician time and $10,309 of materials ($7,930 at cost plus 30%), and made a 47.6% job gross margin between them. Gross margins run from 40.7% to 50.8% by length: the hourly rate covers technician time comfortably, so the gross margin mostly moves with how much material goes on the van.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33007" y="5227320"/>
            <a:ext cx="5501487" cy="11277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35" name="TextBox 34"/>
          <p:cNvSpPr txBox="1"/>
          <p:nvPr/>
        </p:nvSpPr>
        <p:spPr>
          <a:xfrm>
            <a:off x="6370167" y="528218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70167" y="5556504"/>
            <a:ext cx="5227167" cy="762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All call-outs: 47.6% gross margin, 12.6 points over the 35.0% target ($4,311 ahead on $34,106 in January).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Job gross margin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jobs actually make money?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job-margins.pptx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