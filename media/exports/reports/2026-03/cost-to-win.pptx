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>
        <c:manualLayout>
          <c:layoutTarget val="inner"/>
          <c:xMode val="edge"/>
          <c:yMode val="edge"/>
          <c:x val="0.11"/>
          <c:y val="0.05"/>
          <c:w val="0.86"/>
          <c:h val="0.8"/>
        </c:manualLayout>
      </c:layout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$ per new customer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Sheet1!$A$2:$A$19</c:f>
              <c:strCache>
                <c:ptCount val="18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  <c:pt idx="15">
                  <c:v>Jan 26</c:v>
                </c:pt>
                <c:pt idx="16">
                  <c:v>Feb 26</c:v>
                </c:pt>
                <c:pt idx="17">
                  <c:v>Mar 26</c:v>
                </c:pt>
              </c:strCache>
            </c:strRef>
          </c:cat>
          <c:val>
            <c:numRef>
              <c:f>Sheet1!$B$2:$B$19</c:f>
              <c:numCache>
                <c:formatCode>$#,##0;[Red]($#,##0);"-"</c:formatCode>
                <c:ptCount val="18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  <c:pt idx="15">
                  <c:v>182</c:v>
                </c:pt>
                <c:pt idx="16">
                  <c:v>221</c:v>
                </c:pt>
                <c:pt idx="17">
                  <c:v>227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tickLblSkip val="2"/>
        <c:noMultiLvlLbl val="0"/>
      </c:catAx>
      <c:valAx>
        <c:axId val="-2100718248"/>
        <c:scaling>
          <c:orientation val="minMax"/>
          <c:max val="400.0"/>
          <c:min val="0.0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  <c:majorUnit val="100.0"/>
      </c:valAx>
    </c:plotArea>
    <c:plotVisOnly val="1"/>
    <c:dispBlanksAs val="zero"/>
    <c:showDLblsOverMax val="0"/>
  </c:chart>
  <c:txPr>
    <a:bodyPr/>
    <a:lstStyle/>
    <a:p>
      <a:pPr>
        <a:defRPr sz="1800">
          <a:latin typeface="Roboto"/>
        </a:defRPr>
      </a:pPr>
      <a:endParaRPr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Sample Electrical &amp; Air Pty Ltd. Period: March 2026. In short: $227 per new customer in March: 37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does it cost to win a customer?. March 2026: $227; March last year: $247; Year to date (Jul to Mar 2026): $227. 37 new customers came from $8,400 of marketing in March, against 39 from $8,600 in February: $227 each, up from $221. Worth knowing which channels brought this month's customers in: recording the source of each new customer shows the cost per channel.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Relationship Id="rId3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1965960"/>
            <a:ext cx="11277295" cy="1097280"/>
          </a:xfrm>
        </p:spPr>
        <p:txBody>
          <a:bodyPr wrap="square"/>
          <a:lstStyle/>
          <a:p>
            <a:pPr algn="l">
              <a:defRPr>
                <a:latin typeface="Roboto"/>
              </a:defRPr>
            </a:pPr>
            <a:r>
              <a:rPr sz="3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pic>
        <p:nvPicPr>
          <p:cNvPr id="3" name="Picture 2" descr="mark-4th-1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457200"/>
            <a:ext cx="822960" cy="822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800" b="1">
                <a:solidFill>
                  <a:srgbClr val="25342A"/>
                </a:solidFill>
                <a:latin typeface="Roboto"/>
              </a:rPr>
              <a:t>The Fourth Sheet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1">
                <a:solidFill>
                  <a:srgbClr val="8A7A52"/>
                </a:solidFill>
                <a:latin typeface="Roboto"/>
              </a:rPr>
              <a:t>SAMPLE DATA · invented figures for demonstration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77295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600" b="0">
                <a:solidFill>
                  <a:srgbClr val="5F6F63"/>
                </a:solidFill>
                <a:latin typeface="Roboto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77295" cy="5359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400" b="0">
                <a:solidFill>
                  <a:srgbClr val="25342A"/>
                </a:solidFill>
                <a:latin typeface="Roboto"/>
              </a:rPr>
              <a:t>Period: March 2026. In short: $227 per new customer in March: 37 new customers from $8,400 of marketing.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330700"/>
            <a:ext cx="11277295" cy="1097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How final is this data?</a:t>
            </a:r>
          </a:p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2026: Locked. March 2026 is locked (closed 2 Apr 2026). These numbers won't change.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1 of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295" cy="475488"/>
          </a:xfrm>
        </p:spPr>
        <p:txBody>
          <a:bodyPr wrap="square" lIns="45720" rIns="45720" tIns="0" bIns="0" anchor="t"/>
          <a:lstStyle/>
          <a:p>
            <a:pPr algn="l">
              <a:defRPr>
                <a:latin typeface="Roboto"/>
              </a:defRPr>
            </a:pPr>
            <a:r>
              <a:rPr sz="2400" b="1">
                <a:solidFill>
                  <a:srgbClr val="25342A"/>
                </a:solidFill>
                <a:latin typeface="Roboto"/>
              </a:rPr>
              <a:t>What does it cost to win a customer?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8229600" cy="2560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Sample Electrical &amp; Air Pty Ltd · What does it cost to win a customer?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11277295" cy="26365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5F6F63"/>
                </a:solidFill>
                <a:latin typeface="Roboto"/>
              </a:rPr>
              <a:t>Cost to win a customer, by month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594360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February $221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2498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4429658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March last year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9658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29658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34 new customers from $8,400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27796" y="1278636"/>
            <a:ext cx="3606698" cy="118872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8264956" y="1351788"/>
            <a:ext cx="3332378" cy="384048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100" b="0">
                <a:solidFill>
                  <a:srgbClr val="5F6F63"/>
                </a:solidFill>
                <a:latin typeface="Roboto"/>
              </a:rPr>
              <a:t>Year to date (Jul to Mar 2026)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4956" y="1717548"/>
            <a:ext cx="3332378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2200" b="1">
                <a:solidFill>
                  <a:srgbClr val="2F7A5D"/>
                </a:solidFill>
                <a:latin typeface="Roboto"/>
              </a:rPr>
              <a:t>$227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4956" y="2083308"/>
            <a:ext cx="3332378" cy="32918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0">
                <a:solidFill>
                  <a:srgbClr val="5F6F63"/>
                </a:solidFill>
                <a:latin typeface="Roboto"/>
              </a:rPr>
              <a:t>same period last year: not in the data</a:t>
            </a:r>
          </a:p>
        </p:txBody>
      </p:sp>
      <p:graphicFrame>
        <p:nvGraphicFramePr>
          <p:cNvPr id="18" name="Chart 17"/>
          <p:cNvGraphicFramePr>
            <a:graphicFrameLocks noGrp="1"/>
          </p:cNvGraphicFramePr>
          <p:nvPr/>
        </p:nvGraphicFramePr>
        <p:xfrm>
          <a:off x="457200" y="2604516"/>
          <a:ext cx="11277295" cy="2714244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9" name="Rectangle 18"/>
          <p:cNvSpPr/>
          <p:nvPr/>
        </p:nvSpPr>
        <p:spPr>
          <a:xfrm>
            <a:off x="457200" y="5410200"/>
            <a:ext cx="5501487" cy="89916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594360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IT SHOWS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37 new customers came from $8,400 of marketing in March, against 39 from $8,600 in February: $227 each, up from $221.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3007" y="5410200"/>
            <a:ext cx="5501487" cy="89916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>
                <a:latin typeface="Roboto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6370167" y="5465064"/>
            <a:ext cx="5227167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000" b="1">
                <a:solidFill>
                  <a:srgbClr val="5F6F63"/>
                </a:solidFill>
                <a:latin typeface="Roboto"/>
              </a:rPr>
              <a:t>WHAT YOU'D DO ABOUT 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0167" y="5739384"/>
            <a:ext cx="5227167" cy="533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1200" b="0">
                <a:solidFill>
                  <a:srgbClr val="25342A"/>
                </a:solidFill>
                <a:latin typeface="Roboto"/>
              </a:rPr>
              <a:t>Worth knowing which channels brought this month's customers in: recording the source of each new customer shows the cost per channel.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292608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cost-to-win.pptx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6492240"/>
            <a:ext cx="59436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Data retrieved 2pm, Tue 6 Oct 2026 · Generated 28 Oct 2026, 12:45pm · Sample data · Made with Python (python-pptx)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>
              <a:defRPr>
                <a:latin typeface="Roboto"/>
              </a:defRPr>
            </a:pPr>
            <a:r>
              <a:rPr sz="900" b="0">
                <a:solidFill>
                  <a:srgbClr val="5F6F63"/>
                </a:solidFill>
                <a:latin typeface="Roboto"/>
              </a:rPr>
              <a:t>Slide 2 of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25342A"/>
      </a:dk2>
      <a:lt2>
        <a:srgbClr val="F4F7F2"/>
      </a:lt2>
      <a:accent1>
        <a:srgbClr val="2F7A5D"/>
      </a:accent1>
      <a:accent2>
        <a:srgbClr val="0E9F6E"/>
      </a:accent2>
      <a:accent3>
        <a:srgbClr val="7D8790"/>
      </a:accent3>
      <a:accent4>
        <a:srgbClr val="8A6D3B"/>
      </a:accent4>
      <a:accent5>
        <a:srgbClr val="B42318"/>
      </a:accent5>
      <a:accent6>
        <a:srgbClr val="8E9CAB"/>
      </a:accent6>
      <a:hlink>
        <a:srgbClr val="0000FF"/>
      </a:hlink>
      <a:folHlink>
        <a:srgbClr val="800080"/>
      </a:folHlink>
    </a:clrScheme>
    <a:fontScheme name="Office">
      <a:maj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boto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