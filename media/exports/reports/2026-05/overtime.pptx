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Overtime % of ordinary hours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Sheet1!$A$2:$A$21</c:f>
              <c:strCache>
                <c:ptCount val="20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</c:strCache>
            </c:strRef>
          </c:cat>
          <c:val>
            <c:numRef>
              <c:f>Sheet1!$B$2:$B$21</c:f>
              <c:numCache>
                <c:formatCode>0.0"%";[Red](0.0"%")</c:formatCode>
                <c:ptCount val="20"/>
                <c:pt idx="0">
                  <c:v>1.6</c:v>
                </c:pt>
                <c:pt idx="1">
                  <c:v>2.7</c:v>
                </c:pt>
                <c:pt idx="2">
                  <c:v>2.2</c:v>
                </c:pt>
                <c:pt idx="3">
                  <c:v>3.0</c:v>
                </c:pt>
                <c:pt idx="4">
                  <c:v>4.6</c:v>
                </c:pt>
                <c:pt idx="5">
                  <c:v>4.4</c:v>
                </c:pt>
                <c:pt idx="6">
                  <c:v>3.6</c:v>
                </c:pt>
                <c:pt idx="7">
                  <c:v>3.7</c:v>
                </c:pt>
                <c:pt idx="8">
                  <c:v>2.8</c:v>
                </c:pt>
                <c:pt idx="9">
                  <c:v>3.3</c:v>
                </c:pt>
                <c:pt idx="10">
                  <c:v>3.3</c:v>
                </c:pt>
                <c:pt idx="11">
                  <c:v>3.7</c:v>
                </c:pt>
                <c:pt idx="12">
                  <c:v>3.9</c:v>
                </c:pt>
                <c:pt idx="13">
                  <c:v>3.8</c:v>
                </c:pt>
                <c:pt idx="14">
                  <c:v>7.7</c:v>
                </c:pt>
                <c:pt idx="15">
                  <c:v>3.1</c:v>
                </c:pt>
                <c:pt idx="16">
                  <c:v>4.2</c:v>
                </c:pt>
                <c:pt idx="17">
                  <c:v>4.2</c:v>
                </c:pt>
                <c:pt idx="18">
                  <c:v>5.9</c:v>
                </c:pt>
                <c:pt idx="19">
                  <c:v>6.7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1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0.0&quot;%&quot;;[Red](0.0&quot;%&quot;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Why the overtime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cat>
            <c:strRef>
              <c:f>Sheet1!$A$2:$A$5</c:f>
              <c:strCache>
                <c:ptCount val="4"/>
                <c:pt idx="0">
                  <c:v>Paperwork and quotes</c:v>
                </c:pt>
                <c:pt idx="1">
                  <c:v>Short-staffed</c:v>
                </c:pt>
                <c:pt idx="2">
                  <c:v>Installation ran over</c:v>
                </c:pt>
                <c:pt idx="3">
                  <c:v>After-hours call-out</c:v>
                </c:pt>
              </c:strCache>
            </c:strRef>
          </c:cat>
          <c:val>
            <c:numRef>
              <c:f>Sheet1!$B$2:$B$5</c:f>
              <c:numCache>
                <c:formatCode>#,##0;[Red](#,##0)</c:formatCode>
                <c:ptCount val="4"/>
                <c:pt idx="0">
                  <c:v>2.5</c:v>
                </c:pt>
                <c:pt idx="1">
                  <c:v>6.0</c:v>
                </c:pt>
                <c:pt idx="2">
                  <c:v>14.5</c:v>
                </c:pt>
                <c:pt idx="3">
                  <c:v>45.0</c:v>
                </c:pt>
              </c:numCache>
            </c:numRef>
          </c:val>
        </c:ser>
        <c:dLbls>
          <c:numFmt formatCode="#,##0;[Red](#,##0)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1.74999999999999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Overtime by technician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dPt>
            <c:idx val="4"/>
            <c:spPr>
              <a:solidFill>
                <a:srgbClr val="0E9F6E"/>
              </a:solidFill>
            </c:spPr>
          </c:dPt>
          <c:dPt>
            <c:idx val="5"/>
            <c:spPr>
              <a:solidFill>
                <a:srgbClr val="0E9F6E"/>
              </a:solidFill>
            </c:spPr>
          </c:dPt>
          <c:dPt>
            <c:idx val="6"/>
            <c:spPr>
              <a:solidFill>
                <a:srgbClr val="0E9F6E"/>
              </a:solidFill>
            </c:spPr>
          </c:dPt>
          <c:cat>
            <c:strRef>
              <c:f>Sheet1!$A$2:$A$8</c:f>
              <c:strCache>
                <c:ptCount val="7"/>
                <c:pt idx="0">
                  <c:v>Technician T4</c:v>
                </c:pt>
                <c:pt idx="1">
                  <c:v>Technician T6</c:v>
                </c:pt>
                <c:pt idx="2">
                  <c:v>Technician T3</c:v>
                </c:pt>
                <c:pt idx="3">
                  <c:v>Technician T1</c:v>
                </c:pt>
                <c:pt idx="4">
                  <c:v>Technician T2</c:v>
                </c:pt>
                <c:pt idx="5">
                  <c:v>Technician T7</c:v>
                </c:pt>
                <c:pt idx="6">
                  <c:v>Technician T5</c:v>
                </c:pt>
              </c:strCache>
            </c:strRef>
          </c:cat>
          <c:val>
            <c:numRef>
              <c:f>Sheet1!$B$2:$B$8</c:f>
              <c:numCache>
                <c:formatCode>#,##0;[Red](#,##0)</c:formatCode>
                <c:ptCount val="7"/>
                <c:pt idx="0">
                  <c:v>4.5</c:v>
                </c:pt>
                <c:pt idx="1">
                  <c:v>4.5</c:v>
                </c:pt>
                <c:pt idx="2">
                  <c:v>7.5</c:v>
                </c:pt>
                <c:pt idx="3">
                  <c:v>10.5</c:v>
                </c:pt>
                <c:pt idx="4">
                  <c:v>11.0</c:v>
                </c:pt>
                <c:pt idx="5">
                  <c:v>14.0</c:v>
                </c:pt>
                <c:pt idx="6">
                  <c:v>16.0</c:v>
                </c:pt>
              </c:numCache>
            </c:numRef>
          </c:val>
        </c:ser>
        <c:dLbls>
          <c:numFmt formatCode="#,##0;[Red](#,##0)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8.4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Where is overtime creeping up, and why?. Sample Electrical &amp; Air Pty Ltd. Period: May 2026. In short: Overtime was 6.7% of ordinary hours in May (target under 5.0%), up from 3.7% a year earlier. Each technician's paid hours, day by day: ordinary hours and overtime, with the main reason for the overtime.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Where is overtime creeping up, and why?. Overtime, May: 6.7%; Overtime hours, May: 68.0 h; May last year: 3.7%. Technicians worked 68.0 h of overtime in May, 6.7% of ordinary hours (target under 5.0%), against 5.9% in April. Over the last year it has gone from 3.7% to 6.7%. After-hours call-out is the main reason: 45.0 h, 66.2% of the overtime. Technician T5 carried the most (16.0 h). Above target by 17.1 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the overtime, May 2026. Overtime hours by main reason.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Overtime by technician, May 2026. Technicians are codes, not names.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Where is overtime creeping up, and why?</a:t>
            </a:r>
          </a:p>
        </p:txBody>
      </p:sp>
      <p:pic>
        <p:nvPicPr>
          <p:cNvPr id="3" name="Picture 2" descr="mark-4th-1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57200"/>
            <a:ext cx="822960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Electrical &amp; Air Pty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53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May 2026. In short: Overtime was 6.7% of ordinary hours in May (target under 5.0%), up from 3.7% a year earlier. Each technician's paid hours, day by day: ordinary hours and overtime, with the main reason for the overtime.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307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May 2026: Locked. May 2026 is locked (closed 2 Jun 2026). These numbers won't change.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overtime.pptx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Where is overtime creeping up, and why?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Where is overtime creeping up, and why?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Overtime by month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Overtime, May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B42318"/>
                </a:solidFill>
                <a:latin typeface="Roboto"/>
              </a:rPr>
              <a:t>6.7%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of ordinary hours · target under 5.0%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Overtime hours, May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68.0 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April 60.5 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May last year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3.7%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33.0 h of overtime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516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Technicians worked 68.0 h of overtime in May, 6.7% of ordinary hours (target under 5.0%), against 5.9% in April. Over the last year it has gone from 3.7% to 6.7%.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After-hours call-out is the main reason: 45.0 h, 66.2% of the overtime. Technician T5 carried the most (16.0 h). Above target by 17.1 h.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overtime.pptx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Why the overtime, May 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Where is overtime creeping up, and why?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Overtime hours by main reason.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45278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overtime.pptx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Overtime by technician, May 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Where is overtime creeping up, and why?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Technicians are codes, not names.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45278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overtime.pptx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