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Within 2 working hours %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0.0"%";[Red](0.0"%")</c:formatCode>
                <c:ptCount val="20"/>
                <c:pt idx="0">
                  <c:v>86.5</c:v>
                </c:pt>
                <c:pt idx="1">
                  <c:v>85.3</c:v>
                </c:pt>
                <c:pt idx="2">
                  <c:v>82.6</c:v>
                </c:pt>
                <c:pt idx="3">
                  <c:v>79.5</c:v>
                </c:pt>
                <c:pt idx="4">
                  <c:v>74.2</c:v>
                </c:pt>
                <c:pt idx="5">
                  <c:v>72.9</c:v>
                </c:pt>
                <c:pt idx="6">
                  <c:v>71.1</c:v>
                </c:pt>
                <c:pt idx="7">
                  <c:v>74.0</c:v>
                </c:pt>
                <c:pt idx="8">
                  <c:v>68.1</c:v>
                </c:pt>
                <c:pt idx="9">
                  <c:v>66.7</c:v>
                </c:pt>
                <c:pt idx="10">
                  <c:v>66.3</c:v>
                </c:pt>
                <c:pt idx="11">
                  <c:v>69.7</c:v>
                </c:pt>
                <c:pt idx="12">
                  <c:v>67.0</c:v>
                </c:pt>
                <c:pt idx="13">
                  <c:v>66.7</c:v>
                </c:pt>
                <c:pt idx="14">
                  <c:v>70.6</c:v>
                </c:pt>
                <c:pt idx="15">
                  <c:v>67.0</c:v>
                </c:pt>
                <c:pt idx="16">
                  <c:v>61.6</c:v>
                </c:pt>
                <c:pt idx="17">
                  <c:v>65.3</c:v>
                </c:pt>
                <c:pt idx="18">
                  <c:v>58.9</c:v>
                </c:pt>
                <c:pt idx="19">
                  <c:v>58.2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Called back within 2 working hours</c:v>
                </c:pt>
              </c:strCache>
            </c:strRef>
          </c:tx>
          <c:dPt>
            <c:idx val="0"/>
            <c:spPr>
              <a:solidFill>
                <a:srgbClr val="7D8790"/>
              </a:solidFill>
            </c:spPr>
          </c:dPt>
          <c:dPt>
            <c:idx val="1"/>
            <c:spPr>
              <a:solidFill>
                <a:srgbClr val="7D8790"/>
              </a:solidFill>
            </c:spPr>
          </c:dPt>
          <c:dPt>
            <c:idx val="2"/>
            <c:spPr>
              <a:solidFill>
                <a:srgbClr val="7D8790"/>
              </a:solidFill>
            </c:spPr>
          </c:dPt>
          <c:cat>
            <c:strRef>
              <c:f>Sheet1!$A$2:$A$4</c:f>
              <c:strCache>
                <c:ptCount val="3"/>
                <c:pt idx="0">
                  <c:v>Web form</c:v>
                </c:pt>
                <c:pt idx="1">
                  <c:v>Email</c:v>
                </c:pt>
                <c:pt idx="2">
                  <c:v>Phone</c:v>
                </c:pt>
              </c:strCache>
            </c:strRef>
          </c:cat>
          <c:val>
            <c:numRef>
              <c:f>Sheet1!$B$2:$B$4</c:f>
              <c:numCache>
                <c:formatCode>0.0"%";[Red](0.0"%")</c:formatCode>
                <c:ptCount val="3"/>
                <c:pt idx="0">
                  <c:v>50.0</c:v>
                </c:pt>
                <c:pt idx="1">
                  <c:v>60.0</c:v>
                </c:pt>
                <c:pt idx="2">
                  <c:v>63.6</c:v>
                </c:pt>
              </c:numCache>
            </c:numRef>
          </c:val>
        </c:ser>
        <c:dLbls>
          <c:numFmt formatCode="0.0&quot;%&quot;;[Red](0.0&quot;%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92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Sample Electrical &amp; Air Pty Ltd. Period: May 2026. In short: 58.2% called back within 2 working hours in May (target 80.0%); median wait 91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long do customers wait for a callback?. Called back within 2 working hours, May: 58.2%; Median wait, May: 91 min; Enquiries, May: 110. 58.2% of the 110 enquiries called back in May heard back within 2 working hours (target 80.0%), down from 58.9% in April. The median wait was 91 working minutes. 24 more enquiries would have needed a faster callback to reach the 80.0% target. Web form enquiries are the slowest: 50.0% within 2 working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Called back within 2 working hours, by channel, May 2026. Target 80.0%.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pic>
        <p:nvPicPr>
          <p:cNvPr id="3" name="Picture 2" descr="mark-4th-1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457200"/>
            <a:ext cx="822960" cy="8229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7581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In short: 58.2% called back within 2 working hours in May (target 80.0%); median wait 91 working minutes. Every customer enquiry (phone, web form, email) and how long until someone first called back, in working minutes. Every call-out job has the enquiry that booked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5529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long do customers wait for a callback?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Callbacks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Called back within 2 working hours,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58.2%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80.0% · April 58.9%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Median wait,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91 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90 min (working minutes)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Enquiries,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95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58.2% of the 110 enquiries called back in May heard back within 2 working hours (target 80.0%), down from 58.9% in April. The median wait was 91 working minutes.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24 more enquiries would have needed a faster callback to reach the 80.0% target. Web form enquiries are the slowest: 50.0% within 2 working hours.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Called back within 2 working hours, by channel, May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How long do customers wait for a callback?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Target 80.0%.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7" name="Connector 6"/>
          <p:cNvCxnSpPr/>
          <p:nvPr/>
        </p:nvCxnSpPr>
        <p:spPr>
          <a:xfrm>
            <a:off x="9528067" y="1414470"/>
            <a:ext cx="0" cy="3984467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430787" y="5398937"/>
            <a:ext cx="219456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Target 80.0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99632"/>
            <a:ext cx="54864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Grey = below target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callbacks.pptx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28 Oct 2026, 12:45pm · Sample data · Made with Python (python-pptx)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