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ayout>
        <c:manualLayout>
          <c:layoutTarget val="inner"/>
          <c:xMode val="edge"/>
          <c:yMode val="edge"/>
          <c:x val="0.3"/>
          <c:y val="0.03"/>
          <c:w val="0.58"/>
          <c:h val="0.88"/>
        </c:manualLayout>
      </c:layout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Gross margin %</c:v>
                </c:pt>
              </c:strCache>
            </c:strRef>
          </c:tx>
          <c:dPt>
            <c:idx val="0"/>
            <c:spPr>
              <a:solidFill>
                <a:srgbClr val="0E9F6E"/>
              </a:solidFill>
            </c:spPr>
          </c:dPt>
          <c:dPt>
            <c:idx val="1"/>
            <c:spPr>
              <a:solidFill>
                <a:srgbClr val="0E9F6E"/>
              </a:solidFill>
            </c:spPr>
          </c:dPt>
          <c:dPt>
            <c:idx val="2"/>
            <c:spPr>
              <a:solidFill>
                <a:srgbClr val="0E9F6E"/>
              </a:solidFill>
            </c:spPr>
          </c:dPt>
          <c:cat>
            <c:strRef>
              <c:f>Sheet1!$A$2:$A$4</c:f>
              <c:strCache>
                <c:ptCount val="3"/>
                <c:pt idx="0">
                  <c:v>Installations</c:v>
                </c:pt>
                <c:pt idx="1">
                  <c:v>Call-outs and repairs</c:v>
                </c:pt>
                <c:pt idx="2">
                  <c:v>Maintenance contracts</c:v>
                </c:pt>
              </c:strCache>
            </c:strRef>
          </c:cat>
          <c:val>
            <c:numRef>
              <c:f>Sheet1!$B$2:$B$4</c:f>
              <c:numCache>
                <c:formatCode>0.0"%";[Red](0.0"%")</c:formatCode>
                <c:ptCount val="3"/>
                <c:pt idx="0">
                  <c:v>35.9</c:v>
                </c:pt>
                <c:pt idx="1">
                  <c:v>48.6</c:v>
                </c:pt>
                <c:pt idx="2">
                  <c:v>63.9</c:v>
                </c:pt>
              </c:numCache>
            </c:numRef>
          </c:val>
        </c:ser>
        <c:dLbls>
          <c:numFmt formatCode="0.0&quot;%&quot;;[Red](0.0&quot;%&quot;)" sourceLinked="0"/>
          <c:txPr>
            <a:bodyPr/>
            <a:lstStyle/>
            <a:p>
              <a:pPr>
                <a:defRPr sz="10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73.485"/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>
          <a:latin typeface="Roboto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ayout>
        <c:manualLayout>
          <c:layoutTarget val="inner"/>
          <c:xMode val="edge"/>
          <c:yMode val="edge"/>
          <c:x val="0.3"/>
          <c:y val="0.03"/>
          <c:w val="0.58"/>
          <c:h val="0.88"/>
        </c:manualLayout>
      </c:layout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Gross margin %</c:v>
                </c:pt>
              </c:strCache>
            </c:strRef>
          </c:tx>
          <c:dPt>
            <c:idx val="0"/>
            <c:spPr>
              <a:solidFill>
                <a:srgbClr val="0E9F6E"/>
              </a:solidFill>
            </c:spPr>
          </c:dPt>
          <c:dPt>
            <c:idx val="1"/>
            <c:spPr>
              <a:solidFill>
                <a:srgbClr val="0E9F6E"/>
              </a:solidFill>
            </c:spPr>
          </c:dPt>
          <c:dPt>
            <c:idx val="2"/>
            <c:spPr>
              <a:solidFill>
                <a:srgbClr val="0E9F6E"/>
              </a:solidFill>
            </c:spPr>
          </c:dPt>
          <c:dPt>
            <c:idx val="3"/>
            <c:spPr>
              <a:solidFill>
                <a:srgbClr val="0E9F6E"/>
              </a:solidFill>
            </c:spPr>
          </c:dPt>
          <c:dPt>
            <c:idx val="4"/>
            <c:spPr>
              <a:solidFill>
                <a:srgbClr val="0E9F6E"/>
              </a:solidFill>
            </c:spPr>
          </c:dPt>
          <c:dPt>
            <c:idx val="5"/>
            <c:spPr>
              <a:solidFill>
                <a:srgbClr val="0E9F6E"/>
              </a:solidFill>
            </c:spPr>
          </c:dPt>
          <c:dPt>
            <c:idx val="6"/>
            <c:spPr>
              <a:solidFill>
                <a:srgbClr val="0E9F6E"/>
              </a:solidFill>
            </c:spPr>
          </c:dPt>
          <c:dPt>
            <c:idx val="7"/>
            <c:spPr>
              <a:solidFill>
                <a:srgbClr val="0E9F6E"/>
              </a:solidFill>
            </c:spPr>
          </c:dPt>
          <c:dPt>
            <c:idx val="8"/>
            <c:spPr>
              <a:solidFill>
                <a:srgbClr val="0E9F6E"/>
              </a:solidFill>
            </c:spPr>
          </c:dPt>
          <c:dPt>
            <c:idx val="9"/>
            <c:spPr>
              <a:solidFill>
                <a:srgbClr val="0E9F6E"/>
              </a:solidFill>
            </c:spPr>
          </c:dPt>
          <c:dPt>
            <c:idx val="10"/>
            <c:spPr>
              <a:solidFill>
                <a:srgbClr val="0E9F6E"/>
              </a:solidFill>
            </c:spPr>
          </c:dPt>
          <c:dPt>
            <c:idx val="11"/>
            <c:spPr>
              <a:solidFill>
                <a:srgbClr val="0E9F6E"/>
              </a:solidFill>
            </c:spPr>
          </c:dPt>
          <c:dPt>
            <c:idx val="12"/>
            <c:spPr>
              <a:solidFill>
                <a:srgbClr val="0E9F6E"/>
              </a:solidFill>
            </c:spPr>
          </c:dPt>
          <c:dPt>
            <c:idx val="13"/>
            <c:spPr>
              <a:solidFill>
                <a:srgbClr val="0E9F6E"/>
              </a:solidFill>
            </c:spPr>
          </c:dPt>
          <c:cat>
            <c:strRef>
              <c:f>Sheet1!$A$2:$A$15</c:f>
              <c:strCache>
                <c:ptCount val="14"/>
                <c:pt idx="0">
                  <c:v>Kangaroo Point townhouses</c:v>
                </c:pt>
                <c:pt idx="1">
                  <c:v>West End brewery</c:v>
                </c:pt>
                <c:pt idx="2">
                  <c:v>Rocklea factory</c:v>
                </c:pt>
                <c:pt idx="3">
                  <c:v>Wacol logistics depot</c:v>
                </c:pt>
                <c:pt idx="4">
                  <c:v>Milton office tower</c:v>
                </c:pt>
                <c:pt idx="5">
                  <c:v>Bulimba school</c:v>
                </c:pt>
                <c:pt idx="6">
                  <c:v>Chermside retail centre</c:v>
                </c:pt>
                <c:pt idx="7">
                  <c:v>Southbank cafe group</c:v>
                </c:pt>
                <c:pt idx="8">
                  <c:v>Fortitude Valley hotel</c:v>
                </c:pt>
                <c:pt idx="9">
                  <c:v>Riverside Apartments (strata)</c:v>
                </c:pt>
                <c:pt idx="10">
                  <c:v>Newstead gym</c:v>
                </c:pt>
                <c:pt idx="11">
                  <c:v>Ashgrove aged care</c:v>
                </c:pt>
                <c:pt idx="12">
                  <c:v>Wynnum medical centre</c:v>
                </c:pt>
                <c:pt idx="13">
                  <c:v>Carindale vet clinic</c:v>
                </c:pt>
              </c:strCache>
            </c:strRef>
          </c:cat>
          <c:val>
            <c:numRef>
              <c:f>Sheet1!$B$2:$B$15</c:f>
              <c:numCache>
                <c:formatCode>0.0"%";[Red](0.0"%")</c:formatCode>
                <c:ptCount val="14"/>
                <c:pt idx="0">
                  <c:v>62.9</c:v>
                </c:pt>
                <c:pt idx="1">
                  <c:v>63.1</c:v>
                </c:pt>
                <c:pt idx="2">
                  <c:v>63.1</c:v>
                </c:pt>
                <c:pt idx="3">
                  <c:v>63.4</c:v>
                </c:pt>
                <c:pt idx="4">
                  <c:v>63.4</c:v>
                </c:pt>
                <c:pt idx="5">
                  <c:v>63.6</c:v>
                </c:pt>
                <c:pt idx="6">
                  <c:v>63.8</c:v>
                </c:pt>
                <c:pt idx="7">
                  <c:v>64.0</c:v>
                </c:pt>
                <c:pt idx="8">
                  <c:v>64.2</c:v>
                </c:pt>
                <c:pt idx="9">
                  <c:v>64.3</c:v>
                </c:pt>
                <c:pt idx="10">
                  <c:v>64.3</c:v>
                </c:pt>
                <c:pt idx="11">
                  <c:v>64.4</c:v>
                </c:pt>
                <c:pt idx="12">
                  <c:v>65.1</c:v>
                </c:pt>
                <c:pt idx="13">
                  <c:v>66.2</c:v>
                </c:pt>
              </c:numCache>
            </c:numRef>
          </c:val>
        </c:ser>
        <c:dLbls>
          <c:numFmt formatCode="0.0&quot;%&quot;;[Red](0.0&quot;%&quot;)" sourceLinked="0"/>
          <c:txPr>
            <a:bodyPr/>
            <a:lstStyle/>
            <a:p>
              <a:pPr>
                <a:defRPr sz="11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76.13"/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>
          <a:latin typeface="Roboto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ayout>
        <c:manualLayout>
          <c:layoutTarget val="inner"/>
          <c:xMode val="edge"/>
          <c:yMode val="edge"/>
          <c:x val="0.3"/>
          <c:y val="0.03"/>
          <c:w val="0.58"/>
          <c:h val="0.88"/>
        </c:manualLayout>
      </c:layout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Gross margin %</c:v>
                </c:pt>
              </c:strCache>
            </c:strRef>
          </c:tx>
          <c:dPt>
            <c:idx val="0"/>
            <c:spPr>
              <a:solidFill>
                <a:srgbClr val="0E9F6E"/>
              </a:solidFill>
            </c:spPr>
          </c:dPt>
          <c:dPt>
            <c:idx val="1"/>
            <c:spPr>
              <a:solidFill>
                <a:srgbClr val="0E9F6E"/>
              </a:solidFill>
            </c:spPr>
          </c:dPt>
          <c:dPt>
            <c:idx val="2"/>
            <c:spPr>
              <a:solidFill>
                <a:srgbClr val="0E9F6E"/>
              </a:solidFill>
            </c:spPr>
          </c:dPt>
          <c:dPt>
            <c:idx val="3"/>
            <c:spPr>
              <a:solidFill>
                <a:srgbClr val="0E9F6E"/>
              </a:solidFill>
            </c:spPr>
          </c:dPt>
          <c:cat>
            <c:strRef>
              <c:f>Sheet1!$A$2:$A$5</c:f>
              <c:strCache>
                <c:ptCount val="4"/>
                <c:pt idx="0">
                  <c:v>Installation J-2502</c:v>
                </c:pt>
                <c:pt idx="1">
                  <c:v>Installation J-2500</c:v>
                </c:pt>
                <c:pt idx="2">
                  <c:v>Installation J-2501</c:v>
                </c:pt>
                <c:pt idx="3">
                  <c:v>Installation J-2503</c:v>
                </c:pt>
              </c:strCache>
            </c:strRef>
          </c:cat>
          <c:val>
            <c:numRef>
              <c:f>Sheet1!$B$2:$B$5</c:f>
              <c:numCache>
                <c:formatCode>0.0"%";[Red](0.0"%")</c:formatCode>
                <c:ptCount val="4"/>
                <c:pt idx="0">
                  <c:v>35.8</c:v>
                </c:pt>
                <c:pt idx="1">
                  <c:v>35.9</c:v>
                </c:pt>
                <c:pt idx="2">
                  <c:v>36.0</c:v>
                </c:pt>
                <c:pt idx="3">
                  <c:v>36.8</c:v>
                </c:pt>
              </c:numCache>
            </c:numRef>
          </c:val>
        </c:ser>
        <c:dLbls>
          <c:numFmt formatCode="0.0&quot;%&quot;;[Red](0.0&quot;%&quot;)" sourceLinked="0"/>
          <c:txPr>
            <a:bodyPr/>
            <a:lstStyle/>
            <a:p>
              <a:pPr>
                <a:defRPr sz="10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52.555"/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>
          <a:latin typeface="Roboto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ayout>
        <c:manualLayout>
          <c:layoutTarget val="inner"/>
          <c:xMode val="edge"/>
          <c:yMode val="edge"/>
          <c:x val="0.3"/>
          <c:y val="0.03"/>
          <c:w val="0.58"/>
          <c:h val="0.88"/>
        </c:manualLayout>
      </c:layout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Gross margin %</c:v>
                </c:pt>
              </c:strCache>
            </c:strRef>
          </c:tx>
          <c:dPt>
            <c:idx val="0"/>
            <c:spPr>
              <a:solidFill>
                <a:srgbClr val="0E9F6E"/>
              </a:solidFill>
            </c:spPr>
          </c:dPt>
          <c:dPt>
            <c:idx val="1"/>
            <c:spPr>
              <a:solidFill>
                <a:srgbClr val="0E9F6E"/>
              </a:solidFill>
            </c:spPr>
          </c:dPt>
          <c:dPt>
            <c:idx val="2"/>
            <c:spPr>
              <a:solidFill>
                <a:srgbClr val="0E9F6E"/>
              </a:solidFill>
            </c:spPr>
          </c:dPt>
          <c:dPt>
            <c:idx val="3"/>
            <c:spPr>
              <a:solidFill>
                <a:srgbClr val="0E9F6E"/>
              </a:solidFill>
            </c:spPr>
          </c:dPt>
          <c:dPt>
            <c:idx val="4"/>
            <c:spPr>
              <a:solidFill>
                <a:srgbClr val="0E9F6E"/>
              </a:solidFill>
            </c:spPr>
          </c:dPt>
          <c:dPt>
            <c:idx val="5"/>
            <c:spPr>
              <a:solidFill>
                <a:srgbClr val="0E9F6E"/>
              </a:solidFill>
            </c:spPr>
          </c:dPt>
          <c:cat>
            <c:strRef>
              <c:f>Sheet1!$A$2:$A$7</c:f>
              <c:strCache>
                <c:ptCount val="6"/>
                <c:pt idx="0">
                  <c:v>1-hour call-outs (3)</c:v>
                </c:pt>
                <c:pt idx="1">
                  <c:v>2-hour call-outs (14)</c:v>
                </c:pt>
                <c:pt idx="2">
                  <c:v>1.5-hour call-outs (4)</c:v>
                </c:pt>
                <c:pt idx="3">
                  <c:v>2.5-hour call-outs (9)</c:v>
                </c:pt>
                <c:pt idx="4">
                  <c:v>3-hour call-outs (19)</c:v>
                </c:pt>
                <c:pt idx="5">
                  <c:v>4-hour call-outs (6)</c:v>
                </c:pt>
              </c:strCache>
            </c:strRef>
          </c:cat>
          <c:val>
            <c:numRef>
              <c:f>Sheet1!$B$2:$B$7</c:f>
              <c:numCache>
                <c:formatCode>0.0"%";[Red](0.0"%")</c:formatCode>
                <c:ptCount val="6"/>
                <c:pt idx="0">
                  <c:v>44.6</c:v>
                </c:pt>
                <c:pt idx="1">
                  <c:v>46.5</c:v>
                </c:pt>
                <c:pt idx="2">
                  <c:v>46.7</c:v>
                </c:pt>
                <c:pt idx="3">
                  <c:v>48.1</c:v>
                </c:pt>
                <c:pt idx="4">
                  <c:v>49.5</c:v>
                </c:pt>
                <c:pt idx="5">
                  <c:v>51.2</c:v>
                </c:pt>
              </c:numCache>
            </c:numRef>
          </c:val>
        </c:ser>
        <c:dLbls>
          <c:numFmt formatCode="0.0&quot;%&quot;;[Red](0.0&quot;%&quot;)" sourceLinked="0"/>
          <c:txPr>
            <a:bodyPr/>
            <a:lstStyle/>
            <a:p>
              <a:pPr>
                <a:defRPr sz="10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58.879999999999995"/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>
          <a:latin typeface="Roboto"/>
        </a:defRPr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Gross margin %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Sheet1!$A$2:$A$21</c:f>
              <c:strCache>
                <c:ptCount val="20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  <c:pt idx="13">
                  <c:v>Nov 25</c:v>
                </c:pt>
                <c:pt idx="14">
                  <c:v>Dec 25</c:v>
                </c:pt>
                <c:pt idx="15">
                  <c:v>Jan 26</c:v>
                </c:pt>
                <c:pt idx="16">
                  <c:v>Feb 26</c:v>
                </c:pt>
                <c:pt idx="17">
                  <c:v>Mar 26</c:v>
                </c:pt>
                <c:pt idx="18">
                  <c:v>Apr 26</c:v>
                </c:pt>
                <c:pt idx="19">
                  <c:v>May 26</c:v>
                </c:pt>
              </c:strCache>
            </c:strRef>
          </c:cat>
          <c:val>
            <c:numRef>
              <c:f>Sheet1!$B$2:$B$21</c:f>
              <c:numCache>
                <c:formatCode>0.0"%";[Red](0.0"%")</c:formatCode>
                <c:ptCount val="20"/>
                <c:pt idx="0">
                  <c:v>40.1</c:v>
                </c:pt>
                <c:pt idx="1">
                  <c:v>43.5</c:v>
                </c:pt>
                <c:pt idx="2">
                  <c:v>46.5</c:v>
                </c:pt>
                <c:pt idx="3">
                  <c:v>48.5</c:v>
                </c:pt>
                <c:pt idx="4">
                  <c:v>42.9</c:v>
                </c:pt>
                <c:pt idx="5">
                  <c:v>43.0</c:v>
                </c:pt>
                <c:pt idx="6">
                  <c:v>44.7</c:v>
                </c:pt>
                <c:pt idx="7">
                  <c:v>42.1</c:v>
                </c:pt>
                <c:pt idx="8">
                  <c:v>46.8</c:v>
                </c:pt>
                <c:pt idx="9">
                  <c:v>42.3</c:v>
                </c:pt>
                <c:pt idx="10">
                  <c:v>49.5</c:v>
                </c:pt>
                <c:pt idx="11">
                  <c:v>44.0</c:v>
                </c:pt>
                <c:pt idx="12">
                  <c:v>44.7</c:v>
                </c:pt>
                <c:pt idx="13">
                  <c:v>40.5</c:v>
                </c:pt>
                <c:pt idx="14">
                  <c:v>43.7</c:v>
                </c:pt>
                <c:pt idx="15">
                  <c:v>41.9</c:v>
                </c:pt>
                <c:pt idx="16">
                  <c:v>44.9</c:v>
                </c:pt>
                <c:pt idx="17">
                  <c:v>42.2</c:v>
                </c:pt>
                <c:pt idx="18">
                  <c:v>47.7</c:v>
                </c:pt>
                <c:pt idx="19">
                  <c:v>45.2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3"/>
        <c:noMultiLvlLbl val="0"/>
      </c:catAx>
      <c:valAx>
        <c:axId val="-2100718248"/>
        <c:scaling>
          <c:orientation val="minMax"/>
          <c:max val="6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0.0&quot;%&quot;;[Red](0.0&quot;%&quot;)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10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Which jobs actually make money?. Sample Electrical &amp; Air Pty Ltd. Period: May 2026. In short: Jobs made a 45.2% gross margin in May: maintenance contracts the most (63.9%), installations the least (35.9%). Every job's gross margin: revenue less materials, subcontractors and technician time at $68 an hour (fully loaded: wages and all on-costs). Pick a type of job and every number, chart and note on the page follows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gross margin to profit. May's jobs made $81,484 gross margin (45.2%). Technician time not charged to jobs took $23,154 and overheads $59,270, leaving ($940) profit before tax ((0.5%) of revenue). To cover overheads, jobs need a 45.7% gross margin on average.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All jobs. Job gross margin, May · All jobs: 45.2%; Job gross margin, April · All jobs: 47.7%; Gross margin jobs need to break even: 45.7%. In May maintenance contracts made a 63.9% job gross margin, installations made a 35.9% job gross margin, call-outs and repairs made a 48.6% job gross margin (technician time at $68 an hour, wages and all on-costs). Jobs need 45.7% just to cover overheads. Installations: 35.9% gross margin, 0.9 points over the 35.0% target ($970 ahead on $103,400 in May). Maintenance contracts: 63.9% gross margin, 28.9 points over the 35.0% target ($13,094 ahead on $45,350 in May).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Maintenance contracts. Job gross margin, May · Maintenance contracts: 63.9%; Job gross margin, April · Maintenance contracts: 63.9%; Gross margin jobs need to break even: 45.7%. All 14 contracts made more than the 35.0% job gross margin target. The thinnest was Kangaroo Point townhouses at 62.9% job gross margin: 14.0 h of technician time on a $2,700 monthly fee. The thinnest, Kangaroo Point townhouses: 62.9% gross margin, 27.9 points over the 35.0% target ($753 ahead on $2,700 in May). All maintenance contracts: 63.9% gross margin, 28.9 points over the 35.0% target ($13,094 ahead on $45,350 in May).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Job gross margin on each maintenance contract, May 2026. The month's fee less materials and technician time at $68/hour. Target 35.0% is what to price for; break-even 45.7% only covers overheads and time not charged.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Installations. Job gross margin, May · Installations: 35.9%; Job gross margin, April · Installations: 41.8%; Gross margin jobs need to break even: 45.7%. 0 of the 4 installation jobs invoiced in May made less than the 35.0% job gross margin target. The Installation J-2502 made a 35.8% job gross margin: 151.0 h of technician time ($10,268) and $3,100 of subcontractors on a $44,000 job. Jobs need 45.7% gross margin just to cover overheads. Every installation cleared the 35.0% target. Most profitable: Installation J-2503 (36.8%).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Call-outs and repairs. Job gross margin, May · Call-outs and repairs: 48.6%; Job gross margin, April · Call-outs and repairs: 48.3%; Gross margin jobs need to break even: 45.7%; Technician time charged, May: $22,908; Materials charged, May: $8,684. 55 call-outs in May billed $22,908 of technician time and $8,684 of materials ($6,680 at cost plus 30%), and made a 48.6% job gross margin between them. Gross margins run from 44.6% to 51.2% by length: the hourly rate covers technician time comfortably, so the gross margin mostly moves with how much material goes on the van. All call-outs: 48.6% gross margin, 13.6 points over the 35.0% target ($4,301 ahead on $31,592 in May).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Job gross margin by month. Tap a month for its workings.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Relationship Id="rId3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Relationship Id="rId3" Type="http://schemas.openxmlformats.org/officeDocument/2006/relationships/chart" Target="../charts/char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Relationship Id="rId3" Type="http://schemas.openxmlformats.org/officeDocument/2006/relationships/chart" Target="../charts/chart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Relationship Id="rId3" Type="http://schemas.openxmlformats.org/officeDocument/2006/relationships/chart" Target="../charts/chart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Relationship Id="rId3" Type="http://schemas.openxmlformats.org/officeDocument/2006/relationships/chart" Target="../charts/chart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965960"/>
            <a:ext cx="11277295" cy="1097280"/>
          </a:xfrm>
        </p:spPr>
        <p:txBody>
          <a:bodyPr wrap="square"/>
          <a:lstStyle/>
          <a:p>
            <a:pPr algn="l">
              <a:defRPr>
                <a:latin typeface="Roboto"/>
              </a:defRPr>
            </a:pPr>
            <a:r>
              <a:rPr sz="3400" b="1">
                <a:solidFill>
                  <a:srgbClr val="25342A"/>
                </a:solidFill>
                <a:latin typeface="Roboto"/>
              </a:rPr>
              <a:t>Which jobs actually make money?</a:t>
            </a:r>
          </a:p>
        </p:txBody>
      </p:sp>
      <p:pic>
        <p:nvPicPr>
          <p:cNvPr id="3" name="Picture 2" descr="mark-4th-18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457200"/>
            <a:ext cx="822960" cy="8229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34440" y="658368"/>
            <a:ext cx="54864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800" b="1">
                <a:solidFill>
                  <a:srgbClr val="25342A"/>
                </a:solidFill>
                <a:latin typeface="Roboto"/>
              </a:rPr>
              <a:t>The Fourth Sheet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1">
                <a:solidFill>
                  <a:srgbClr val="8A7A52"/>
                </a:solidFill>
                <a:latin typeface="Roboto"/>
              </a:rPr>
              <a:t>SAMPLE DATA · invented figures for demonstration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154680"/>
            <a:ext cx="11277295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600" b="0">
                <a:solidFill>
                  <a:srgbClr val="5F6F63"/>
                </a:solidFill>
                <a:latin typeface="Roboto"/>
              </a:rPr>
              <a:t>Sample Electrical &amp; Air Pty Ltd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703320"/>
            <a:ext cx="11277295" cy="75819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400" b="0">
                <a:solidFill>
                  <a:srgbClr val="25342A"/>
                </a:solidFill>
                <a:latin typeface="Roboto"/>
              </a:rPr>
              <a:t>Period: May 2026. In short: Jobs made a 45.2% gross margin in May: maintenance contracts the most (63.9%), installations the least (35.9%). Every job's gross margin: revenue less materials, subcontractors and technician time at $68 an hour (fully loaded: wages and all on-costs). Pick a type of job and every number, chart and note on the page follows it.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552950"/>
            <a:ext cx="11277295" cy="1097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How final is this data?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May 2026: Locked. May 2026 is locked (closed 2 Jun 2026). These numbers won't change.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job-margins.pptx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28 Oct 2026, 12:45pm · Sample data · Made with Python (python-pptx)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1 of 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From gross margin to profit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Electrical &amp; Air Pty Ltd · Which jobs actually make money?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4541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May's jobs made $81,484 gross margin (45.2%). Technician time not charged to jobs took $23,154 and overheads $59,270, leaving ($940) profit before tax ((0.5%) of revenue). To cover overheads, jobs need a 45.7% gross margin on average.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469136"/>
          <a:ext cx="11277294" cy="3419856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608734"/>
                <a:gridCol w="7668560"/>
              </a:tblGrid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Gross margin on jobs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$81,484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Technician wages and on-costs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$72,352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Technician time charged to jobs (at cost)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$49,198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Technician time not charged to jobs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$23,154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Gross profit (the P&amp;L)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$58,330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Overheads (operating expenses, depreciation, interest)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$59,270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Profit before tax (the P&amp;L)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B42318"/>
                          </a:solidFill>
                          <a:latin typeface="Roboto"/>
                        </a:rPr>
                        <a:t>($940)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Revenue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$180,342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Gross margin on jobs, 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45.2%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Profit before tax, % of revenue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B42318"/>
                          </a:solidFill>
                          <a:latin typeface="Roboto"/>
                        </a:rPr>
                        <a:t>(0.5%)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Gross margin jobs need just to cover overheads and time not charged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45.7%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job-margins.pptx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28 Oct 2026, 12:45pm · Sample data · Made with Python (python-pptx)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2 of 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All jobs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Electrical &amp; Air Pty Ltd · Which jobs actually make money?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Job gross margin by type of job, May 2026. Gross margin is not profit.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594360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Job gross margin, May · All jobs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45.2%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target 35.0%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2498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4429658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Job gross margin, April · All jobs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29658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47.7%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29658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target 35.0%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27796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8264956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Gross margin jobs need to break even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64956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45.7%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4956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covers overheads and time not charged (May)</a:t>
            </a:r>
          </a:p>
        </p:txBody>
      </p:sp>
      <p:graphicFrame>
        <p:nvGraphicFramePr>
          <p:cNvPr id="18" name="Chart 17"/>
          <p:cNvGraphicFramePr>
            <a:graphicFrameLocks noGrp="1"/>
          </p:cNvGraphicFramePr>
          <p:nvPr/>
        </p:nvGraphicFramePr>
        <p:xfrm>
          <a:off x="457200" y="2604516"/>
          <a:ext cx="11277295" cy="188366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cxnSp>
        <p:nvCxnSpPr>
          <p:cNvPr id="19" name="Connector 18"/>
          <p:cNvCxnSpPr/>
          <p:nvPr/>
        </p:nvCxnSpPr>
        <p:spPr>
          <a:xfrm>
            <a:off x="6955705" y="2661025"/>
            <a:ext cx="0" cy="1657625"/>
          </a:xfrm>
          <a:prstGeom prst="line">
            <a:avLst/>
          </a:prstGeom>
          <a:ln w="19050">
            <a:solidFill>
              <a:srgbClr val="25342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858425" y="4318650"/>
            <a:ext cx="2194560" cy="23774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1000" b="1">
                <a:solidFill>
                  <a:srgbClr val="25342A"/>
                </a:solidFill>
                <a:latin typeface="Roboto"/>
              </a:rPr>
              <a:t>Target 35.0%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908102" y="2661025"/>
            <a:ext cx="0" cy="1657625"/>
          </a:xfrm>
          <a:prstGeom prst="line">
            <a:avLst/>
          </a:prstGeom>
          <a:ln w="19050">
            <a:solidFill>
              <a:srgbClr val="B42318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6810822" y="4556394"/>
            <a:ext cx="2194560" cy="23774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1000" b="1">
                <a:solidFill>
                  <a:srgbClr val="B42318"/>
                </a:solidFill>
                <a:latin typeface="Roboto"/>
              </a:rPr>
              <a:t>Break-even 45.7%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4991100"/>
            <a:ext cx="5501487" cy="129540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4" name="TextBox 23"/>
          <p:cNvSpPr txBox="1"/>
          <p:nvPr/>
        </p:nvSpPr>
        <p:spPr>
          <a:xfrm>
            <a:off x="594360" y="504596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5320284"/>
            <a:ext cx="5227167" cy="929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In May maintenance contracts made a 63.9% job gross margin, installations made a 35.9% job gross margin, call-outs and repairs made a 48.6% job gross margin (technician time at $68 an hour, wages and all on-costs). Jobs need 45.7% just to cover overheads.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33007" y="4991100"/>
            <a:ext cx="5501487" cy="129540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7" name="TextBox 26"/>
          <p:cNvSpPr txBox="1"/>
          <p:nvPr/>
        </p:nvSpPr>
        <p:spPr>
          <a:xfrm>
            <a:off x="6370167" y="504596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70167" y="5320284"/>
            <a:ext cx="5227167" cy="929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Installations: 35.9% gross margin, 0.9 points over the 35.0% target ($970 ahead on $103,400 in May). Maintenance contracts: 63.9% gross margin, 28.9 points over the 35.0% target ($13,094 ahead on $45,350 in May).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job-margins.pptx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28 Oct 2026, 12:45pm · Sample data · Made with Python (python-pptx)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3 of 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Maintenance contracts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Electrical &amp; Air Pty Ltd · Which jobs actually make money?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960120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594360" y="1033272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Job gross margin, May · Maintenance contracts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399032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63.9%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64792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target 35.0%</a:t>
            </a:r>
          </a:p>
        </p:txBody>
      </p:sp>
      <p:sp>
        <p:nvSpPr>
          <p:cNvPr id="9" name="Rectangle 8"/>
          <p:cNvSpPr/>
          <p:nvPr/>
        </p:nvSpPr>
        <p:spPr>
          <a:xfrm>
            <a:off x="4292498" y="960120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4429658" y="1033272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Job gross margin, April · Maintenance contracts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29658" y="1399032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63.9%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29658" y="1764792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target 35.0%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27796" y="960120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4" name="TextBox 13"/>
          <p:cNvSpPr txBox="1"/>
          <p:nvPr/>
        </p:nvSpPr>
        <p:spPr>
          <a:xfrm>
            <a:off x="8264956" y="1033272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Gross margin jobs need to break even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64956" y="1399032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45.7%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64956" y="1764792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covers overheads and time not charged (May)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2286000"/>
            <a:ext cx="5501487" cy="129540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8" name="TextBox 17"/>
          <p:cNvSpPr txBox="1"/>
          <p:nvPr/>
        </p:nvSpPr>
        <p:spPr>
          <a:xfrm>
            <a:off x="594360" y="234086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2615184"/>
            <a:ext cx="5227167" cy="929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All 14 contracts made more than the 35.0% job gross margin target. The thinnest was Kangaroo Point townhouses at 62.9% job gross margin: 14.0 h of technician time on a $2,700 monthly fee.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33007" y="2286000"/>
            <a:ext cx="5501487" cy="129540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1" name="TextBox 20"/>
          <p:cNvSpPr txBox="1"/>
          <p:nvPr/>
        </p:nvSpPr>
        <p:spPr>
          <a:xfrm>
            <a:off x="6370167" y="234086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70167" y="2615184"/>
            <a:ext cx="5227167" cy="929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The thinnest, Kangaroo Point townhouses: 62.9% gross margin, 27.9 points over the 35.0% target ($753 ahead on $2,700 in May). All maintenance contracts: 63.9% gross margin, 28.9 points over the 35.0% target ($13,094 ahead on $45,350 in May).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job-margins.pptx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28 Oct 2026, 12:45pm · Sample data · Made with Python (python-pptx)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4 of 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Job gross margin on each maintenance contract, May 2026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Electrical &amp; Air Pty Ltd · Which jobs actually make money?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4541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The month's fee less materials and technician time at $68/hour. Target 35.0% is what to price for; break-even 45.7% only covers overheads and time not charged.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1469136"/>
          <a:ext cx="11277295" cy="433730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cxnSp>
        <p:nvCxnSpPr>
          <p:cNvPr id="7" name="Connector 6"/>
          <p:cNvCxnSpPr/>
          <p:nvPr/>
        </p:nvCxnSpPr>
        <p:spPr>
          <a:xfrm>
            <a:off x="6847469" y="1599255"/>
            <a:ext cx="0" cy="3816827"/>
          </a:xfrm>
          <a:prstGeom prst="line">
            <a:avLst/>
          </a:prstGeom>
          <a:ln w="19050">
            <a:solidFill>
              <a:srgbClr val="25342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750189" y="5416082"/>
            <a:ext cx="2194560" cy="23774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1000" b="1">
                <a:solidFill>
                  <a:srgbClr val="25342A"/>
                </a:solidFill>
                <a:latin typeface="Roboto"/>
              </a:rPr>
              <a:t>Target 35.0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766777" y="1599255"/>
            <a:ext cx="0" cy="3816827"/>
          </a:xfrm>
          <a:prstGeom prst="line">
            <a:avLst/>
          </a:prstGeom>
          <a:ln w="19050">
            <a:solidFill>
              <a:srgbClr val="B42318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669497" y="5653826"/>
            <a:ext cx="2194560" cy="23774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1000" b="1">
                <a:solidFill>
                  <a:srgbClr val="B42318"/>
                </a:solidFill>
                <a:latin typeface="Roboto"/>
              </a:rPr>
              <a:t>Break-even 45.7%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job-margins.pptx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28 Oct 2026, 12:45pm · Sample data · Made with Python (python-pptx)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5 of 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Installations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Electrical &amp; Air Pty Ltd · Which jobs actually make money?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Job gross margin on each installation invoiced in May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594360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Job gross margin, May · Installations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35.9%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target 35.0%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2498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4429658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Job gross margin, April · Installations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29658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41.8%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29658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target 35.0%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27796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8264956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Gross margin jobs need to break even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64956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45.7%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4956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covers overheads and time not charged (May)</a:t>
            </a:r>
          </a:p>
        </p:txBody>
      </p:sp>
      <p:graphicFrame>
        <p:nvGraphicFramePr>
          <p:cNvPr id="18" name="Chart 17"/>
          <p:cNvGraphicFramePr>
            <a:graphicFrameLocks noGrp="1"/>
          </p:cNvGraphicFramePr>
          <p:nvPr/>
        </p:nvGraphicFramePr>
        <p:xfrm>
          <a:off x="457200" y="2604516"/>
          <a:ext cx="11277295" cy="211988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cxnSp>
        <p:nvCxnSpPr>
          <p:cNvPr id="19" name="Connector 18"/>
          <p:cNvCxnSpPr/>
          <p:nvPr/>
        </p:nvCxnSpPr>
        <p:spPr>
          <a:xfrm>
            <a:off x="8196379" y="2668112"/>
            <a:ext cx="0" cy="1865498"/>
          </a:xfrm>
          <a:prstGeom prst="line">
            <a:avLst/>
          </a:prstGeom>
          <a:ln w="19050">
            <a:solidFill>
              <a:srgbClr val="25342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7099099" y="4533610"/>
            <a:ext cx="2194560" cy="23774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1000" b="1">
                <a:solidFill>
                  <a:srgbClr val="25342A"/>
                </a:solidFill>
                <a:latin typeface="Roboto"/>
              </a:rPr>
              <a:t>Target 35.0%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9528067" y="2668112"/>
            <a:ext cx="0" cy="1865498"/>
          </a:xfrm>
          <a:prstGeom prst="line">
            <a:avLst/>
          </a:prstGeom>
          <a:ln w="19050">
            <a:solidFill>
              <a:srgbClr val="B42318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8430787" y="4771354"/>
            <a:ext cx="2194560" cy="23774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1000" b="1">
                <a:solidFill>
                  <a:srgbClr val="B42318"/>
                </a:solidFill>
                <a:latin typeface="Roboto"/>
              </a:rPr>
              <a:t>Break-even 45.7%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5227320"/>
            <a:ext cx="5501487" cy="112776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4" name="TextBox 23"/>
          <p:cNvSpPr txBox="1"/>
          <p:nvPr/>
        </p:nvSpPr>
        <p:spPr>
          <a:xfrm>
            <a:off x="594360" y="528218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5556504"/>
            <a:ext cx="5227167" cy="7620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0 of the 4 installation jobs invoiced in May made less than the 35.0% job gross margin target. The Installation J-2502 made a 35.8% job gross margin: 151.0 h of technician time ($10,268) and $3,100 of subcontractors on a $44,000 job. Jobs need 45.7% gross margin just to cover overheads.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33007" y="5227320"/>
            <a:ext cx="5501487" cy="112776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7" name="TextBox 26"/>
          <p:cNvSpPr txBox="1"/>
          <p:nvPr/>
        </p:nvSpPr>
        <p:spPr>
          <a:xfrm>
            <a:off x="6370167" y="528218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70167" y="5556504"/>
            <a:ext cx="5227167" cy="7620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Every installation cleared the 35.0% target. Most profitable: Installation J-2503 (36.8%).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job-margins.pptx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28 Oct 2026, 12:45pm · Sample data · Made with Python (python-pptx)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6 of 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Call-outs and repairs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Electrical &amp; Air Pty Ltd · Which jobs actually make money?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Job gross margin on call-outs by length, May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78636"/>
            <a:ext cx="2072579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594360" y="1351788"/>
            <a:ext cx="1798259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Job gross margin, May · Call-outs and repairs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17548"/>
            <a:ext cx="1798259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48.6%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83308"/>
            <a:ext cx="1798259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target 35.0%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58379" y="1278636"/>
            <a:ext cx="2072579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2895539" y="1351788"/>
            <a:ext cx="1798259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Job gross margin, April · Call-outs and repairs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95539" y="1717548"/>
            <a:ext cx="1798259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48.3%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95539" y="2083308"/>
            <a:ext cx="1798259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target 35.0%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59558" y="1278636"/>
            <a:ext cx="2072579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5196718" y="1351788"/>
            <a:ext cx="1798259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Gross margin jobs need to break even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96718" y="1717548"/>
            <a:ext cx="1798259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45.7%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96718" y="2083308"/>
            <a:ext cx="1798259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covers overheads and time not charged (May)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60737" y="1278636"/>
            <a:ext cx="2072579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9" name="TextBox 18"/>
          <p:cNvSpPr txBox="1"/>
          <p:nvPr/>
        </p:nvSpPr>
        <p:spPr>
          <a:xfrm>
            <a:off x="7497897" y="1351788"/>
            <a:ext cx="1798259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Technician time charged, May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7897" y="1717548"/>
            <a:ext cx="1798259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$22,908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97897" y="2083308"/>
            <a:ext cx="1798259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72.5% of call-out revenue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661916" y="1278636"/>
            <a:ext cx="2072579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3" name="TextBox 22"/>
          <p:cNvSpPr txBox="1"/>
          <p:nvPr/>
        </p:nvSpPr>
        <p:spPr>
          <a:xfrm>
            <a:off x="9799076" y="1351788"/>
            <a:ext cx="1798259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Materials charged, May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99076" y="1717548"/>
            <a:ext cx="1798259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$8,684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99076" y="2083308"/>
            <a:ext cx="1798259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$6,680 at cost, plus 30%</a:t>
            </a:r>
          </a:p>
        </p:txBody>
      </p:sp>
      <p:graphicFrame>
        <p:nvGraphicFramePr>
          <p:cNvPr id="26" name="Chart 25"/>
          <p:cNvGraphicFramePr>
            <a:graphicFrameLocks noGrp="1"/>
          </p:cNvGraphicFramePr>
          <p:nvPr/>
        </p:nvGraphicFramePr>
        <p:xfrm>
          <a:off x="457200" y="2604516"/>
          <a:ext cx="11277295" cy="211988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cxnSp>
        <p:nvCxnSpPr>
          <p:cNvPr id="27" name="Connector 26"/>
          <p:cNvCxnSpPr/>
          <p:nvPr/>
        </p:nvCxnSpPr>
        <p:spPr>
          <a:xfrm>
            <a:off x="7728450" y="2668112"/>
            <a:ext cx="0" cy="1865498"/>
          </a:xfrm>
          <a:prstGeom prst="line">
            <a:avLst/>
          </a:prstGeom>
          <a:ln w="19050">
            <a:solidFill>
              <a:srgbClr val="25342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6631170" y="4533610"/>
            <a:ext cx="2194560" cy="23774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1000" b="1">
                <a:solidFill>
                  <a:srgbClr val="25342A"/>
                </a:solidFill>
                <a:latin typeface="Roboto"/>
              </a:rPr>
              <a:t>Target 35.0%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8917086" y="2668112"/>
            <a:ext cx="0" cy="1865498"/>
          </a:xfrm>
          <a:prstGeom prst="line">
            <a:avLst/>
          </a:prstGeom>
          <a:ln w="19050">
            <a:solidFill>
              <a:srgbClr val="B42318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7819806" y="4771354"/>
            <a:ext cx="2194560" cy="23774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1000" b="1">
                <a:solidFill>
                  <a:srgbClr val="B42318"/>
                </a:solidFill>
                <a:latin typeface="Roboto"/>
              </a:rPr>
              <a:t>Break-even 45.7%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5227320"/>
            <a:ext cx="5501487" cy="112776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32" name="TextBox 31"/>
          <p:cNvSpPr txBox="1"/>
          <p:nvPr/>
        </p:nvSpPr>
        <p:spPr>
          <a:xfrm>
            <a:off x="594360" y="528218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4360" y="5556504"/>
            <a:ext cx="5227167" cy="7620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55 call-outs in May billed $22,908 of technician time and $8,684 of materials ($6,680 at cost plus 30%), and made a 48.6% job gross margin between them. Gross margins run from 44.6% to 51.2% by length: the hourly rate covers technician time comfortably, so the gross margin mostly moves with how much material goes on the van.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33007" y="5227320"/>
            <a:ext cx="5501487" cy="112776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35" name="TextBox 34"/>
          <p:cNvSpPr txBox="1"/>
          <p:nvPr/>
        </p:nvSpPr>
        <p:spPr>
          <a:xfrm>
            <a:off x="6370167" y="528218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70167" y="5556504"/>
            <a:ext cx="5227167" cy="7620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All call-outs: 48.6% gross margin, 13.6 points over the 35.0% target ($4,301 ahead on $31,592 in May).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job-margins.pptx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28 Oct 2026, 12:45pm · Sample data · Made with Python (python-pptx)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7 of 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Job gross margin by month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Electrical &amp; Air Pty Ltd · Which jobs actually make money?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Tap a month for its workings.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1278636"/>
          <a:ext cx="11277295" cy="480212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job-margins.pptx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28 Oct 2026, 12:45pm · Sample data · Made with Python (python-pptx)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8 of 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25342A"/>
      </a:dk2>
      <a:lt2>
        <a:srgbClr val="F4F7F2"/>
      </a:lt2>
      <a:accent1>
        <a:srgbClr val="2F7A5D"/>
      </a:accent1>
      <a:accent2>
        <a:srgbClr val="0E9F6E"/>
      </a:accent2>
      <a:accent3>
        <a:srgbClr val="7D8790"/>
      </a:accent3>
      <a:accent4>
        <a:srgbClr val="8A6D3B"/>
      </a:accent4>
      <a:accent5>
        <a:srgbClr val="B42318"/>
      </a:accent5>
      <a:accent6>
        <a:srgbClr val="8E9CAB"/>
      </a:accent6>
      <a:hlink>
        <a:srgbClr val="0000FF"/>
      </a:hlink>
      <a:folHlink>
        <a:srgbClr val="800080"/>
      </a:folHlink>
    </a:clrScheme>
    <a:fontScheme name="Office">
      <a:maj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