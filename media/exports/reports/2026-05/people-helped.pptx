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Share reached %</c:v>
                </c:pt>
              </c:strCache>
            </c:strRef>
          </c:tx>
          <c:dPt>
            <c:idx val="0"/>
            <c:spPr>
              <a:solidFill>
                <a:srgbClr val="7D8790"/>
              </a:solidFill>
            </c:spPr>
          </c:dPt>
          <c:dPt>
            <c:idx val="1"/>
            <c:spPr>
              <a:solidFill>
                <a:srgbClr val="7D8790"/>
              </a:solidFill>
            </c:spPr>
          </c:dPt>
          <c:dPt>
            <c:idx val="2"/>
            <c:spPr>
              <a:solidFill>
                <a:srgbClr val="7D8790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cat>
            <c:strRef>
              <c:f>Sheet1!$A$2:$A$6</c:f>
              <c:strCache>
                <c:ptCount val="5"/>
                <c:pt idx="0">
                  <c:v>Digital literacy</c:v>
                </c:pt>
                <c:pt idx="1">
                  <c:v>Youth outreach</c:v>
                </c:pt>
                <c:pt idx="2">
                  <c:v>Community meals</c:v>
                </c:pt>
                <c:pt idx="3">
                  <c:v>Mental health first aid</c:v>
                </c:pt>
                <c:pt idx="4">
                  <c:v>Housing support</c:v>
                </c:pt>
              </c:strCache>
            </c:strRef>
          </c:cat>
          <c:val>
            <c:numRef>
              <c:f>Sheet1!$B$2:$B$6</c:f>
              <c:numCache>
                <c:formatCode>0.0"%";[Red](0.0"%")</c:formatCode>
                <c:ptCount val="5"/>
                <c:pt idx="0">
                  <c:v>83.1</c:v>
                </c:pt>
                <c:pt idx="1">
                  <c:v>87.7</c:v>
                </c:pt>
                <c:pt idx="2">
                  <c:v>89.3</c:v>
                </c:pt>
                <c:pt idx="3">
                  <c:v>90.1</c:v>
                </c:pt>
                <c:pt idx="4">
                  <c:v>91.0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4.64999999999999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People helped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Sheet1!$A$2:$A$21</c:f>
              <c:strCache>
                <c:ptCount val="20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</c:strCache>
            </c:strRef>
          </c:cat>
          <c:val>
            <c:numRef>
              <c:f>Sheet1!$B$2:$B$21</c:f>
              <c:numCache>
                <c:formatCode>#,##0;[Red](#,##0)</c:formatCode>
                <c:ptCount val="20"/>
                <c:pt idx="0">
                  <c:v>175</c:v>
                </c:pt>
                <c:pt idx="1">
                  <c:v>211</c:v>
                </c:pt>
                <c:pt idx="2">
                  <c:v>195</c:v>
                </c:pt>
                <c:pt idx="3">
                  <c:v>308</c:v>
                </c:pt>
                <c:pt idx="4">
                  <c:v>297</c:v>
                </c:pt>
                <c:pt idx="5">
                  <c:v>278</c:v>
                </c:pt>
                <c:pt idx="6">
                  <c:v>314</c:v>
                </c:pt>
                <c:pt idx="7">
                  <c:v>305</c:v>
                </c:pt>
                <c:pt idx="8">
                  <c:v>265</c:v>
                </c:pt>
                <c:pt idx="9">
                  <c:v>425</c:v>
                </c:pt>
                <c:pt idx="10">
                  <c:v>446</c:v>
                </c:pt>
                <c:pt idx="11">
                  <c:v>474</c:v>
                </c:pt>
                <c:pt idx="12">
                  <c:v>506</c:v>
                </c:pt>
                <c:pt idx="13">
                  <c:v>495</c:v>
                </c:pt>
                <c:pt idx="14">
                  <c:v>521</c:v>
                </c:pt>
                <c:pt idx="15">
                  <c:v>427</c:v>
                </c:pt>
                <c:pt idx="16">
                  <c:v>396</c:v>
                </c:pt>
                <c:pt idx="17">
                  <c:v>412</c:v>
                </c:pt>
                <c:pt idx="18">
                  <c:v>491</c:v>
                </c:pt>
                <c:pt idx="19">
                  <c:v>487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6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#,##0;[Red](#,##0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many people did you help this month, and how many couldn't you reach?. Sample Community Services Ltd. Period: May 2026. In short: 487 people helped in May; 62 couldn't be reached (88.7% reached, target 90.0%). People helped by each program, day by day, and the people who came to a program but couldn't be helped (and why). People helped are counted against each program's own grant spend.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many people did you help this month, and how many couldn't you reach?. People helped, May: 487; Couldn't reach, May: 62; Share reached, May: 88.7%. 487 people were helped in May, and 62 came to a program but couldn't be helped: 88.7% reached (target 90.0%), against 84.1% in April. Digital literacy reached the smallest share: 83.1% (10 couldn't be helped). The main reason: program at capacity (22 people).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People helped by month. Tap a month for its workings.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people couldn't be helped, May 2026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How many people did you help this month, and how many couldn't you reach?</a:t>
            </a:r>
          </a:p>
        </p:txBody>
      </p:sp>
      <p:pic>
        <p:nvPicPr>
          <p:cNvPr id="3" name="Picture 2" descr="mark-4th-1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457200"/>
            <a:ext cx="822960" cy="822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75819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May 2026. In short: 487 people helped in May; 62 couldn't be reached (88.7% reached, target 90.0%). People helped by each program, day by day, and the people who came to a program but couldn't be helped (and why). People helped are counted against each program's own grant spend.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5295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May 2026: Locked. May 2026 is locked (closed 2 Jun 2026). These numbers won't change.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people-helped.pptx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1452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000" b="1">
                <a:solidFill>
                  <a:srgbClr val="25342A"/>
                </a:solidFill>
                <a:latin typeface="Roboto"/>
              </a:rPr>
              <a:t>How many people did you help this month, and how many couldn't you reach?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people did you help this month, and how many couldn't you reach?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5344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Share of people reached, by program, May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1767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29082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People helped, May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65658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487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2234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April 491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1767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29082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Couldn't reach, May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65658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8A6D3B"/>
                </a:solidFill>
                <a:latin typeface="Roboto"/>
              </a:rPr>
              <a:t>62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2234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April 93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1767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29082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Share reached, May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65658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8A6D3B"/>
                </a:solidFill>
                <a:latin typeface="Roboto"/>
              </a:rPr>
              <a:t>88.7%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2234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90.0%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543556"/>
          <a:ext cx="11277295" cy="26517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19" name="Connector 18"/>
          <p:cNvCxnSpPr/>
          <p:nvPr/>
        </p:nvCxnSpPr>
        <p:spPr>
          <a:xfrm>
            <a:off x="9465565" y="2623108"/>
            <a:ext cx="0" cy="2333549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8368285" y="4956657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90.0%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515356"/>
            <a:ext cx="5501487" cy="839724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2" name="TextBox 21"/>
          <p:cNvSpPr txBox="1"/>
          <p:nvPr/>
        </p:nvSpPr>
        <p:spPr>
          <a:xfrm>
            <a:off x="594360" y="5570220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5844540"/>
            <a:ext cx="5227167" cy="47396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487 people were helped in May, and 62 came to a program but couldn't be helped: 88.7% reached (target 90.0%), against 84.1% in April.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33007" y="5515356"/>
            <a:ext cx="5501487" cy="839724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5" name="TextBox 24"/>
          <p:cNvSpPr txBox="1"/>
          <p:nvPr/>
        </p:nvSpPr>
        <p:spPr>
          <a:xfrm>
            <a:off x="6370167" y="5570220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0167" y="5844540"/>
            <a:ext cx="5227167" cy="47396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Digital literacy reached the smallest share: 83.1% (10 couldn't be helped). The main reason: program at capacity (22 people).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people-helped.pptx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People helped by month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people did you help this month, and how many couldn't you reach?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802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people-helped.pptx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Why people couldn't be helped, May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people did you help this month, and how many couldn't you reach?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5" cy="1865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38647"/>
                <a:gridCol w="5638648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Main reason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People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Program at capacity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Waitlist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19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Couldn't make contact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Not eligible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Outside the service area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people-helped.pptx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