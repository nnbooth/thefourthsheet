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Overtime % of ordinary hours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Sheet1!$A$2:$A$23</c:f>
              <c:strCache>
                <c:ptCount val="22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  <c:pt idx="15">
                  <c:v>Jan 26</c:v>
                </c:pt>
                <c:pt idx="16">
                  <c:v>Feb 26</c:v>
                </c:pt>
                <c:pt idx="17">
                  <c:v>Mar 26</c:v>
                </c:pt>
                <c:pt idx="18">
                  <c:v>Apr 26</c:v>
                </c:pt>
                <c:pt idx="19">
                  <c:v>May 26</c:v>
                </c:pt>
                <c:pt idx="20">
                  <c:v>Jun 26</c:v>
                </c:pt>
                <c:pt idx="21">
                  <c:v>Jul 26</c:v>
                </c:pt>
              </c:strCache>
            </c:strRef>
          </c:cat>
          <c:val>
            <c:numRef>
              <c:f>Sheet1!$B$2:$B$23</c:f>
              <c:numCache>
                <c:formatCode>0.0"%";[Red](0.0"%")</c:formatCode>
                <c:ptCount val="22"/>
                <c:pt idx="0">
                  <c:v>1.6</c:v>
                </c:pt>
                <c:pt idx="1">
                  <c:v>2.7</c:v>
                </c:pt>
                <c:pt idx="2">
                  <c:v>2.2</c:v>
                </c:pt>
                <c:pt idx="3">
                  <c:v>3.0</c:v>
                </c:pt>
                <c:pt idx="4">
                  <c:v>4.6</c:v>
                </c:pt>
                <c:pt idx="5">
                  <c:v>4.4</c:v>
                </c:pt>
                <c:pt idx="6">
                  <c:v>3.6</c:v>
                </c:pt>
                <c:pt idx="7">
                  <c:v>3.7</c:v>
                </c:pt>
                <c:pt idx="8">
                  <c:v>2.8</c:v>
                </c:pt>
                <c:pt idx="9">
                  <c:v>3.3</c:v>
                </c:pt>
                <c:pt idx="10">
                  <c:v>3.3</c:v>
                </c:pt>
                <c:pt idx="11">
                  <c:v>3.7</c:v>
                </c:pt>
                <c:pt idx="12">
                  <c:v>3.9</c:v>
                </c:pt>
                <c:pt idx="13">
                  <c:v>3.8</c:v>
                </c:pt>
                <c:pt idx="14">
                  <c:v>7.7</c:v>
                </c:pt>
                <c:pt idx="15">
                  <c:v>3.1</c:v>
                </c:pt>
                <c:pt idx="16">
                  <c:v>4.2</c:v>
                </c:pt>
                <c:pt idx="17">
                  <c:v>4.2</c:v>
                </c:pt>
                <c:pt idx="18">
                  <c:v>5.9</c:v>
                </c:pt>
                <c:pt idx="19">
                  <c:v>6.7</c:v>
                </c:pt>
                <c:pt idx="20">
                  <c:v>7.2</c:v>
                </c:pt>
                <c:pt idx="21">
                  <c:v>4.9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3"/>
        <c:noMultiLvlLbl val="0"/>
      </c:catAx>
      <c:valAx>
        <c:axId val="-2100718248"/>
        <c:scaling>
          <c:orientation val="minMax"/>
          <c:max val="1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0.0&quot;%&quot;;[Red](0.0&quot;%&quot;)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2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ayout>
        <c:manualLayout>
          <c:layoutTarget val="inner"/>
          <c:xMode val="edge"/>
          <c:yMode val="edge"/>
          <c:x val="0.3"/>
          <c:y val="0.03"/>
          <c:w val="0.58"/>
          <c:h val="0.88"/>
        </c:manualLayout>
      </c:layout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Why the overtime</c:v>
                </c:pt>
              </c:strCache>
            </c:strRef>
          </c:tx>
          <c:dPt>
            <c:idx val="0"/>
            <c:spPr>
              <a:solidFill>
                <a:srgbClr val="0E9F6E"/>
              </a:solidFill>
            </c:spPr>
          </c:dPt>
          <c:dPt>
            <c:idx val="1"/>
            <c:spPr>
              <a:solidFill>
                <a:srgbClr val="0E9F6E"/>
              </a:solidFill>
            </c:spPr>
          </c:dPt>
          <c:dPt>
            <c:idx val="2"/>
            <c:spPr>
              <a:solidFill>
                <a:srgbClr val="0E9F6E"/>
              </a:solidFill>
            </c:spPr>
          </c:dPt>
          <c:dPt>
            <c:idx val="3"/>
            <c:spPr>
              <a:solidFill>
                <a:srgbClr val="0E9F6E"/>
              </a:solidFill>
            </c:spPr>
          </c:dPt>
          <c:cat>
            <c:strRef>
              <c:f>Sheet1!$A$2:$A$5</c:f>
              <c:strCache>
                <c:ptCount val="4"/>
                <c:pt idx="0">
                  <c:v>Paperwork and quotes</c:v>
                </c:pt>
                <c:pt idx="1">
                  <c:v>Installation ran over</c:v>
                </c:pt>
                <c:pt idx="2">
                  <c:v>Short-staffed</c:v>
                </c:pt>
                <c:pt idx="3">
                  <c:v>After-hours call-out</c:v>
                </c:pt>
              </c:strCache>
            </c:strRef>
          </c:cat>
          <c:val>
            <c:numRef>
              <c:f>Sheet1!$B$2:$B$5</c:f>
              <c:numCache>
                <c:formatCode>#,##0;[Red](#,##0)</c:formatCode>
                <c:ptCount val="4"/>
                <c:pt idx="0">
                  <c:v>9.0</c:v>
                </c:pt>
                <c:pt idx="1">
                  <c:v>10.5</c:v>
                </c:pt>
                <c:pt idx="2">
                  <c:v>11.0</c:v>
                </c:pt>
                <c:pt idx="3">
                  <c:v>27.0</c:v>
                </c:pt>
              </c:numCache>
            </c:numRef>
          </c:val>
        </c:ser>
        <c:dLbls>
          <c:numFmt formatCode="#,##0;[Red](#,##0)" sourceLinked="0"/>
          <c:txPr>
            <a:bodyPr/>
            <a:lstStyle/>
            <a:p>
              <a:pPr>
                <a:defRPr sz="11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2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31.049999999999997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>
          <a:latin typeface="Roboto"/>
        </a:defRPr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ayout>
        <c:manualLayout>
          <c:layoutTarget val="inner"/>
          <c:xMode val="edge"/>
          <c:yMode val="edge"/>
          <c:x val="0.3"/>
          <c:y val="0.03"/>
          <c:w val="0.58"/>
          <c:h val="0.88"/>
        </c:manualLayout>
      </c:layout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Overtime by technician</c:v>
                </c:pt>
              </c:strCache>
            </c:strRef>
          </c:tx>
          <c:dPt>
            <c:idx val="0"/>
            <c:spPr>
              <a:solidFill>
                <a:srgbClr val="0E9F6E"/>
              </a:solidFill>
            </c:spPr>
          </c:dPt>
          <c:dPt>
            <c:idx val="1"/>
            <c:spPr>
              <a:solidFill>
                <a:srgbClr val="0E9F6E"/>
              </a:solidFill>
            </c:spPr>
          </c:dPt>
          <c:dPt>
            <c:idx val="2"/>
            <c:spPr>
              <a:solidFill>
                <a:srgbClr val="0E9F6E"/>
              </a:solidFill>
            </c:spPr>
          </c:dPt>
          <c:dPt>
            <c:idx val="3"/>
            <c:spPr>
              <a:solidFill>
                <a:srgbClr val="0E9F6E"/>
              </a:solidFill>
            </c:spPr>
          </c:dPt>
          <c:dPt>
            <c:idx val="4"/>
            <c:spPr>
              <a:solidFill>
                <a:srgbClr val="0E9F6E"/>
              </a:solidFill>
            </c:spPr>
          </c:dPt>
          <c:dPt>
            <c:idx val="5"/>
            <c:spPr>
              <a:solidFill>
                <a:srgbClr val="0E9F6E"/>
              </a:solidFill>
            </c:spPr>
          </c:dPt>
          <c:dPt>
            <c:idx val="6"/>
            <c:spPr>
              <a:solidFill>
                <a:srgbClr val="0E9F6E"/>
              </a:solidFill>
            </c:spPr>
          </c:dPt>
          <c:cat>
            <c:strRef>
              <c:f>Sheet1!$A$2:$A$8</c:f>
              <c:strCache>
                <c:ptCount val="7"/>
                <c:pt idx="0">
                  <c:v>Technician T4</c:v>
                </c:pt>
                <c:pt idx="1">
                  <c:v>Technician T6</c:v>
                </c:pt>
                <c:pt idx="2">
                  <c:v>Technician T7</c:v>
                </c:pt>
                <c:pt idx="3">
                  <c:v>Technician T3</c:v>
                </c:pt>
                <c:pt idx="4">
                  <c:v>Technician T2</c:v>
                </c:pt>
                <c:pt idx="5">
                  <c:v>Technician T5</c:v>
                </c:pt>
                <c:pt idx="6">
                  <c:v>Technician T1</c:v>
                </c:pt>
              </c:strCache>
            </c:strRef>
          </c:cat>
          <c:val>
            <c:numRef>
              <c:f>Sheet1!$B$2:$B$8</c:f>
              <c:numCache>
                <c:formatCode>#,##0;[Red](#,##0)</c:formatCode>
                <c:ptCount val="7"/>
                <c:pt idx="0">
                  <c:v>2.0</c:v>
                </c:pt>
                <c:pt idx="1">
                  <c:v>4.0</c:v>
                </c:pt>
                <c:pt idx="2">
                  <c:v>5.0</c:v>
                </c:pt>
                <c:pt idx="3">
                  <c:v>8.5</c:v>
                </c:pt>
                <c:pt idx="4">
                  <c:v>8.5</c:v>
                </c:pt>
                <c:pt idx="5">
                  <c:v>9.0</c:v>
                </c:pt>
                <c:pt idx="6">
                  <c:v>20.5</c:v>
                </c:pt>
              </c:numCache>
            </c:numRef>
          </c:val>
        </c:ser>
        <c:dLbls>
          <c:numFmt formatCode="#,##0;[Red](#,##0)" sourceLinked="0"/>
          <c:txPr>
            <a:bodyPr/>
            <a:lstStyle/>
            <a:p>
              <a:pPr>
                <a:defRPr sz="11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2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23.575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>
          <a:latin typeface="Roboto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Where is overtime creeping up, and why?. Sample Electrical &amp; Air Pty Ltd. Period: July 2026. In short: Overtime was 4.9% of ordinary hours in July (target under 5.0%), up from 3.3% a year earlier. Each technician's paid hours, day by day: ordinary hours and overtime, with the main reason for the overtime.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Where is overtime creeping up, and why?. Overtime, July: 4.9%; Overtime hours, July: 57.5 h; July last year: 3.3%. Technicians worked 57.5 h of overtime in July, 4.9% of ordinary hours (target under 5.0%), against 7.2% in June. Over the last year it has gone from 3.3% to 4.9%. After-hours call-out is the main reason: 27.0 h, 47.0% of the overtime. Technician T1 carried the most (20.5 h).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Why the overtime, July 2026. Overtime hours by main reason.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Overtime by technician, July 2026. Technicians are codes, not names.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Relationship Id="rId3" Type="http://schemas.openxmlformats.org/officeDocument/2006/relationships/chart" Target="../charts/char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Relationship Id="rId3" Type="http://schemas.openxmlformats.org/officeDocument/2006/relationships/chart" Target="../charts/char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.xml"/><Relationship Id="rId3" Type="http://schemas.openxmlformats.org/officeDocument/2006/relationships/chart" Target="../charts/chart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1965960"/>
            <a:ext cx="11277295" cy="1097280"/>
          </a:xfrm>
        </p:spPr>
        <p:txBody>
          <a:bodyPr wrap="square"/>
          <a:lstStyle/>
          <a:p>
            <a:pPr algn="l">
              <a:defRPr>
                <a:latin typeface="Roboto"/>
              </a:defRPr>
            </a:pPr>
            <a:r>
              <a:rPr sz="3400" b="1">
                <a:solidFill>
                  <a:srgbClr val="25342A"/>
                </a:solidFill>
                <a:latin typeface="Roboto"/>
              </a:rPr>
              <a:t>Where is overtime creeping up, and why?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548640"/>
            <a:ext cx="640080" cy="640080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>
                <a:latin typeface="Roboto"/>
              </a:defRPr>
            </a:pPr>
            <a:r>
              <a:rPr sz="1600" b="1">
                <a:solidFill>
                  <a:srgbClr val="FFFFFF"/>
                </a:solidFill>
                <a:latin typeface="Roboto"/>
              </a:rPr>
              <a:t>4th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658368"/>
            <a:ext cx="54864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800" b="1">
                <a:solidFill>
                  <a:srgbClr val="25342A"/>
                </a:solidFill>
                <a:latin typeface="Roboto"/>
              </a:rPr>
              <a:t>The Fourth Sheet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109728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8A7A52"/>
                </a:solidFill>
                <a:latin typeface="Roboto"/>
              </a:rPr>
              <a:t>SAMPLE DATA · invented figures for demonstration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154680"/>
            <a:ext cx="11277295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5F6F63"/>
                </a:solidFill>
                <a:latin typeface="Roboto"/>
              </a:rPr>
              <a:t>Sample Electrical &amp; Air Pty Ltd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703320"/>
            <a:ext cx="11277295" cy="5359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400" b="0">
                <a:solidFill>
                  <a:srgbClr val="25342A"/>
                </a:solidFill>
                <a:latin typeface="Roboto"/>
              </a:rPr>
              <a:t>Period: July 2026. In short: Overtime was 4.9% of ordinary hours in July (target under 5.0%), up from 3.3% a year earlier. Each technician's paid hours, day by day: ordinary hours and overtime, with the main reason for the overtime.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330700"/>
            <a:ext cx="11277295" cy="1097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How final is this data?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July 2026: Locked. July 2026 is locked (closed 4 Aug 2026). These numbers won't change.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overtime.pptx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22 Oct 2026, 4:57pm · Sample data · Made with Python (python-pptx)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1 of 4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Where is overtime creeping up, and why?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Where is overtime creeping up, and why?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Overtime by month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Overtime, July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4.9%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of ordinary hours · target under 5.0%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2498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4429658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Overtime hours, July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29658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57.5 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29658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June 81.0 h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27796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8264956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July last year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4956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3.3%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64956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34.5 h of overtime</a:t>
            </a:r>
          </a:p>
        </p:txBody>
      </p:sp>
      <p:graphicFrame>
        <p:nvGraphicFramePr>
          <p:cNvPr id="18" name="Chart 17"/>
          <p:cNvGraphicFramePr>
            <a:graphicFrameLocks noGrp="1"/>
          </p:cNvGraphicFramePr>
          <p:nvPr/>
        </p:nvGraphicFramePr>
        <p:xfrm>
          <a:off x="457200" y="2604516"/>
          <a:ext cx="11277295" cy="251612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9" name="Rectangle 18"/>
          <p:cNvSpPr/>
          <p:nvPr/>
        </p:nvSpPr>
        <p:spPr>
          <a:xfrm>
            <a:off x="457200" y="5212080"/>
            <a:ext cx="5501487" cy="109728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0" name="TextBox 19"/>
          <p:cNvSpPr txBox="1"/>
          <p:nvPr/>
        </p:nvSpPr>
        <p:spPr>
          <a:xfrm>
            <a:off x="594360" y="526694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" y="5541264"/>
            <a:ext cx="5227167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Technicians worked 57.5 h of overtime in July, 4.9% of ordinary hours (target under 5.0%), against 7.2% in June. Over the last year it has gone from 3.3% to 4.9%.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3007" y="5212080"/>
            <a:ext cx="5501487" cy="109728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3" name="TextBox 22"/>
          <p:cNvSpPr txBox="1"/>
          <p:nvPr/>
        </p:nvSpPr>
        <p:spPr>
          <a:xfrm>
            <a:off x="6370167" y="526694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70167" y="5541264"/>
            <a:ext cx="5227167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After-hours call-out is the main reason: 27.0 h, 47.0% of the overtime. Technician T1 carried the most (20.5 h).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overtime.pptx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22 Oct 2026, 4:57pm · Sample data · Made with Python (python-pptx)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2 of 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Why the overtime, July 2026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Where is overtime creeping up, and why?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Overtime hours by main reason.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278636"/>
          <a:ext cx="11277295" cy="452780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overtime.pptx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22 Oct 2026, 4:57pm · Sample data · Made with Python (python-pptx)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3 of 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Overtime by technician, July 2026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Where is overtime creeping up, and why?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Technicians are codes, not names.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278636"/>
          <a:ext cx="11277295" cy="452780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overtime.pptx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22 Oct 2026, 4:57pm · Sample data · Made with Python (python-pptx)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4 of 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25342A"/>
      </a:dk2>
      <a:lt2>
        <a:srgbClr val="F4F7F2"/>
      </a:lt2>
      <a:accent1>
        <a:srgbClr val="2F7A5D"/>
      </a:accent1>
      <a:accent2>
        <a:srgbClr val="0E9F6E"/>
      </a:accent2>
      <a:accent3>
        <a:srgbClr val="7D8790"/>
      </a:accent3>
      <a:accent4>
        <a:srgbClr val="8A6D3B"/>
      </a:accent4>
      <a:accent5>
        <a:srgbClr val="B42318"/>
      </a:accent5>
      <a:accent6>
        <a:srgbClr val="8E9CAB"/>
      </a:accent6>
      <a:hlink>
        <a:srgbClr val="0000FF"/>
      </a:hlink>
      <a:folHlink>
        <a:srgbClr val="800080"/>
      </a:folHlink>
    </a:clrScheme>
    <a:fontScheme name="Office">
      <a:maj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