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Within 2 working hours %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Sheet1!$A$2:$A$23</c:f>
              <c:strCache>
                <c:ptCount val="22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  <c:pt idx="20">
                  <c:v>Jun 26</c:v>
                </c:pt>
                <c:pt idx="21">
                  <c:v>Jul 26</c:v>
                </c:pt>
              </c:strCache>
            </c:strRef>
          </c:cat>
          <c:val>
            <c:numRef>
              <c:f>Sheet1!$B$2:$B$23</c:f>
              <c:numCache>
                <c:formatCode>0.0"%";[Red](0.0"%")</c:formatCode>
                <c:ptCount val="22"/>
                <c:pt idx="0">
                  <c:v>86.5</c:v>
                </c:pt>
                <c:pt idx="1">
                  <c:v>85.3</c:v>
                </c:pt>
                <c:pt idx="2">
                  <c:v>82.6</c:v>
                </c:pt>
                <c:pt idx="3">
                  <c:v>79.5</c:v>
                </c:pt>
                <c:pt idx="4">
                  <c:v>74.2</c:v>
                </c:pt>
                <c:pt idx="5">
                  <c:v>72.9</c:v>
                </c:pt>
                <c:pt idx="6">
                  <c:v>71.1</c:v>
                </c:pt>
                <c:pt idx="7">
                  <c:v>74.0</c:v>
                </c:pt>
                <c:pt idx="8">
                  <c:v>68.1</c:v>
                </c:pt>
                <c:pt idx="9">
                  <c:v>66.7</c:v>
                </c:pt>
                <c:pt idx="10">
                  <c:v>66.3</c:v>
                </c:pt>
                <c:pt idx="11">
                  <c:v>69.7</c:v>
                </c:pt>
                <c:pt idx="12">
                  <c:v>67.0</c:v>
                </c:pt>
                <c:pt idx="13">
                  <c:v>66.7</c:v>
                </c:pt>
                <c:pt idx="14">
                  <c:v>70.6</c:v>
                </c:pt>
                <c:pt idx="15">
                  <c:v>67.0</c:v>
                </c:pt>
                <c:pt idx="16">
                  <c:v>61.6</c:v>
                </c:pt>
                <c:pt idx="17">
                  <c:v>65.3</c:v>
                </c:pt>
                <c:pt idx="18">
                  <c:v>58.9</c:v>
                </c:pt>
                <c:pt idx="19">
                  <c:v>58.2</c:v>
                </c:pt>
                <c:pt idx="20">
                  <c:v>56.1</c:v>
                </c:pt>
                <c:pt idx="21">
                  <c:v>57.4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1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0.0&quot;%&quot;;[Red](0.0&quot;%&quot;)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2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Called back within 2 working hours</c:v>
                </c:pt>
              </c:strCache>
            </c:strRef>
          </c:tx>
          <c:dPt>
            <c:idx val="0"/>
            <c:spPr>
              <a:solidFill>
                <a:srgbClr val="7D8790"/>
              </a:solidFill>
            </c:spPr>
          </c:dPt>
          <c:dPt>
            <c:idx val="1"/>
            <c:spPr>
              <a:solidFill>
                <a:srgbClr val="7D8790"/>
              </a:solidFill>
            </c:spPr>
          </c:dPt>
          <c:dPt>
            <c:idx val="2"/>
            <c:spPr>
              <a:solidFill>
                <a:srgbClr val="7D8790"/>
              </a:solidFill>
            </c:spPr>
          </c:dPt>
          <c:cat>
            <c:strRef>
              <c:f>Sheet1!$A$2:$A$4</c:f>
              <c:strCache>
                <c:ptCount val="3"/>
                <c:pt idx="0">
                  <c:v>Phone</c:v>
                </c:pt>
                <c:pt idx="1">
                  <c:v>Email</c:v>
                </c:pt>
                <c:pt idx="2">
                  <c:v>Web form</c:v>
                </c:pt>
              </c:strCache>
            </c:strRef>
          </c:cat>
          <c:val>
            <c:numRef>
              <c:f>Sheet1!$B$2:$B$4</c:f>
              <c:numCache>
                <c:formatCode>0.0"%";[Red](0.0"%")</c:formatCode>
                <c:ptCount val="3"/>
                <c:pt idx="0">
                  <c:v>54.8</c:v>
                </c:pt>
                <c:pt idx="1">
                  <c:v>56.3</c:v>
                </c:pt>
                <c:pt idx="2">
                  <c:v>63.6</c:v>
                </c:pt>
              </c:numCache>
            </c:numRef>
          </c:val>
        </c:ser>
        <c:dLbls>
          <c:numFmt formatCode="0.0&quot;%&quot;;[Red](0.0&quot;%&quot;)" sourceLinked="0"/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92.0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long do customers wait for a callback?. Sample Electrical &amp; Air Pty Ltd. Period: July 2026. In short: 57.4% called back within 2 working hours in July (target 80.0%); median wait 92 working minutes. Every customer enquiry (phone, web form, email) and how long until someone first called back, in working minutes. Every call-out job has the enquiry that booked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long do customers wait for a callback?. Called back within 2 working hours, July: 57.4%; Median wait, July: 92 min; Enquiries, July: 122. 57.4% of the 122 enquiries called back in July heard back within 2 working hours (target 80.0%), up from 56.1% in June. The median wait was 92 working minutes. 28 more enquiries would have needed a faster callback to reach the 80.0% target. Phone enquiries are the slowest: 54.8% within 2 working hours.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Called back within 2 working hours, by channel, July 2026. Target 80.0%.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How long do customers wait for a callback?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latin typeface="Roboto"/>
              </a:defRPr>
            </a:pPr>
            <a:r>
              <a:rPr sz="1600" b="1">
                <a:solidFill>
                  <a:srgbClr val="FFFFFF"/>
                </a:solidFill>
                <a:latin typeface="Roboto"/>
              </a:rPr>
              <a:t>4th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Electrical &amp; Air Pty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75819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July 2026. In short: 57.4% called back within 2 working hours in July (target 80.0%); median wait 92 working minutes. Every customer enquiry (phone, web form, email) and how long until someone first called back, in working minutes. Every call-out job has the enquiry that booked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55295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July 2026: Locked. July 2026 is locked (closed 4 Aug 2026). These numbers won't change.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callbacks.pptx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How long do customers wait for a callback?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How long do customers wait for a callback?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Callbacks by month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Called back within 2 working hours, July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B42318"/>
                </a:solidFill>
                <a:latin typeface="Roboto"/>
              </a:rPr>
              <a:t>57.4%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target 80.0% · June 56.1%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Median wait, July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92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June 99 min (working minutes)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Enquiries, July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122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June 114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5161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212080"/>
            <a:ext cx="5501487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57.4% of the 122 enquiries called back in July heard back within 2 working hours (target 80.0%), up from 56.1% in June. The median wait was 92 working minutes.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212080"/>
            <a:ext cx="5501487" cy="109728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28 more enquiries would have needed a faster callback to reach the 80.0% target. Phone enquiries are the slowest: 54.8% within 2 working hours.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callbacks.pptx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Called back within 2 working hours, by channel, July 2026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How long do customers wait for a callback?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Target 80.0%.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452780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cxnSp>
        <p:nvCxnSpPr>
          <p:cNvPr id="7" name="Connector 6"/>
          <p:cNvCxnSpPr/>
          <p:nvPr/>
        </p:nvCxnSpPr>
        <p:spPr>
          <a:xfrm>
            <a:off x="9528067" y="1414470"/>
            <a:ext cx="0" cy="3984467"/>
          </a:xfrm>
          <a:prstGeom prst="line">
            <a:avLst/>
          </a:prstGeom>
          <a:ln w="19050">
            <a:solidFill>
              <a:srgbClr val="25342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430787" y="5398937"/>
            <a:ext cx="219456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1000" b="1">
                <a:solidFill>
                  <a:srgbClr val="25342A"/>
                </a:solidFill>
                <a:latin typeface="Roboto"/>
              </a:rPr>
              <a:t>Target 80.0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199632"/>
            <a:ext cx="54864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Grey = below target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callbacks.pptx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