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$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dPt>
            <c:idx val="4"/>
            <c:spPr>
              <a:solidFill>
                <a:srgbClr val="0E9F6E"/>
              </a:solidFill>
            </c:spPr>
          </c:dPt>
          <c:dPt>
            <c:idx val="5"/>
            <c:spPr>
              <a:solidFill>
                <a:srgbClr val="0E9F6E"/>
              </a:solidFill>
            </c:spPr>
          </c:dPt>
          <c:cat>
            <c:strRef>
              <c:f>Sheet1!$A$2:$A$7</c:f>
              <c:strCache>
                <c:ptCount val="6"/>
                <c:pt idx="0">
                  <c:v>Volunteer coordinator</c:v>
                </c:pt>
                <c:pt idx="1">
                  <c:v>Community meals</c:v>
                </c:pt>
                <c:pt idx="2">
                  <c:v>Digital literacy</c:v>
                </c:pt>
                <c:pt idx="3">
                  <c:v>Mental health first aid</c:v>
                </c:pt>
                <c:pt idx="4">
                  <c:v>Youth outreach</c:v>
                </c:pt>
                <c:pt idx="5">
                  <c:v>Housing support</c:v>
                </c:pt>
              </c:strCache>
            </c:strRef>
          </c:cat>
          <c:val>
            <c:numRef>
              <c:f>Sheet1!$B$2:$B$7</c:f>
              <c:numCache>
                <c:formatCode>$#,##0;[Red]($#,##0);"-"</c:formatCode>
                <c:ptCount val="6"/>
                <c:pt idx="0">
                  <c:v>1061</c:v>
                </c:pt>
                <c:pt idx="1">
                  <c:v>1521</c:v>
                </c:pt>
                <c:pt idx="2">
                  <c:v>1736</c:v>
                </c:pt>
                <c:pt idx="3">
                  <c:v>3820</c:v>
                </c:pt>
                <c:pt idx="4">
                  <c:v>8055</c:v>
                </c:pt>
                <c:pt idx="5">
                  <c:v>11022</c:v>
                </c:pt>
              </c:numCache>
            </c:numRef>
          </c:val>
        </c:ser>
        <c:dLbls>
          <c:numFmt formatCode="$#,##0;[Red]($#,##0);&quot;-&quot;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2675.3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Spend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Sheet1!$A$2:$A$25</c:f>
              <c:strCache>
                <c:ptCount val="24"/>
                <c:pt idx="0">
                  <c:v>Nov 24</c:v>
                </c:pt>
                <c:pt idx="1">
                  <c:v>Dec 24</c:v>
                </c:pt>
                <c:pt idx="2">
                  <c:v>Jan 25</c:v>
                </c:pt>
                <c:pt idx="3">
                  <c:v>Feb 25</c:v>
                </c:pt>
                <c:pt idx="4">
                  <c:v>Mar 25</c:v>
                </c:pt>
                <c:pt idx="5">
                  <c:v>Apr 25</c:v>
                </c:pt>
                <c:pt idx="6">
                  <c:v>May 25</c:v>
                </c:pt>
                <c:pt idx="7">
                  <c:v>Jun 25</c:v>
                </c:pt>
                <c:pt idx="8">
                  <c:v>Jul 25</c:v>
                </c:pt>
                <c:pt idx="9">
                  <c:v>Aug 25</c:v>
                </c:pt>
                <c:pt idx="10">
                  <c:v>Sep 25</c:v>
                </c:pt>
                <c:pt idx="11">
                  <c:v>Oct 25</c:v>
                </c:pt>
                <c:pt idx="12">
                  <c:v>Nov 25</c:v>
                </c:pt>
                <c:pt idx="13">
                  <c:v>Dec 25</c:v>
                </c:pt>
                <c:pt idx="14">
                  <c:v>Jan 26</c:v>
                </c:pt>
                <c:pt idx="15">
                  <c:v>Feb 26</c:v>
                </c:pt>
                <c:pt idx="16">
                  <c:v>Mar 26</c:v>
                </c:pt>
                <c:pt idx="17">
                  <c:v>Apr 26</c:v>
                </c:pt>
                <c:pt idx="18">
                  <c:v>May 26</c:v>
                </c:pt>
                <c:pt idx="19">
                  <c:v>Jun 26</c:v>
                </c:pt>
                <c:pt idx="20">
                  <c:v>Jul 26</c:v>
                </c:pt>
                <c:pt idx="21">
                  <c:v>Aug 26</c:v>
                </c:pt>
                <c:pt idx="22">
                  <c:v>Sep 26</c:v>
                </c:pt>
                <c:pt idx="23">
                  <c:v>Oct 26</c:v>
                </c:pt>
              </c:strCache>
            </c:strRef>
          </c:cat>
          <c:val>
            <c:numRef>
              <c:f>Sheet1!$B$2:$B$25</c:f>
              <c:numCache>
                <c:formatCode>$#,##0;[Red]($#,##0);"-"</c:formatCode>
                <c:ptCount val="2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30502</c:v>
                </c:pt>
                <c:pt idx="15">
                  <c:v>26508</c:v>
                </c:pt>
                <c:pt idx="16">
                  <c:v>24832</c:v>
                </c:pt>
                <c:pt idx="17">
                  <c:v>23730</c:v>
                </c:pt>
                <c:pt idx="18">
                  <c:v>31337</c:v>
                </c:pt>
                <c:pt idx="19">
                  <c:v>29994</c:v>
                </c:pt>
                <c:pt idx="20">
                  <c:v>29097</c:v>
                </c:pt>
                <c:pt idx="21">
                  <c:v>30500</c:v>
                </c:pt>
                <c:pt idx="22">
                  <c:v>31200</c:v>
                </c:pt>
                <c:pt idx="23">
                  <c:v>4458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4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Spend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Sheet1!$A$2:$A$25</c:f>
              <c:strCache>
                <c:ptCount val="24"/>
                <c:pt idx="0">
                  <c:v>Nov 24</c:v>
                </c:pt>
                <c:pt idx="1">
                  <c:v>Dec 24</c:v>
                </c:pt>
                <c:pt idx="2">
                  <c:v>Jan 25</c:v>
                </c:pt>
                <c:pt idx="3">
                  <c:v>Feb 25</c:v>
                </c:pt>
                <c:pt idx="4">
                  <c:v>Mar 25</c:v>
                </c:pt>
                <c:pt idx="5">
                  <c:v>Apr 25</c:v>
                </c:pt>
                <c:pt idx="6">
                  <c:v>May 25</c:v>
                </c:pt>
                <c:pt idx="7">
                  <c:v>Jun 25</c:v>
                </c:pt>
                <c:pt idx="8">
                  <c:v>Jul 25</c:v>
                </c:pt>
                <c:pt idx="9">
                  <c:v>Aug 25</c:v>
                </c:pt>
                <c:pt idx="10">
                  <c:v>Sep 25</c:v>
                </c:pt>
                <c:pt idx="11">
                  <c:v>Oct 25</c:v>
                </c:pt>
                <c:pt idx="12">
                  <c:v>Nov 25</c:v>
                </c:pt>
                <c:pt idx="13">
                  <c:v>Dec 25</c:v>
                </c:pt>
                <c:pt idx="14">
                  <c:v>Jan 26</c:v>
                </c:pt>
                <c:pt idx="15">
                  <c:v>Feb 26</c:v>
                </c:pt>
                <c:pt idx="16">
                  <c:v>Mar 26</c:v>
                </c:pt>
                <c:pt idx="17">
                  <c:v>Apr 26</c:v>
                </c:pt>
                <c:pt idx="18">
                  <c:v>May 26</c:v>
                </c:pt>
                <c:pt idx="19">
                  <c:v>Jun 26</c:v>
                </c:pt>
                <c:pt idx="20">
                  <c:v>Jul 26</c:v>
                </c:pt>
                <c:pt idx="21">
                  <c:v>Aug 26</c:v>
                </c:pt>
                <c:pt idx="22">
                  <c:v>Sep 26</c:v>
                </c:pt>
                <c:pt idx="23">
                  <c:v>Oct 26</c:v>
                </c:pt>
              </c:strCache>
            </c:strRef>
          </c:cat>
          <c:val>
            <c:numRef>
              <c:f>Sheet1!$B$2:$B$25</c:f>
              <c:numCache>
                <c:formatCode>$#,##0;[Red]($#,##0);"-"</c:formatCode>
                <c:ptCount val="2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17363</c:v>
                </c:pt>
                <c:pt idx="9">
                  <c:v>21144</c:v>
                </c:pt>
                <c:pt idx="10">
                  <c:v>17537</c:v>
                </c:pt>
                <c:pt idx="11">
                  <c:v>21925</c:v>
                </c:pt>
                <c:pt idx="12">
                  <c:v>21079</c:v>
                </c:pt>
                <c:pt idx="13">
                  <c:v>19272</c:v>
                </c:pt>
                <c:pt idx="14">
                  <c:v>21157</c:v>
                </c:pt>
                <c:pt idx="15">
                  <c:v>20743</c:v>
                </c:pt>
                <c:pt idx="16">
                  <c:v>16515</c:v>
                </c:pt>
                <c:pt idx="17">
                  <c:v>20451</c:v>
                </c:pt>
                <c:pt idx="18">
                  <c:v>21174</c:v>
                </c:pt>
                <c:pt idx="19">
                  <c:v>20366</c:v>
                </c:pt>
                <c:pt idx="20">
                  <c:v>23274</c:v>
                </c:pt>
                <c:pt idx="21">
                  <c:v>21500</c:v>
                </c:pt>
                <c:pt idx="22">
                  <c:v>22800</c:v>
                </c:pt>
                <c:pt idx="23">
                  <c:v>3258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25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5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Spend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Sheet1!$A$2:$A$25</c:f>
              <c:strCache>
                <c:ptCount val="24"/>
                <c:pt idx="0">
                  <c:v>Nov 24</c:v>
                </c:pt>
                <c:pt idx="1">
                  <c:v>Dec 24</c:v>
                </c:pt>
                <c:pt idx="2">
                  <c:v>Jan 25</c:v>
                </c:pt>
                <c:pt idx="3">
                  <c:v>Feb 25</c:v>
                </c:pt>
                <c:pt idx="4">
                  <c:v>Mar 25</c:v>
                </c:pt>
                <c:pt idx="5">
                  <c:v>Apr 25</c:v>
                </c:pt>
                <c:pt idx="6">
                  <c:v>May 25</c:v>
                </c:pt>
                <c:pt idx="7">
                  <c:v>Jun 25</c:v>
                </c:pt>
                <c:pt idx="8">
                  <c:v>Jul 25</c:v>
                </c:pt>
                <c:pt idx="9">
                  <c:v>Aug 25</c:v>
                </c:pt>
                <c:pt idx="10">
                  <c:v>Sep 25</c:v>
                </c:pt>
                <c:pt idx="11">
                  <c:v>Oct 25</c:v>
                </c:pt>
                <c:pt idx="12">
                  <c:v>Nov 25</c:v>
                </c:pt>
                <c:pt idx="13">
                  <c:v>Dec 25</c:v>
                </c:pt>
                <c:pt idx="14">
                  <c:v>Jan 26</c:v>
                </c:pt>
                <c:pt idx="15">
                  <c:v>Feb 26</c:v>
                </c:pt>
                <c:pt idx="16">
                  <c:v>Mar 26</c:v>
                </c:pt>
                <c:pt idx="17">
                  <c:v>Apr 26</c:v>
                </c:pt>
                <c:pt idx="18">
                  <c:v>May 26</c:v>
                </c:pt>
                <c:pt idx="19">
                  <c:v>Jun 26</c:v>
                </c:pt>
                <c:pt idx="20">
                  <c:v>Jul 26</c:v>
                </c:pt>
                <c:pt idx="21">
                  <c:v>Aug 26</c:v>
                </c:pt>
                <c:pt idx="22">
                  <c:v>Sep 26</c:v>
                </c:pt>
                <c:pt idx="23">
                  <c:v>Oct 26</c:v>
                </c:pt>
              </c:strCache>
            </c:strRef>
          </c:cat>
          <c:val>
            <c:numRef>
              <c:f>Sheet1!$B$2:$B$25</c:f>
              <c:numCache>
                <c:formatCode>$#,##0;[Red]($#,##0);"-"</c:formatCode>
                <c:ptCount val="2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9584</c:v>
                </c:pt>
                <c:pt idx="18">
                  <c:v>8950</c:v>
                </c:pt>
                <c:pt idx="19">
                  <c:v>9797</c:v>
                </c:pt>
                <c:pt idx="20">
                  <c:v>8669</c:v>
                </c:pt>
                <c:pt idx="21">
                  <c:v>9400</c:v>
                </c:pt>
                <c:pt idx="22">
                  <c:v>10800</c:v>
                </c:pt>
                <c:pt idx="23">
                  <c:v>1545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125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5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Spend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Sheet1!$A$2:$A$25</c:f>
              <c:strCache>
                <c:ptCount val="24"/>
                <c:pt idx="0">
                  <c:v>Nov 24</c:v>
                </c:pt>
                <c:pt idx="1">
                  <c:v>Dec 24</c:v>
                </c:pt>
                <c:pt idx="2">
                  <c:v>Jan 25</c:v>
                </c:pt>
                <c:pt idx="3">
                  <c:v>Feb 25</c:v>
                </c:pt>
                <c:pt idx="4">
                  <c:v>Mar 25</c:v>
                </c:pt>
                <c:pt idx="5">
                  <c:v>Apr 25</c:v>
                </c:pt>
                <c:pt idx="6">
                  <c:v>May 25</c:v>
                </c:pt>
                <c:pt idx="7">
                  <c:v>Jun 25</c:v>
                </c:pt>
                <c:pt idx="8">
                  <c:v>Jul 25</c:v>
                </c:pt>
                <c:pt idx="9">
                  <c:v>Aug 25</c:v>
                </c:pt>
                <c:pt idx="10">
                  <c:v>Sep 25</c:v>
                </c:pt>
                <c:pt idx="11">
                  <c:v>Oct 25</c:v>
                </c:pt>
                <c:pt idx="12">
                  <c:v>Nov 25</c:v>
                </c:pt>
                <c:pt idx="13">
                  <c:v>Dec 25</c:v>
                </c:pt>
                <c:pt idx="14">
                  <c:v>Jan 26</c:v>
                </c:pt>
                <c:pt idx="15">
                  <c:v>Feb 26</c:v>
                </c:pt>
                <c:pt idx="16">
                  <c:v>Mar 26</c:v>
                </c:pt>
                <c:pt idx="17">
                  <c:v>Apr 26</c:v>
                </c:pt>
                <c:pt idx="18">
                  <c:v>May 26</c:v>
                </c:pt>
                <c:pt idx="19">
                  <c:v>Jun 26</c:v>
                </c:pt>
                <c:pt idx="20">
                  <c:v>Jul 26</c:v>
                </c:pt>
                <c:pt idx="21">
                  <c:v>Aug 26</c:v>
                </c:pt>
                <c:pt idx="22">
                  <c:v>Sep 26</c:v>
                </c:pt>
                <c:pt idx="23">
                  <c:v>Oct 26</c:v>
                </c:pt>
              </c:strCache>
            </c:strRef>
          </c:cat>
          <c:val>
            <c:numRef>
              <c:f>Sheet1!$B$2:$B$25</c:f>
              <c:numCache>
                <c:formatCode>$#,##0;[Red]($#,##0);"-"</c:formatCode>
                <c:ptCount val="2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5160</c:v>
                </c:pt>
                <c:pt idx="12">
                  <c:v>4585</c:v>
                </c:pt>
                <c:pt idx="13">
                  <c:v>5221</c:v>
                </c:pt>
                <c:pt idx="14">
                  <c:v>4426</c:v>
                </c:pt>
                <c:pt idx="15">
                  <c:v>5408</c:v>
                </c:pt>
                <c:pt idx="16">
                  <c:v>5427</c:v>
                </c:pt>
                <c:pt idx="17">
                  <c:v>5509</c:v>
                </c:pt>
                <c:pt idx="18">
                  <c:v>4635</c:v>
                </c:pt>
                <c:pt idx="19">
                  <c:v>4316</c:v>
                </c:pt>
                <c:pt idx="20">
                  <c:v>4813</c:v>
                </c:pt>
                <c:pt idx="21">
                  <c:v>5200</c:v>
                </c:pt>
                <c:pt idx="22">
                  <c:v>4900</c:v>
                </c:pt>
                <c:pt idx="23">
                  <c:v>702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6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Spend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Sheet1!$A$2:$A$25</c:f>
              <c:strCache>
                <c:ptCount val="24"/>
                <c:pt idx="0">
                  <c:v>Nov 24</c:v>
                </c:pt>
                <c:pt idx="1">
                  <c:v>Dec 24</c:v>
                </c:pt>
                <c:pt idx="2">
                  <c:v>Jan 25</c:v>
                </c:pt>
                <c:pt idx="3">
                  <c:v>Feb 25</c:v>
                </c:pt>
                <c:pt idx="4">
                  <c:v>Mar 25</c:v>
                </c:pt>
                <c:pt idx="5">
                  <c:v>Apr 25</c:v>
                </c:pt>
                <c:pt idx="6">
                  <c:v>May 25</c:v>
                </c:pt>
                <c:pt idx="7">
                  <c:v>Jun 25</c:v>
                </c:pt>
                <c:pt idx="8">
                  <c:v>Jul 25</c:v>
                </c:pt>
                <c:pt idx="9">
                  <c:v>Aug 25</c:v>
                </c:pt>
                <c:pt idx="10">
                  <c:v>Sep 25</c:v>
                </c:pt>
                <c:pt idx="11">
                  <c:v>Oct 25</c:v>
                </c:pt>
                <c:pt idx="12">
                  <c:v>Nov 25</c:v>
                </c:pt>
                <c:pt idx="13">
                  <c:v>Dec 25</c:v>
                </c:pt>
                <c:pt idx="14">
                  <c:v>Jan 26</c:v>
                </c:pt>
                <c:pt idx="15">
                  <c:v>Feb 26</c:v>
                </c:pt>
                <c:pt idx="16">
                  <c:v>Mar 26</c:v>
                </c:pt>
                <c:pt idx="17">
                  <c:v>Apr 26</c:v>
                </c:pt>
                <c:pt idx="18">
                  <c:v>May 26</c:v>
                </c:pt>
                <c:pt idx="19">
                  <c:v>Jun 26</c:v>
                </c:pt>
                <c:pt idx="20">
                  <c:v>Jul 26</c:v>
                </c:pt>
                <c:pt idx="21">
                  <c:v>Aug 26</c:v>
                </c:pt>
                <c:pt idx="22">
                  <c:v>Sep 26</c:v>
                </c:pt>
                <c:pt idx="23">
                  <c:v>Oct 26</c:v>
                </c:pt>
              </c:strCache>
            </c:strRef>
          </c:cat>
          <c:val>
            <c:numRef>
              <c:f>Sheet1!$B$2:$B$25</c:f>
              <c:numCache>
                <c:formatCode>$#,##0;[Red]($#,##0);"-"</c:formatCode>
                <c:ptCount val="2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3600</c:v>
                </c:pt>
                <c:pt idx="21">
                  <c:v>4100</c:v>
                </c:pt>
                <c:pt idx="22">
                  <c:v>4300</c:v>
                </c:pt>
                <c:pt idx="23">
                  <c:v>615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5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Spend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Sheet1!$A$2:$A$25</c:f>
              <c:strCache>
                <c:ptCount val="24"/>
                <c:pt idx="0">
                  <c:v>Nov 24</c:v>
                </c:pt>
                <c:pt idx="1">
                  <c:v>Dec 24</c:v>
                </c:pt>
                <c:pt idx="2">
                  <c:v>Jan 25</c:v>
                </c:pt>
                <c:pt idx="3">
                  <c:v>Feb 25</c:v>
                </c:pt>
                <c:pt idx="4">
                  <c:v>Mar 25</c:v>
                </c:pt>
                <c:pt idx="5">
                  <c:v>Apr 25</c:v>
                </c:pt>
                <c:pt idx="6">
                  <c:v>May 25</c:v>
                </c:pt>
                <c:pt idx="7">
                  <c:v>Jun 25</c:v>
                </c:pt>
                <c:pt idx="8">
                  <c:v>Jul 25</c:v>
                </c:pt>
                <c:pt idx="9">
                  <c:v>Aug 25</c:v>
                </c:pt>
                <c:pt idx="10">
                  <c:v>Sep 25</c:v>
                </c:pt>
                <c:pt idx="11">
                  <c:v>Oct 25</c:v>
                </c:pt>
                <c:pt idx="12">
                  <c:v>Nov 25</c:v>
                </c:pt>
                <c:pt idx="13">
                  <c:v>Dec 25</c:v>
                </c:pt>
                <c:pt idx="14">
                  <c:v>Jan 26</c:v>
                </c:pt>
                <c:pt idx="15">
                  <c:v>Feb 26</c:v>
                </c:pt>
                <c:pt idx="16">
                  <c:v>Mar 26</c:v>
                </c:pt>
                <c:pt idx="17">
                  <c:v>Apr 26</c:v>
                </c:pt>
                <c:pt idx="18">
                  <c:v>May 26</c:v>
                </c:pt>
                <c:pt idx="19">
                  <c:v>Jun 26</c:v>
                </c:pt>
                <c:pt idx="20">
                  <c:v>Jul 26</c:v>
                </c:pt>
                <c:pt idx="21">
                  <c:v>Aug 26</c:v>
                </c:pt>
                <c:pt idx="22">
                  <c:v>Sep 26</c:v>
                </c:pt>
                <c:pt idx="23">
                  <c:v>Oct 26</c:v>
                </c:pt>
              </c:strCache>
            </c:strRef>
          </c:cat>
          <c:val>
            <c:numRef>
              <c:f>Sheet1!$B$2:$B$25</c:f>
              <c:numCache>
                <c:formatCode>$#,##0;[Red]($#,##0);"-"</c:formatCode>
                <c:ptCount val="2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2932</c:v>
                </c:pt>
                <c:pt idx="17">
                  <c:v>3555</c:v>
                </c:pt>
                <c:pt idx="18">
                  <c:v>2649</c:v>
                </c:pt>
                <c:pt idx="19">
                  <c:v>2699</c:v>
                </c:pt>
                <c:pt idx="20">
                  <c:v>3165</c:v>
                </c:pt>
                <c:pt idx="21">
                  <c:v>3000</c:v>
                </c:pt>
                <c:pt idx="22">
                  <c:v>3000</c:v>
                </c:pt>
                <c:pt idx="23">
                  <c:v>429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4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does each program really cost?. Sample Community Services Ltd. Period: October 2026 to date. In short: Housing support costs $11,022 in full in October so far: $6,564 more than its grant spending, once its share of shared costs is added. Each program's full cost: what its grant pays for, plus its fair share of the costs no single grant covers (untied program costs and administration, shared by grant spending). Pick a program and every chart and note follows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programs. Housing support is the biggest program: $11,022 in October so far once its share of untied program costs and administration is added to $4,458 of grant spending. Shared costs add 147.2% on top of grant spending across all programs. The full cost (not just the grant line) is the number for renewal applications, where the funder lets you recover a share of overheads. Pick a program above to see it on its 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Housing support. Housing support cost $11,022 in full in October so far: $4,458 paid by the State Housing Program grant, and $6,564 of shared costs no grant covers. It has spent 87.4% of its budget to date, with $97,842 left and 2 months to go. The full cost is $11,022 a month; $6,564 of it is shared cost the grant doesn't pay for. Worth asking for as much of it as the funder allows at renewal.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Youth outreach. Youth outreach cost $8,055 in full in October so far: $3,258 paid by the State Department of Families grant, and $4,797 of shared costs no grant covers. It has spent 96.7% of its budget to date, with $170,442 left and 8 months to go. The full cost is $8,055 a month; $4,797 of it is shared cost the grant doesn't pay for. Worth asking for as much of it as the funder allows at renewal.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Mental health first aid. Mental health first aid cost $3,820 in full in October so far: $1,545 paid by the Federal health program grant, and $2,275 of shared costs no grant covers. It has spent 83.9% of its budget to date, with $61,255 left and 5 months to go. The full cost is $3,820 a month; $2,275 of it is shared cost the grant doesn't pay for. Worth asking for as much of it as the funder allows at renewal.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Digital literacy. Digital literacy cost $1,736 in full in October so far: $702 paid by the Philanthropic foundation grant, and $1,034 of shared costs no grant covers. It has spent 92.8% of its budget to date, with $29,698 left and 5 months to go. The full cost is $1,736 a month; $1,034 of it is shared cost the grant doesn't pay for. Worth asking for as much of it as the funder allows at renewal.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Community meals. Community meals cost $1,521 in full in October so far: $615 paid by the Local council community grant grant, and $906 of shared costs no grant covers. It has spent 78.8% of its budget to date, with $35,385 left and 8 months to go. The full cost is $1,521 a month; $906 of it is shared cost the grant doesn't pay for. Worth asking for as much of it as the funder allows at renewal.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Volunteer coordinator. Volunteer coordinator cost $1,061 in full in October so far: $429 paid by the State volunteering grant grant, and $632 of shared costs no grant covers. It has spent 89.3% of its budget to date, with $14,571 left and 4 months to go. The full cost is $1,061 a month; $632 of it is shared cost the grant doesn't pay for. Worth asking for as much of it as the funder allows at renewal.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What does each program really cost?</a:t>
            </a:r>
          </a:p>
        </p:txBody>
      </p:sp>
      <p:pic>
        <p:nvPicPr>
          <p:cNvPr id="3" name="Picture 2" descr="mark-4th-1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57200"/>
            <a:ext cx="822960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Community Services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9804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October 2026 to date. In short: Housing support costs $11,022 in full in October so far: $6,564 more than its grant spending, once its share of shared costs is added. Each program's full cost: what its grant pays for, plus its fair share of the costs no single grant covers (untied program costs and administration, shared by grant spending). Pick a program and every chart and note follows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7752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2026: Incomplete. October 2026 is still in progress: figures to 6 Oct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program-cost.pptx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All programs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each program really cost?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Full cost of each program, October 2026 to date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3035808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4405884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4460748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735068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Housing support is the biggest program: $11,022 in October so far once its share of untied program costs and administration is added to $4,458 of grant spending. Shared costs add 147.2% on top of grant spending across all programs.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4405884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4460748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4735068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The full cost (not just the grant line) is the number for renewal applications, where the funder lets you recover a share of overheads. Pick a program above to see it on its own.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program-cost.pptx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Housing support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each program really cost?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Grant spending, by month · Housing support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364388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01396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Housing support cost $11,022 in full in October so far: $4,458 paid by the State Housing Program grant, and $6,564 of shared costs no grant covers. It has spent 87.4% of its budget to date, with $97,842 left and 2 months to go.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501396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The full cost is $11,022 a month; $6,564 of it is shared cost the grant doesn't pay for. Worth asking for as much of it as the funder allows at renewal.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program-cost.pptx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Youth outreach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each program really cost?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Grant spending, by month · Youth outreach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364388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01396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Youth outreach cost $8,055 in full in October so far: $3,258 paid by the State Department of Families grant, and $4,797 of shared costs no grant covers. It has spent 96.7% of its budget to date, with $170,442 left and 8 months to go.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501396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The full cost is $8,055 a month; $4,797 of it is shared cost the grant doesn't pay for. Worth asking for as much of it as the funder allows at renewal.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program-cost.pptx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Mental health first aid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each program really cost?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Grant spending, by month · Mental health first aid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364388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01396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Mental health first aid cost $3,820 in full in October so far: $1,545 paid by the Federal health program grant, and $2,275 of shared costs no grant covers. It has spent 83.9% of its budget to date, with $61,255 left and 5 months to go.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501396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The full cost is $3,820 a month; $2,275 of it is shared cost the grant doesn't pay for. Worth asking for as much of it as the funder allows at renewal.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program-cost.pptx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5 of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Digital literacy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each program really cost?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Grant spending, by month · Digital literacy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364388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01396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Digital literacy cost $1,736 in full in October so far: $702 paid by the Philanthropic foundation grant, and $1,034 of shared costs no grant covers. It has spent 92.8% of its budget to date, with $29,698 left and 5 months to go.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501396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The full cost is $1,736 a month; $1,034 of it is shared cost the grant doesn't pay for. Worth asking for as much of it as the funder allows at renewal.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program-cost.pptx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6 of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Community meals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each program really cost?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Grant spending, by month · Community meals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364388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01396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Community meals cost $1,521 in full in October so far: $615 paid by the Local council community grant grant, and $906 of shared costs no grant covers. It has spent 78.8% of its budget to date, with $35,385 left and 8 months to go.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501396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The full cost is $1,521 a month; $906 of it is shared cost the grant doesn't pay for. Worth asking for as much of it as the funder allows at renewal.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program-cost.pptx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7 of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Volunteer coordinator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each program really cost?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Grant spending, by month · Volunteer coordinator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364388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01396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Volunteer coordinator cost $1,061 in full in October so far: $429 paid by the State volunteering grant grant, and $632 of shared costs no grant covers. It has spent 89.3% of its budget to date, with $14,571 left and 4 months to go.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501396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The full cost is $1,061 a month; $632 of it is shared cost the grant doesn't pay for. Worth asking for as much of it as the funder allows at renewal.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program-cost.pptx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8 of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