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the board need to see?. Sample Community Services Ltd. Period: October 2026 to date. In short: A ($10,737) deficit in October so far, 1.7 months of runway, and 4 grants ending within 6 months. A one-page board summary for October 2026 to date: the result, the money, the risks, and the decisions to make. The full statements are in the downloads.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the board need to see?. Surplus, October so far: ($10,737); Surplus (deficit), year to date: ($49,527); Unrestricted cash runway: 1.7 months; Cost to raise a dollar, October so far: 9¢.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the board need to see?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2026 to date. In short: A ($10,737) deficit in October so far, 1.7 months of runway, and 4 grants ending within 6 months. A one-page board summary for October 2026 to date: the result, the money, the risks, and the decisions to make. The full statements are in the downloads.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board.pptx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does the board need to see?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the board need to see?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2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Surplus, October so far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($10,737)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$10,380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3673" y="960120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470833" y="1033272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Surplus (deficit), year to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0833" y="1399032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($49,527)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64792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 to Oct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147" y="960120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347307" y="1033272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Unrestricted cash runway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1399032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1.7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64792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reserves target 3.0 months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86621" y="960120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9223781" y="1033272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Cost to raise a dollar, October so far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3781" y="1399032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64792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20¢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286000"/>
            <a:ext cx="5501487" cy="1889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THE BOARD SHOULD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2615184"/>
            <a:ext cx="5227167" cy="1524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• Unrestricted cash covers 1.7 months of spending, against a 3.0 months reserves target.</a:t>
            </a:r>
          </a:p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• 4 grants end within 6 months with $203,366 still to spend. Housing support: $97,842 left in 2 months ($48,921 a month needed, against $4,458 spent in October so far).</a:t>
            </a:r>
          </a:p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• Fundraising cost 9¢ per dollar in October so far: grants the cheapest (9¢), donations the dearest (10¢).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2286000"/>
            <a:ext cx="5501487" cy="1889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70167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DECISIONS TO MAKE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2615184"/>
            <a:ext cx="5227167" cy="1524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1. Housing support: lift spending to $48,921 a month, or ask State Housing Program about carrying the balance over.</a:t>
            </a:r>
          </a:p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2. Reserves: how much of each month's surplus goes to reserves, and by when the target is reached.</a:t>
            </a:r>
          </a:p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3. Fundraising: where the next spare hours go, given what each source costs to raise.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312920"/>
            <a:ext cx="11277295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GRANTS · AGAINST BUDGET: RED WHEN SPENDING IS MORE THAN 1% OVER BUDGET TO DATE, GREEN MORE THAN 1% UNDER, AMBER WITHIN 1%.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4587240"/>
          <a:ext cx="11277295" cy="1728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Program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Spent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Budget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Against budget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Still to spend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Months left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Housing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$262,158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$300,000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 b="1">
                          <a:solidFill>
                            <a:srgbClr val="2F7A5D"/>
                          </a:solidFill>
                          <a:latin typeface="Roboto"/>
                        </a:rPr>
                        <a:t>87.4%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$97,842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Volunteer coordinator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$21,429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$24,000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 b="1">
                          <a:solidFill>
                            <a:srgbClr val="2F7A5D"/>
                          </a:solidFill>
                          <a:latin typeface="Roboto"/>
                        </a:rPr>
                        <a:t>89.3%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$14,571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Digital literacy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$60,302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$65,000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 b="1">
                          <a:solidFill>
                            <a:srgbClr val="2F7A5D"/>
                          </a:solidFill>
                          <a:latin typeface="Roboto"/>
                        </a:rPr>
                        <a:t>92.8%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$29,698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Mental health first aid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$58,745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$70,000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 b="1">
                          <a:solidFill>
                            <a:srgbClr val="2F7A5D"/>
                          </a:solidFill>
                          <a:latin typeface="Roboto"/>
                        </a:rPr>
                        <a:t>83.9%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$61,255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Youth outreach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$309,558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$320,000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 b="1">
                          <a:solidFill>
                            <a:srgbClr val="2F7A5D"/>
                          </a:solidFill>
                          <a:latin typeface="Roboto"/>
                        </a:rPr>
                        <a:t>96.7%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$170,442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Community meals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$12,615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$16,000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 b="1">
                          <a:solidFill>
                            <a:srgbClr val="2F7A5D"/>
                          </a:solidFill>
                          <a:latin typeface="Roboto"/>
                        </a:rPr>
                        <a:t>78.8%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$35,385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board.pptx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