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Cost to raise a dollar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cat>
            <c:strRef>
              <c:f>Sheet1!$A$2:$A$3</c:f>
              <c:strCache>
                <c:ptCount val="2"/>
                <c:pt idx="0">
                  <c:v>Grants</c:v>
                </c:pt>
                <c:pt idx="1">
                  <c:v>Donations</c:v>
                </c:pt>
              </c:strCache>
            </c:strRef>
          </c:cat>
          <c:val>
            <c:numRef>
              <c:f>Sheet1!$B$2:$B$3</c:f>
              <c:numCache>
                <c:formatCode>0"¢";[Red](0"¢")</c:formatCode>
                <c:ptCount val="2"/>
                <c:pt idx="0">
                  <c:v>9</c:v>
                </c:pt>
                <c:pt idx="1">
                  <c:v>10</c:v>
                </c:pt>
              </c:numCache>
            </c:numRef>
          </c:val>
        </c:ser>
        <c:dLbls>
          <c:numFmt formatCode="0&quot;¢&quot;;[Red](0&quot;¢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.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Raised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Nov 24</c:v>
                </c:pt>
                <c:pt idx="1">
                  <c:v>Dec 24</c:v>
                </c:pt>
                <c:pt idx="2">
                  <c:v>Jan 25</c:v>
                </c:pt>
                <c:pt idx="3">
                  <c:v>Feb 25</c:v>
                </c:pt>
                <c:pt idx="4">
                  <c:v>Mar 25</c:v>
                </c:pt>
                <c:pt idx="5">
                  <c:v>Apr 25</c:v>
                </c:pt>
                <c:pt idx="6">
                  <c:v>May 25</c:v>
                </c:pt>
                <c:pt idx="7">
                  <c:v>Jun 25</c:v>
                </c:pt>
                <c:pt idx="8">
                  <c:v>Jul 25</c:v>
                </c:pt>
                <c:pt idx="9">
                  <c:v>Aug 25</c:v>
                </c:pt>
                <c:pt idx="10">
                  <c:v>Sep 25</c:v>
                </c:pt>
                <c:pt idx="11">
                  <c:v>Oct 25</c:v>
                </c:pt>
                <c:pt idx="12">
                  <c:v>Nov 25</c:v>
                </c:pt>
                <c:pt idx="13">
                  <c:v>Dec 25</c:v>
                </c:pt>
                <c:pt idx="14">
                  <c:v>Jan 26</c:v>
                </c:pt>
                <c:pt idx="15">
                  <c:v>Feb 26</c:v>
                </c:pt>
                <c:pt idx="16">
                  <c:v>Mar 26</c:v>
                </c:pt>
                <c:pt idx="17">
                  <c:v>Apr 26</c:v>
                </c:pt>
                <c:pt idx="18">
                  <c:v>May 26</c:v>
                </c:pt>
                <c:pt idx="19">
                  <c:v>Jun 26</c:v>
                </c:pt>
                <c:pt idx="20">
                  <c:v>Jul 26</c:v>
                </c:pt>
                <c:pt idx="21">
                  <c:v>Aug 26</c:v>
                </c:pt>
                <c:pt idx="22">
                  <c:v>Sep 26</c:v>
                </c:pt>
                <c:pt idx="23">
                  <c:v>Oct 26</c:v>
                </c:pt>
              </c:strCache>
            </c:strRef>
          </c:cat>
          <c:val>
            <c:numRef>
              <c:f>Sheet1!$B$2:$B$25</c:f>
              <c:numCache>
                <c:formatCode>$#,##0;[Red]($#,##0);"-"</c:formatCode>
                <c:ptCount val="24"/>
                <c:pt idx="0">
                  <c:v>31800</c:v>
                </c:pt>
                <c:pt idx="1">
                  <c:v>29700</c:v>
                </c:pt>
                <c:pt idx="2">
                  <c:v>62700</c:v>
                </c:pt>
                <c:pt idx="3">
                  <c:v>61700</c:v>
                </c:pt>
                <c:pt idx="4">
                  <c:v>54500</c:v>
                </c:pt>
                <c:pt idx="5">
                  <c:v>61500</c:v>
                </c:pt>
                <c:pt idx="6">
                  <c:v>61700</c:v>
                </c:pt>
                <c:pt idx="7">
                  <c:v>52200</c:v>
                </c:pt>
                <c:pt idx="8">
                  <c:v>59063</c:v>
                </c:pt>
                <c:pt idx="9">
                  <c:v>61544</c:v>
                </c:pt>
                <c:pt idx="10">
                  <c:v>62137</c:v>
                </c:pt>
                <c:pt idx="11">
                  <c:v>69185</c:v>
                </c:pt>
                <c:pt idx="12">
                  <c:v>70164</c:v>
                </c:pt>
                <c:pt idx="13">
                  <c:v>68793</c:v>
                </c:pt>
                <c:pt idx="14">
                  <c:v>59785</c:v>
                </c:pt>
                <c:pt idx="15">
                  <c:v>55759</c:v>
                </c:pt>
                <c:pt idx="16">
                  <c:v>53806</c:v>
                </c:pt>
                <c:pt idx="17">
                  <c:v>66729</c:v>
                </c:pt>
                <c:pt idx="18">
                  <c:v>72245</c:v>
                </c:pt>
                <c:pt idx="19">
                  <c:v>70872</c:v>
                </c:pt>
                <c:pt idx="20">
                  <c:v>72618</c:v>
                </c:pt>
                <c:pt idx="21">
                  <c:v>73700</c:v>
                </c:pt>
                <c:pt idx="22">
                  <c:v>77000</c:v>
                </c:pt>
                <c:pt idx="23">
                  <c:v>11007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0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Raised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Nov 24</c:v>
                </c:pt>
                <c:pt idx="1">
                  <c:v>Dec 24</c:v>
                </c:pt>
                <c:pt idx="2">
                  <c:v>Jan 25</c:v>
                </c:pt>
                <c:pt idx="3">
                  <c:v>Feb 25</c:v>
                </c:pt>
                <c:pt idx="4">
                  <c:v>Mar 25</c:v>
                </c:pt>
                <c:pt idx="5">
                  <c:v>Apr 25</c:v>
                </c:pt>
                <c:pt idx="6">
                  <c:v>May 25</c:v>
                </c:pt>
                <c:pt idx="7">
                  <c:v>Jun 25</c:v>
                </c:pt>
                <c:pt idx="8">
                  <c:v>Jul 25</c:v>
                </c:pt>
                <c:pt idx="9">
                  <c:v>Aug 25</c:v>
                </c:pt>
                <c:pt idx="10">
                  <c:v>Sep 25</c:v>
                </c:pt>
                <c:pt idx="11">
                  <c:v>Oct 25</c:v>
                </c:pt>
                <c:pt idx="12">
                  <c:v>Nov 25</c:v>
                </c:pt>
                <c:pt idx="13">
                  <c:v>Dec 25</c:v>
                </c:pt>
                <c:pt idx="14">
                  <c:v>Jan 26</c:v>
                </c:pt>
                <c:pt idx="15">
                  <c:v>Feb 26</c:v>
                </c:pt>
                <c:pt idx="16">
                  <c:v>Mar 26</c:v>
                </c:pt>
                <c:pt idx="17">
                  <c:v>Apr 26</c:v>
                </c:pt>
                <c:pt idx="18">
                  <c:v>May 26</c:v>
                </c:pt>
                <c:pt idx="19">
                  <c:v>Jun 26</c:v>
                </c:pt>
                <c:pt idx="20">
                  <c:v>Jul 26</c:v>
                </c:pt>
                <c:pt idx="21">
                  <c:v>Aug 26</c:v>
                </c:pt>
                <c:pt idx="22">
                  <c:v>Sep 26</c:v>
                </c:pt>
                <c:pt idx="23">
                  <c:v>Oct 26</c:v>
                </c:pt>
              </c:strCache>
            </c:strRef>
          </c:cat>
          <c:val>
            <c:numRef>
              <c:f>Sheet1!$B$2:$B$25</c:f>
              <c:numCache>
                <c:formatCode>$#,##0;[Red]($#,##0);"-"</c:formatCode>
                <c:ptCount val="24"/>
                <c:pt idx="0">
                  <c:v>17700</c:v>
                </c:pt>
                <c:pt idx="1">
                  <c:v>24700</c:v>
                </c:pt>
                <c:pt idx="2">
                  <c:v>12400</c:v>
                </c:pt>
                <c:pt idx="3">
                  <c:v>15600</c:v>
                </c:pt>
                <c:pt idx="4">
                  <c:v>15700</c:v>
                </c:pt>
                <c:pt idx="5">
                  <c:v>15700</c:v>
                </c:pt>
                <c:pt idx="6">
                  <c:v>15800</c:v>
                </c:pt>
                <c:pt idx="7">
                  <c:v>38100</c:v>
                </c:pt>
                <c:pt idx="8">
                  <c:v>13500</c:v>
                </c:pt>
                <c:pt idx="9">
                  <c:v>16000</c:v>
                </c:pt>
                <c:pt idx="10">
                  <c:v>16100</c:v>
                </c:pt>
                <c:pt idx="11">
                  <c:v>16200</c:v>
                </c:pt>
                <c:pt idx="12">
                  <c:v>18700</c:v>
                </c:pt>
                <c:pt idx="13">
                  <c:v>26100</c:v>
                </c:pt>
                <c:pt idx="14">
                  <c:v>13100</c:v>
                </c:pt>
                <c:pt idx="15">
                  <c:v>16400</c:v>
                </c:pt>
                <c:pt idx="16">
                  <c:v>16500</c:v>
                </c:pt>
                <c:pt idx="17">
                  <c:v>16600</c:v>
                </c:pt>
                <c:pt idx="18">
                  <c:v>16600</c:v>
                </c:pt>
                <c:pt idx="19">
                  <c:v>40100</c:v>
                </c:pt>
                <c:pt idx="20">
                  <c:v>14300</c:v>
                </c:pt>
                <c:pt idx="21">
                  <c:v>18400</c:v>
                </c:pt>
                <c:pt idx="22">
                  <c:v>27900</c:v>
                </c:pt>
                <c:pt idx="23">
                  <c:v>3294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Raised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Nov 24</c:v>
                </c:pt>
                <c:pt idx="1">
                  <c:v>Dec 24</c:v>
                </c:pt>
                <c:pt idx="2">
                  <c:v>Jan 25</c:v>
                </c:pt>
                <c:pt idx="3">
                  <c:v>Feb 25</c:v>
                </c:pt>
                <c:pt idx="4">
                  <c:v>Mar 25</c:v>
                </c:pt>
                <c:pt idx="5">
                  <c:v>Apr 25</c:v>
                </c:pt>
                <c:pt idx="6">
                  <c:v>May 25</c:v>
                </c:pt>
                <c:pt idx="7">
                  <c:v>Jun 25</c:v>
                </c:pt>
                <c:pt idx="8">
                  <c:v>Jul 25</c:v>
                </c:pt>
                <c:pt idx="9">
                  <c:v>Aug 25</c:v>
                </c:pt>
                <c:pt idx="10">
                  <c:v>Sep 25</c:v>
                </c:pt>
                <c:pt idx="11">
                  <c:v>Oct 25</c:v>
                </c:pt>
                <c:pt idx="12">
                  <c:v>Nov 25</c:v>
                </c:pt>
                <c:pt idx="13">
                  <c:v>Dec 25</c:v>
                </c:pt>
                <c:pt idx="14">
                  <c:v>Jan 26</c:v>
                </c:pt>
                <c:pt idx="15">
                  <c:v>Feb 26</c:v>
                </c:pt>
                <c:pt idx="16">
                  <c:v>Mar 26</c:v>
                </c:pt>
                <c:pt idx="17">
                  <c:v>Apr 26</c:v>
                </c:pt>
                <c:pt idx="18">
                  <c:v>May 26</c:v>
                </c:pt>
                <c:pt idx="19">
                  <c:v>Jun 26</c:v>
                </c:pt>
                <c:pt idx="20">
                  <c:v>Jul 26</c:v>
                </c:pt>
                <c:pt idx="21">
                  <c:v>Aug 26</c:v>
                </c:pt>
                <c:pt idx="22">
                  <c:v>Sep 26</c:v>
                </c:pt>
                <c:pt idx="23">
                  <c:v>Oct 26</c:v>
                </c:pt>
              </c:strCache>
            </c:strRef>
          </c:cat>
          <c:val>
            <c:numRef>
              <c:f>Sheet1!$B$2:$B$25</c:f>
              <c:numCache>
                <c:formatCode>$#,##0;[Red]($#,##0);"-"</c:formatCode>
                <c:ptCount val="24"/>
                <c:pt idx="0">
                  <c:v>0</c:v>
                </c:pt>
                <c:pt idx="1">
                  <c:v>6200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36800</c:v>
                </c:pt>
                <c:pt idx="11">
                  <c:v>0</c:v>
                </c:pt>
                <c:pt idx="12">
                  <c:v>0</c:v>
                </c:pt>
                <c:pt idx="13">
                  <c:v>6200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41600</c:v>
                </c:pt>
                <c:pt idx="23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funding is worth chasing?. Sample Community Services Ltd. Period: October 2026 to date. In short: Grants cost 9¢ to raise each dollar in October so far; donations 10¢. Each source of money compared on what it raises and what it costs to raise. Pick a source and every chart, table row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sources. In October so far it cost: Grants 9¢, donations 10¢ to raise each dollar. October is still in progress (data to 6 October), so it is a part month against full months. Cheapest to raise in October so far: grants (9¢ a dollar). Dearest: donations (10¢). Events are worth counting for what else they bring too (new donors, profile).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Grants. Grants: $234,325 raised this financial year to date (69.0% of everything raised), $22,316 to raise it, so $212,009 left for programs: 10¢ per dollar. Most of the money, and usually the cheapest to raise, starting with grants that renew.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Donations. Donations: $63,894 raised this financial year to date (18.8% of everything raised), $10,115 to raise it, so $53,779 left for programs: 16¢ per dollar. Cheap and flexible (untied): the money that builds reserves.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Fundraising events. Fundraising events: $41,600 raised this financial year to date (12.2% of everything raised), $19,300 to raise it, so $22,300 left for programs: 46¢ per dollar. The dearest per dollar: worth measuring the new donors each event brings in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funding is worth chasing?: Cheapest to raise: Grants 9¢; Dearest to raise: Donations 10¢; Raised, year to date $339,819.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Financial year to date (Jul to Oct 2026), by source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funding is worth chasing?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October 2026 to date. In short: Grants cost 9¢ to raise each dollar in October so far; donations 10¢. Each source of money compared on what it raises and what it costs to raise. Pick a source and every chart, table row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source, October 2026 to date (cents)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14996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2869692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2924556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98876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 October so far it cost: Grants 9¢, donations 10¢ to raise each dollar. October is still in progress (data to 6 October), so it is a part month against full months.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2869692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2924556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3198876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Cheapest to raise in October so far: grants (9¢ a dollar). Dearest: donations (10¢). Events are worth counting for what else they bring too (new donors, profile).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Grants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Raised and left after costs, by month · Grants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842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Grants: $234,325 raised this financial year to date (69.0% of everything raised), $22,316 to raise it, so $212,009 left for programs: 10¢ per dollar.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Most of the money, and usually the cheapest to raise, starting with grants that renew.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Donations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Raised and left after costs, by month · Donations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842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Donations: $63,894 raised this financial year to date (18.8% of everything raised), $10,115 to raise it, so $53,779 left for programs: 16¢ per dollar.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Cheap and flexible (untied): the money that builds reserves.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Fundraising events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Raised and left after costs, by month · Fundraising events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842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Fundraising events: $41,600 raised this financial year to date (12.2% of everything raised), $19,300 to raise it, so $22,300 left for programs: 46¢ per dollar.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dearest per dollar: worth measuring the new donors each event brings in too.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Which funding is worth chasing?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606698" cy="173736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12618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Cheapest to raise: Grants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276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600" b="1">
                <a:solidFill>
                  <a:srgbClr val="2F7A5D"/>
                </a:solidFill>
                <a:latin typeface="Roboto"/>
              </a:rPr>
              <a:t>9¢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4203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per $1 raised in October so far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2498" y="1188720"/>
            <a:ext cx="3606698" cy="173736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429658" y="12618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Dearest to raise: Donations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9658" y="16276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600" b="1">
                <a:solidFill>
                  <a:srgbClr val="2F7A5D"/>
                </a:solidFill>
                <a:latin typeface="Roboto"/>
              </a:rPr>
              <a:t>10¢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254203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per $1 raised in October so far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7796" y="1188720"/>
            <a:ext cx="3606698" cy="173736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264956" y="12618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Raised, year to 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4956" y="16276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600" b="1">
                <a:solidFill>
                  <a:srgbClr val="2F7A5D"/>
                </a:solidFill>
                <a:latin typeface="Roboto"/>
              </a:rPr>
              <a:t>$339,819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254203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Jul to Oct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Financial year to date (Jul to Oct 2026), by source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Raised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Cost of raising it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Left after costs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Cost per $1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Grants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$234,325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$22,316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$212,009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10¢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Donations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$63,894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$10,115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$53,779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16¢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Fundraising events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$41,600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$19,300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$22,300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46¢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