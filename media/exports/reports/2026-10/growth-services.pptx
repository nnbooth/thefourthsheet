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118390</c:v>
                </c:pt>
                <c:pt idx="1">
                  <c:v>125715</c:v>
                </c:pt>
                <c:pt idx="2">
                  <c:v>96560</c:v>
                </c:pt>
                <c:pt idx="3">
                  <c:v>121275</c:v>
                </c:pt>
                <c:pt idx="4">
                  <c:v>84340</c:v>
                </c:pt>
                <c:pt idx="5">
                  <c:v>69985</c:v>
                </c:pt>
                <c:pt idx="6">
                  <c:v>104970</c:v>
                </c:pt>
                <c:pt idx="7">
                  <c:v>99060</c:v>
                </c:pt>
                <c:pt idx="8">
                  <c:v>94805</c:v>
                </c:pt>
                <c:pt idx="9">
                  <c:v>67745</c:v>
                </c:pt>
                <c:pt idx="10">
                  <c:v>65650</c:v>
                </c:pt>
                <c:pt idx="11">
                  <c:v>78550</c:v>
                </c:pt>
                <c:pt idx="12">
                  <c:v>92575</c:v>
                </c:pt>
                <c:pt idx="13">
                  <c:v>76600</c:v>
                </c:pt>
                <c:pt idx="14">
                  <c:v>102350</c:v>
                </c:pt>
                <c:pt idx="15">
                  <c:v>110835</c:v>
                </c:pt>
                <c:pt idx="16">
                  <c:v>121215</c:v>
                </c:pt>
                <c:pt idx="17">
                  <c:v>88665</c:v>
                </c:pt>
                <c:pt idx="18">
                  <c:v>84920</c:v>
                </c:pt>
                <c:pt idx="19">
                  <c:v>127580</c:v>
                </c:pt>
                <c:pt idx="20">
                  <c:v>133455</c:v>
                </c:pt>
                <c:pt idx="21">
                  <c:v>126500</c:v>
                </c:pt>
                <c:pt idx="22">
                  <c:v>145330</c:v>
                </c:pt>
                <c:pt idx="23">
                  <c:v>49055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96790</c:v>
                </c:pt>
                <c:pt idx="1">
                  <c:v>103515</c:v>
                </c:pt>
                <c:pt idx="2">
                  <c:v>73060</c:v>
                </c:pt>
                <c:pt idx="3">
                  <c:v>92075</c:v>
                </c:pt>
                <c:pt idx="4">
                  <c:v>53340</c:v>
                </c:pt>
                <c:pt idx="5">
                  <c:v>40885</c:v>
                </c:pt>
                <c:pt idx="6">
                  <c:v>65570</c:v>
                </c:pt>
                <c:pt idx="7">
                  <c:v>70760</c:v>
                </c:pt>
                <c:pt idx="8">
                  <c:v>71205</c:v>
                </c:pt>
                <c:pt idx="9">
                  <c:v>42845</c:v>
                </c:pt>
                <c:pt idx="10">
                  <c:v>42050</c:v>
                </c:pt>
                <c:pt idx="11">
                  <c:v>50650</c:v>
                </c:pt>
                <c:pt idx="12">
                  <c:v>51775</c:v>
                </c:pt>
                <c:pt idx="13">
                  <c:v>32800</c:v>
                </c:pt>
                <c:pt idx="14">
                  <c:v>66950</c:v>
                </c:pt>
                <c:pt idx="15">
                  <c:v>70035</c:v>
                </c:pt>
                <c:pt idx="16">
                  <c:v>83115</c:v>
                </c:pt>
                <c:pt idx="17">
                  <c:v>51865</c:v>
                </c:pt>
                <c:pt idx="18">
                  <c:v>48120</c:v>
                </c:pt>
                <c:pt idx="19">
                  <c:v>84880</c:v>
                </c:pt>
                <c:pt idx="20">
                  <c:v>88055</c:v>
                </c:pt>
                <c:pt idx="21">
                  <c:v>83800</c:v>
                </c:pt>
                <c:pt idx="22">
                  <c:v>94830</c:v>
                </c:pt>
                <c:pt idx="23">
                  <c:v>13355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24000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17900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31100</c:v>
                </c:pt>
                <c:pt idx="13">
                  <c:v>31100</c:v>
                </c:pt>
                <c:pt idx="14">
                  <c:v>31100</c:v>
                </c:pt>
                <c:pt idx="15">
                  <c:v>31100</c:v>
                </c:pt>
                <c:pt idx="16">
                  <c:v>31100</c:v>
                </c:pt>
                <c:pt idx="17">
                  <c:v>31100</c:v>
                </c:pt>
                <c:pt idx="18">
                  <c:v>31100</c:v>
                </c:pt>
                <c:pt idx="19">
                  <c:v>35700</c:v>
                </c:pt>
                <c:pt idx="20">
                  <c:v>35700</c:v>
                </c:pt>
                <c:pt idx="21">
                  <c:v>35700</c:v>
                </c:pt>
                <c:pt idx="22">
                  <c:v>35700</c:v>
                </c:pt>
                <c:pt idx="23">
                  <c:v>35700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5100</c:v>
                </c:pt>
                <c:pt idx="1">
                  <c:v>5700</c:v>
                </c:pt>
                <c:pt idx="2">
                  <c:v>7000</c:v>
                </c:pt>
                <c:pt idx="3">
                  <c:v>12700</c:v>
                </c:pt>
                <c:pt idx="4">
                  <c:v>7000</c:v>
                </c:pt>
                <c:pt idx="5">
                  <c:v>5100</c:v>
                </c:pt>
                <c:pt idx="6">
                  <c:v>15400</c:v>
                </c:pt>
                <c:pt idx="7">
                  <c:v>4300</c:v>
                </c:pt>
                <c:pt idx="8">
                  <c:v>5700</c:v>
                </c:pt>
                <c:pt idx="9">
                  <c:v>7000</c:v>
                </c:pt>
                <c:pt idx="10">
                  <c:v>5700</c:v>
                </c:pt>
                <c:pt idx="11">
                  <c:v>10000</c:v>
                </c:pt>
                <c:pt idx="12">
                  <c:v>9700</c:v>
                </c:pt>
                <c:pt idx="13">
                  <c:v>12700</c:v>
                </c:pt>
                <c:pt idx="14">
                  <c:v>4300</c:v>
                </c:pt>
                <c:pt idx="15">
                  <c:v>9700</c:v>
                </c:pt>
                <c:pt idx="16">
                  <c:v>7000</c:v>
                </c:pt>
                <c:pt idx="17">
                  <c:v>5700</c:v>
                </c:pt>
                <c:pt idx="18">
                  <c:v>5700</c:v>
                </c:pt>
                <c:pt idx="19">
                  <c:v>7000</c:v>
                </c:pt>
                <c:pt idx="20">
                  <c:v>9700</c:v>
                </c:pt>
                <c:pt idx="21">
                  <c:v>7000</c:v>
                </c:pt>
                <c:pt idx="22">
                  <c:v>14800</c:v>
                </c:pt>
                <c:pt idx="2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October 2026 to date.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October so far against October last year: (37.5%); Year to date against the same period last year: 48.1%; Gross margin, year to date: 64.0%. Revenue is 48.1% up on the same period last year, year to date ($454,340 against $306,750). Retainers make the highest gross margin (71.3%); Projects the lowest (60.5%). The business needs 45.8% gross margin just to cover overheads. Projects: 60.5% gross margin, 20.5 points over the 40.0% target ($57,324 ahead on $280,040 this financial year to date). Retainers: 71.3% gross margin, 31.3 points over the 40.0% target ($44,700 ahead on $142,800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October so far against October last year: (73.6%); Year to date against the same period last year: 35.4%; Gross margin, year to date: 60.5%. Projects brought in $280,040 this financial year to date, 35.4% on the same period last year (slower than the business as a whole, 48.1%), at a 60.5% gross margin (below the 64.0% overall). Projects: 60.5% gross margin, 20.5 points over the 40.0% target ($57,324 ahead on $280,040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October so far against October last year: 99.4%; Year to date against the same period last year: 99.4%; Gross margin, year to date: 71.3%. Retainers brought in $142,800 this financial year to date, 99.4% on the same period last year (faster than the business as a whole, 48.1%), at a 71.3% gross margin (above the 64.0% overall). Retainers: 71.3% gross margin, 31.3 points over the 40.0% target ($44,700 ahead on $142,800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October so far against October last year: (100.0%); Year to date against the same period last year: 10.9%; Gross margin, year to date: 61.9%. Training brought in $31,500 this financial year to date, 10.9% on the same period last year (slower than the business as a whole, 48.1%), at a 61.9% gross margin (below the 64.0% overall). Training: 61.9% gross margin, 21.9 points over the 40.0% target ($6,900 ahead on $31,500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Oct 2026) against the same period last year · Services. From gross margin to profit · latest closed month: September: October is still in progress and wages are paid fortnightly, so a part month can't be bridged: this is September, the latest closed month. September's client work made $81,890 gross margin (56.3%). Consultant time not charged to client work took $14,352 and overheads $52,140, leaving $15,398 profit before tax (10.6% of revenue). To cover overheads, client work needs a 45.8%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(37.5%)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$49,055 against $78,550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$454,340 against $306,750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$290,660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48.1% up on the same period last year, year to date ($454,340 against $306,750). Retainers make the highest gross margin (71.3%); Projects the lowest (60.5%). The business needs 45.8%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60.5% gross margin, 20.5 points over the 40.0% target ($57,324 ahead on $280,040 this financial year to date). Retainers: 71.3% gross margin, 31.3 points over the 40.0% target ($44,700 ahead on $142,800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(73.6%)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$13,355 against $50,650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$280,040 against $206,750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$169,340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$280,040 this financial year to date, 35.4% on the same period last year (slower than the business as a whole, 48.1%), at a 60.5% gross margin (below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60.5% gross margin, 20.5 points over the 40.0% target ($57,324 ahead on $280,040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$35,700 against $17,900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$142,800 against $71,600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71.3%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$101,820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$142,800 this financial year to date, 99.4% on the same period last year (faster than the business as a whole, 48.1%), at a 71.3% gross margin (above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71.3% gross margin, 31.3 points over the 40.0% target ($44,700 ahead on $142,800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(100.0%)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$0 against $10,000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$31,500 against $28,400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61.9%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$19,500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$31,500 this financial year to date, 10.9% on the same period last year (slower than the business as a whole, 48.1%), at a 61.9% gross margin (below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61.9% gross margin, 21.9 points over the 40.0% target ($6,900 ahead on $31,500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Oct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835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 · latest closed month: September: October is still in progress and wages are paid fortnightly, so a part month can't be bridged: this is September, the latest closed month. September's client work made $81,890 gross margin (56.3%). Consultant time not charged to client work took $14,352 and overheads $52,140, leaving $15,398 profit before tax (10.6% of revenue). To cover overheads, client work needs a 45.8%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939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$280,040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$206,750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$169,340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$142,800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$71,600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99.4%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$101,820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71.3%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$454,340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$306,750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48.1%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$290,660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64.0%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