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Installations</c:v>
                </c:pt>
                <c:pt idx="1">
                  <c:v>Call-outs and repairs</c:v>
                </c:pt>
                <c:pt idx="2">
                  <c:v>Maintenance contracts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34.1</c:v>
                </c:pt>
                <c:pt idx="1">
                  <c:v>47.7</c:v>
                </c:pt>
                <c:pt idx="2">
                  <c:v>63.8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3.36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dPt>
            <c:idx val="7"/>
            <c:spPr>
              <a:solidFill>
                <a:srgbClr val="0E9F6E"/>
              </a:solidFill>
            </c:spPr>
          </c:dPt>
          <c:dPt>
            <c:idx val="8"/>
            <c:spPr>
              <a:solidFill>
                <a:srgbClr val="0E9F6E"/>
              </a:solidFill>
            </c:spPr>
          </c:dPt>
          <c:dPt>
            <c:idx val="9"/>
            <c:spPr>
              <a:solidFill>
                <a:srgbClr val="0E9F6E"/>
              </a:solidFill>
            </c:spPr>
          </c:dPt>
          <c:dPt>
            <c:idx val="10"/>
            <c:spPr>
              <a:solidFill>
                <a:srgbClr val="0E9F6E"/>
              </a:solidFill>
            </c:spPr>
          </c:dPt>
          <c:dPt>
            <c:idx val="11"/>
            <c:spPr>
              <a:solidFill>
                <a:srgbClr val="0E9F6E"/>
              </a:solidFill>
            </c:spPr>
          </c:dPt>
          <c:cat>
            <c:strRef>
              <c:f>Sheet1!$A$2:$A$13</c:f>
              <c:strCache>
                <c:ptCount val="12"/>
                <c:pt idx="0">
                  <c:v>Kangaroo Point townhouses</c:v>
                </c:pt>
                <c:pt idx="1">
                  <c:v>West End brewery</c:v>
                </c:pt>
                <c:pt idx="2">
                  <c:v>Rocklea factory</c:v>
                </c:pt>
                <c:pt idx="3">
                  <c:v>Milton office tower</c:v>
                </c:pt>
                <c:pt idx="4">
                  <c:v>Bulimba school</c:v>
                </c:pt>
                <c:pt idx="5">
                  <c:v>Chermside retail centre</c:v>
                </c:pt>
                <c:pt idx="6">
                  <c:v>Southbank cafe group</c:v>
                </c:pt>
                <c:pt idx="7">
                  <c:v>Fortitude Valley hotel</c:v>
                </c:pt>
                <c:pt idx="8">
                  <c:v>Riverside Apartments (strata)</c:v>
                </c:pt>
                <c:pt idx="9">
                  <c:v>Newstead gym</c:v>
                </c:pt>
                <c:pt idx="10">
                  <c:v>Ashgrove aged care</c:v>
                </c:pt>
                <c:pt idx="11">
                  <c:v>Wynnum medical centre</c:v>
                </c:pt>
              </c:strCache>
            </c:strRef>
          </c:cat>
          <c:val>
            <c:numRef>
              <c:f>Sheet1!$B$2:$B$13</c:f>
              <c:numCache>
                <c:formatCode>0.0"%";[Red](0.0"%")</c:formatCode>
                <c:ptCount val="12"/>
                <c:pt idx="0">
                  <c:v>62.9</c:v>
                </c:pt>
                <c:pt idx="1">
                  <c:v>63.1</c:v>
                </c:pt>
                <c:pt idx="2">
                  <c:v>63.1</c:v>
                </c:pt>
                <c:pt idx="3">
                  <c:v>63.4</c:v>
                </c:pt>
                <c:pt idx="4">
                  <c:v>63.6</c:v>
                </c:pt>
                <c:pt idx="5">
                  <c:v>63.8</c:v>
                </c:pt>
                <c:pt idx="6">
                  <c:v>64.0</c:v>
                </c:pt>
                <c:pt idx="7">
                  <c:v>64.2</c:v>
                </c:pt>
                <c:pt idx="8">
                  <c:v>64.3</c:v>
                </c:pt>
                <c:pt idx="9">
                  <c:v>64.3</c:v>
                </c:pt>
                <c:pt idx="10">
                  <c:v>64.4</c:v>
                </c:pt>
                <c:pt idx="11">
                  <c:v>65.1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4.864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Salisbury shop solar and battery</c:v>
                </c:pt>
                <c:pt idx="1">
                  <c:v>Coorparoo shop air-con install</c:v>
                </c:pt>
                <c:pt idx="2">
                  <c:v>Aspley cafe data cabling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26.2</c:v>
                </c:pt>
                <c:pt idx="1">
                  <c:v>39.7</c:v>
                </c:pt>
                <c:pt idx="2">
                  <c:v>44.4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1.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1-hour call-outs (7)</c:v>
                </c:pt>
                <c:pt idx="1">
                  <c:v>1.5-hour call-outs (3)</c:v>
                </c:pt>
                <c:pt idx="2">
                  <c:v>2-hour call-outs (9)</c:v>
                </c:pt>
                <c:pt idx="3">
                  <c:v>2.5-hour call-outs (8)</c:v>
                </c:pt>
                <c:pt idx="4">
                  <c:v>3-hour call-outs (10)</c:v>
                </c:pt>
                <c:pt idx="5">
                  <c:v>4-hour call-outs (6)</c:v>
                </c:pt>
              </c:strCache>
            </c:strRef>
          </c:cat>
          <c:val>
            <c:numRef>
              <c:f>Sheet1!$B$2:$B$7</c:f>
              <c:numCache>
                <c:formatCode>0.0"%";[Red](0.0"%")</c:formatCode>
                <c:ptCount val="6"/>
                <c:pt idx="0">
                  <c:v>41.4</c:v>
                </c:pt>
                <c:pt idx="1">
                  <c:v>42.0</c:v>
                </c:pt>
                <c:pt idx="2">
                  <c:v>44.7</c:v>
                </c:pt>
                <c:pt idx="3">
                  <c:v>48.6</c:v>
                </c:pt>
                <c:pt idx="4">
                  <c:v>50.3</c:v>
                </c:pt>
                <c:pt idx="5">
                  <c:v>50.5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1.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0.0"%";[Red](0.0"%")</c:formatCode>
                <c:ptCount val="13"/>
                <c:pt idx="0">
                  <c:v>40.1</c:v>
                </c:pt>
                <c:pt idx="1">
                  <c:v>43.5</c:v>
                </c:pt>
                <c:pt idx="2">
                  <c:v>46.5</c:v>
                </c:pt>
                <c:pt idx="3">
                  <c:v>48.5</c:v>
                </c:pt>
                <c:pt idx="4">
                  <c:v>42.9</c:v>
                </c:pt>
                <c:pt idx="5">
                  <c:v>43.0</c:v>
                </c:pt>
                <c:pt idx="6">
                  <c:v>44.7</c:v>
                </c:pt>
                <c:pt idx="7">
                  <c:v>42.1</c:v>
                </c:pt>
                <c:pt idx="8">
                  <c:v>46.8</c:v>
                </c:pt>
                <c:pt idx="9">
                  <c:v>42.3</c:v>
                </c:pt>
                <c:pt idx="10">
                  <c:v>49.5</c:v>
                </c:pt>
                <c:pt idx="11">
                  <c:v>44.0</c:v>
                </c:pt>
                <c:pt idx="12">
                  <c:v>44.7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jobs actually make money?. Sample Electrical &amp; Air Pty Ltd. Period: October 2025. In short: Jobs made a 44.7% gross margin in October: maintenance contracts the most (63.8%), installations the least (34.1%).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gross margin to profit. October's jobs made $64,114 gross margin (44.7%). Technician time not charged to jobs took $31,056 and overheads $57,980, leaving ($24,922) profit before tax ((17.4%) of revenue). To cover overheads, jobs need a 62.0%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jobs. Job gross margin, October · All jobs: 44.7%; Job gross margin, September · All jobs: 44.0%; Gross margin jobs need to break even: 62.0%. In October maintenance contracts made a 63.8% job gross margin, installations made a 34.1% job gross margin, call-outs and repairs made a 47.7% job gross margin (technician time at $68 an hour, wages and all on-costs). Jobs need 62.0% just to cover overheads. Installations: 34.1% gross margin, 0.9 points under the 35.0% target: about $743 on $79,300 of revenue in October. It's below the 62.0% needed to cover overheads, too. Maintenance contracts: 63.8% gross margin, 28.8 points over the 35.0% target ($11,549 ahead on $40,100 in October).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Maintenance contracts. Job gross margin, October · Maintenance contracts: 63.8%; Job gross margin, September · Maintenance contracts: 63.9%; Gross margin jobs need to break even: 62.0%. All 12 contracts made more than the 35.0% job gross margin target. The thinnest was Kangaroo Point townhouses at 62.9% job gross margin: 14.0 h of technician time on a $2,700 monthly fee. The thinnest, Kangaroo Point townhouses: 62.9% gross margin, 27.9 points over the 35.0% target ($753 ahead on $2,700 in October). All maintenance contracts: 63.8% gross margin, 28.8 points over the 35.0% target ($11,549 ahead on $40,100 in October).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on each maintenance contract, October 2025. The month's fee less materials and technician time at $68/hour. Target 35.0% is what to price for; break-even 62.0% only covers overheads and time not charged.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Installations. Job gross margin, October · Installations: 34.1%; Job gross margin, September · Installations: 34.2%; Gross margin jobs need to break even: 62.0%. 1 of the 3 installation jobs invoiced in October made less than the 35.0% job gross margin target. The Salisbury shop solar and battery made a 26.2% job gross margin: 120.0 h of technician time ($8,160) and $3,900 of subcontractors on a $39,800 job. Jobs need 62.0% gross margin just to cover overheads. 1 installation under the 35.0% target, worth about $3,490 between them on $39,800 of revenue. The biggest gap, Salisbury shop solar and battery: 26.2% gross margin, 8.8 points under the 35.0% target: about $3,490 on $39,800 of revenue in October. It's below the 62.0% needed to cover overheads,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Call-outs and repairs. Job gross margin, October · Call-outs and repairs: 47.7%; Job gross margin, September · Call-outs and repairs: 48.5%; Gross margin jobs need to break even: 62.0%; Technician time charged, October: $16,873; Materials charged, October: $7,293. 43 call-outs in October billed $16,873 of technician time and $7,293 of materials ($5,610 at cost plus 30%), and made a 47.7% job gross margin between them. Gross margins run from 41.4% to 50.5% by length: the hourly rate covers technician time comfortably, so the gross margin mostly moves with how much material goes on the van. All call-outs: 47.7% gross margin, 12.7 points over the 35.0% target ($3,060 ahead on $24,166 in October).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jobs actually make money?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2025. In short: Jobs made a 44.7% gross margin in October: maintenance contracts the most (63.8%), installations the least (34.1%).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From gross margin to profit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October's jobs made $64,114 gross margin (44.7%). Technician time not charged to jobs took $31,056 and overheads $57,980, leaving ($24,922) profit before tax ((17.4%) of revenue). To cover overheads, jobs need a 62.0%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9136"/>
          <a:ext cx="11277294" cy="34198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$64,114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wages and on-costs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$68,218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charged to jobs (at cost)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$37,162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not charged to jobs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$31,056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profit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$33,058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Overheads (operating expenses, depreciation, interest)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$57,980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($24,922)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$143,566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jobs,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tax, % of 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(17.4%)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jobs need just to cover overheads and time not charged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by type of job, October 2025.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October · All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September · All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62.0%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(October)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6960588" y="2661025"/>
            <a:ext cx="0" cy="1657625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63308" y="431865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67600" y="2661025"/>
            <a:ext cx="0" cy="1657625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70320" y="455639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62.0%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91100"/>
            <a:ext cx="5501487" cy="13639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October maintenance contracts made a 63.8% job gross margin, installations made a 34.1% job gross margin, call-outs and repairs made a 47.7% job gross margin (technician time at $68 an hour, wages and all on-costs). Jobs need 62.0%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991100"/>
            <a:ext cx="5501487" cy="13639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34.1% gross margin, 0.9 points under the 35.0% target: about $743 on $79,300 of revenue in October. It's below the 62.0% needed to cover overheads, too. Maintenance contracts: 63.8% gross margin, 28.8 points over the 35.0% target ($11,549 ahead on $40,100 in October).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October · Maintenance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September · Maintenance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62.0%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(October)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8600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94360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12 contracts made more than the 35.0% job gross margin target. The thinnest was Kangaroo Point townhouses at 62.9% job gross margin: 14.0 h of technician time on a $2,700 monthly fee.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228600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70167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thinnest, Kangaroo Point townhouses: 62.9% gross margin, 27.9 points over the 35.0% target ($753 ahead on $2,700 in October). All maintenance contracts: 63.8% gross margin, 28.8 points over the 35.0% target ($11,549 ahead on $40,100 in October).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on each maintenance contract, October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The month's fee less materials and technician time at $68/hour. Target 35.0% is what to price for; break-even 62.0% only covers overheads and time not charged.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9136"/>
          <a:ext cx="11277295" cy="4337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6898280" y="1599255"/>
            <a:ext cx="0" cy="381682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01000" y="541608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257225" y="1599255"/>
            <a:ext cx="0" cy="3816827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59945" y="5653826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62.0%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each installation invoiced in October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October · Installations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34.1%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September · Installations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34.2%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62.0%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(October)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7051175" y="2661025"/>
            <a:ext cx="0" cy="1657625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53895" y="431865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28067" y="2661025"/>
            <a:ext cx="0" cy="1657625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430787" y="455639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62.0%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91100"/>
            <a:ext cx="5501487" cy="13639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 of the 3 installation jobs invoiced in October made less than the 35.0% job gross margin target. The Salisbury shop solar and battery made a 26.2% job gross margin: 120.0 h of technician time ($8,160) and $3,900 of subcontractors on a $39,800 job. Jobs need 62.0% gross margin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991100"/>
            <a:ext cx="5501487" cy="13639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 installation under the 35.0% target, worth about $3,490 between them on $39,800 of revenue. The biggest gap, Salisbury shop solar and battery: 26.2% gross margin, 8.8 points under the 35.0% target: about $3,490 on $39,800 of revenue in October. It's below the 62.0% needed to cover overheads, too.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call-outs by length, October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October · Call-outs and repairs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47.7%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58379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2895539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September · Call-outs and repairs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539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539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9558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196718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6718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62.0%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6718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(October)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737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497897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Technician time charged, October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7897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$16,873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7897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69.8% of call-out revenue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61916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799076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Materials charged, October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076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$7,293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076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$5,610 at cost, plus 30%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7" name="Connector 26"/>
          <p:cNvCxnSpPr/>
          <p:nvPr/>
        </p:nvCxnSpPr>
        <p:spPr>
          <a:xfrm>
            <a:off x="7051175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53895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528067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30787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62.0%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43 call-outs in October billed $16,873 of technician time and $7,293 of materials ($5,610 at cost plus 30%), and made a 47.7% job gross margin between them. Gross margins run from 41.4% to 50.5% by length: the hourly rate covers technician time comfortably, so the gross margin mostly moves with how much material goes on the van.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call-outs: 47.7% gross margin, 12.7 points over the 35.0% target ($3,060 ahead on $24,166 in October).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