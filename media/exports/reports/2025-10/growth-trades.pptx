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191014</c:v>
                </c:pt>
                <c:pt idx="1">
                  <c:v>200124</c:v>
                </c:pt>
                <c:pt idx="2">
                  <c:v>159406</c:v>
                </c:pt>
                <c:pt idx="3">
                  <c:v>156794</c:v>
                </c:pt>
                <c:pt idx="4">
                  <c:v>179190</c:v>
                </c:pt>
                <c:pt idx="5">
                  <c:v>150465</c:v>
                </c:pt>
                <c:pt idx="6">
                  <c:v>138865</c:v>
                </c:pt>
                <c:pt idx="7">
                  <c:v>144649</c:v>
                </c:pt>
                <c:pt idx="8">
                  <c:v>183265</c:v>
                </c:pt>
                <c:pt idx="9">
                  <c:v>208588</c:v>
                </c:pt>
                <c:pt idx="10">
                  <c:v>155118</c:v>
                </c:pt>
                <c:pt idx="11">
                  <c:v>143077</c:v>
                </c:pt>
                <c:pt idx="12">
                  <c:v>143566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27650</c:v>
                </c:pt>
                <c:pt idx="1">
                  <c:v>27650</c:v>
                </c:pt>
                <c:pt idx="2">
                  <c:v>27650</c:v>
                </c:pt>
                <c:pt idx="3">
                  <c:v>27650</c:v>
                </c:pt>
                <c:pt idx="4">
                  <c:v>31300</c:v>
                </c:pt>
                <c:pt idx="5">
                  <c:v>31300</c:v>
                </c:pt>
                <c:pt idx="6">
                  <c:v>31300</c:v>
                </c:pt>
                <c:pt idx="7">
                  <c:v>31300</c:v>
                </c:pt>
                <c:pt idx="8">
                  <c:v>35720</c:v>
                </c:pt>
                <c:pt idx="9">
                  <c:v>37200</c:v>
                </c:pt>
                <c:pt idx="10">
                  <c:v>37200</c:v>
                </c:pt>
                <c:pt idx="11">
                  <c:v>37200</c:v>
                </c:pt>
                <c:pt idx="12">
                  <c:v>40100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5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141600</c:v>
                </c:pt>
                <c:pt idx="1">
                  <c:v>147100</c:v>
                </c:pt>
                <c:pt idx="2">
                  <c:v>103700</c:v>
                </c:pt>
                <c:pt idx="3">
                  <c:v>100100</c:v>
                </c:pt>
                <c:pt idx="4">
                  <c:v>118600</c:v>
                </c:pt>
                <c:pt idx="5">
                  <c:v>96400</c:v>
                </c:pt>
                <c:pt idx="6">
                  <c:v>83900</c:v>
                </c:pt>
                <c:pt idx="7">
                  <c:v>89900</c:v>
                </c:pt>
                <c:pt idx="8">
                  <c:v>126300</c:v>
                </c:pt>
                <c:pt idx="9">
                  <c:v>152100</c:v>
                </c:pt>
                <c:pt idx="10">
                  <c:v>96500</c:v>
                </c:pt>
                <c:pt idx="11">
                  <c:v>84200</c:v>
                </c:pt>
                <c:pt idx="12">
                  <c:v>79300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20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$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Sheet1!$A$2:$A$14</c:f>
              <c:strCache>
                <c:ptCount val="13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</c:strCache>
            </c:strRef>
          </c:cat>
          <c:val>
            <c:numRef>
              <c:f>Sheet1!$B$2:$B$14</c:f>
              <c:numCache>
                <c:formatCode>$#,##0;[Red]($#,##0);"-"</c:formatCode>
                <c:ptCount val="13"/>
                <c:pt idx="0">
                  <c:v>21764</c:v>
                </c:pt>
                <c:pt idx="1">
                  <c:v>25374</c:v>
                </c:pt>
                <c:pt idx="2">
                  <c:v>28056</c:v>
                </c:pt>
                <c:pt idx="3">
                  <c:v>29044</c:v>
                </c:pt>
                <c:pt idx="4">
                  <c:v>29290</c:v>
                </c:pt>
                <c:pt idx="5">
                  <c:v>22765</c:v>
                </c:pt>
                <c:pt idx="6">
                  <c:v>23665</c:v>
                </c:pt>
                <c:pt idx="7">
                  <c:v>23449</c:v>
                </c:pt>
                <c:pt idx="8">
                  <c:v>21245</c:v>
                </c:pt>
                <c:pt idx="9">
                  <c:v>19288</c:v>
                </c:pt>
                <c:pt idx="10">
                  <c:v>21418</c:v>
                </c:pt>
                <c:pt idx="11">
                  <c:v>21677</c:v>
                </c:pt>
                <c:pt idx="12">
                  <c:v>24166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products and services are growing?. Sample Electrical &amp; Air Pty Ltd. 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All. October against October last year: (24.8%); Year to date (Jul to Oct 2025): $650,349; Gross margin, year to date: 44.9%. Revenue is $650,349 this financial year to date (Jul to Oct 2025). Maintenance contracts make the highest gross margin (63.8%); Installations the lowest (37.3%). The business needs 62.0% gross margin just to cover overheads. Installations: 37.3% gross margin, 2.3 points over the 35.0% target ($9,627 ahead on $412,100 this financial year to date). Maintenance contracts: 63.8% gross margin, 28.8 points over the 35.0% target ($43,751 ahead on $151,700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Maintenance contracts. October against October last year: 45.0%; Year to date (Jul to Oct 2025): $151,700; Gross margin, year to date: 63.8%. Maintenance contracts brought in $151,700 this financial year to date, at a 63.8% gross margin (above the 44.9% overall). Maintenance contracts: 63.8% gross margin, 28.8 points over the 35.0% target ($43,751 ahead on $151,700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Installations. October against October last year: (44.0%); Year to date (Jul to Oct 2025): $412,100; Gross margin, year to date: 37.3%. Installations brought in $412,100 this financial year to date, at a 37.3% gross margin (below the 44.9% overall). Installations: 37.3% gross margin, 2.3 points over the 35.0% target ($9,627 ahead on $412,100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Trades · Call-outs and repairs. October against October last year: 11.0%; Year to date (Jul to Oct 2025): $86,549; Gross margin, year to date: 48.0%. Call-outs and repairs brought in $86,549 this financial year to date, at a 48.0% gross margin (above the 44.9% overall). Call-outs and repairs: 48.0% gross margin, 13.0 points over the 35.0% target ($11,259 ahead on $86,549 this financial year to date).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line: financial year to date (Jul to Oct 2025) against the same period last year · Trades. Same period last year: Not available: the data starts October 2024. From gross margin to profit: October's jobs made $64,114 gross margin (44.7%). Technician time not charged to jobs took $31,056 and overheads $57,980, leaving ($24,922) profit before tax ((17.4%) of revenue). To cover overheads, jobs need a 62.0% gross margin on average.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Which products and services are growing?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October 2025. Revenue, gross margin and growth (year on year) by product or service line over 24 months. Pick a line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2025: Locked. October 2025 is locked (closed 4 Nov 2025).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All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All. Gross margin is not profit.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(24.8%)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$143,566 against $191,014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$650,349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44.9%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$292,259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Revenue is $650,349 this financial year to date (Jul to Oct 2025). Maintenance contracts make the highest gross margin (63.8%); Installations the lowest (37.3%). The business needs 62.0% gross margin just to cover overheads.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37.3% gross margin, 2.3 points over the 35.0% target ($9,627 ahead on $412,100 this financial year to date). Maintenance contracts: 63.8% gross margin, 28.8 points over the 35.0% target ($43,751 ahead on $151,700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Maintenance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Maintenance contracts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$40,100 against $27,650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$151,700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63.8%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$96,846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 brought in $151,700 this financial year to date, at a 63.8% gross margin (above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Maintenance contracts: 63.8% gross margin, 28.8 points over the 35.0% target ($43,751 ahead on $151,700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Installations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Installations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(44.0%)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$79,300 against $141,600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$412,100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37.3%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$153,862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 brought in $412,100 this financial year to date, at a 37.3% gross margin (below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Installations: 37.3% gross margin, 2.3 points over the 35.0% target ($9,627 ahead on $412,100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Trades · Call-outs and repairs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Revenue, gross margin and growth by line, by month · Call-outs and repairs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against October last year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$24,166 against $21,764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Oct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$86,549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Gross margin, year to 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48.0%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$41,551 before overheads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 brought in $86,549 this financial year to date, at a 48.0% gross margin (above the 44.9% overall).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Call-outs and repairs: 48.0% gross margin, 13.0 points over the 35.0% target ($11,259 ahead on $86,549 this financial year to date).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71932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000" b="1">
                <a:solidFill>
                  <a:srgbClr val="25342A"/>
                </a:solidFill>
                <a:latin typeface="Roboto"/>
              </a:rPr>
              <a:t>By line: financial year to date (Jul to Oct 2025) against the same period last year · Trades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Which products and services are growing?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58240"/>
            <a:ext cx="11277295" cy="644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Same period last year: Not available: the data starts October 2024. From gross margin to profit: October's jobs made $64,114 gross margin (44.7%). Technician time not charged to jobs took $31,056 and overheads $57,980, leaving ($24,922) profit before tax ((17.4%) of revenue). To cover overheads, jobs need a 62.0% gross margin on average.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3476"/>
          <a:ext cx="11277295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9549"/>
                <a:gridCol w="1879549"/>
                <a:gridCol w="1879549"/>
                <a:gridCol w="1879549"/>
                <a:gridCol w="1879549"/>
                <a:gridCol w="1879550"/>
              </a:tblGrid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Year to date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Same period last year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Growth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$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Roboto"/>
                        </a:rPr>
                        <a:t>Gross margin %</a:t>
                      </a:r>
                    </a:p>
                  </a:txBody>
                  <a:tcPr>
                    <a:solidFill>
                      <a:srgbClr val="2F7A5D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Maintenance contracts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$151,700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$96,846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63.8%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Installations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$412,100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$153,862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37.3%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Call-outs and repairs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$86,549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$41,551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>
                          <a:solidFill>
                            <a:srgbClr val="25342A"/>
                          </a:solidFill>
                          <a:latin typeface="Roboto"/>
                        </a:rPr>
                        <a:t>48.0%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Total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$650,349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–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$292,259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>
                          <a:latin typeface="Roboto"/>
                        </a:defRPr>
                      </a:pPr>
                      <a:r>
                        <a:rPr sz="1050" b="1">
                          <a:solidFill>
                            <a:srgbClr val="25342A"/>
                          </a:solidFill>
                          <a:latin typeface="Roboto"/>
                        </a:rPr>
                        <a:t>44.9%</a:t>
                      </a:r>
                    </a:p>
                  </a:txBody>
                  <a:tcPr>
                    <a:solidFill>
                      <a:srgbClr val="F7FA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growth-trades.pptx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6 of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