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Installations</c:v>
                </c:pt>
                <c:pt idx="1">
                  <c:v>Call-outs and repairs</c:v>
                </c:pt>
                <c:pt idx="2">
                  <c:v>Maintenance contracts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38.6</c:v>
                </c:pt>
                <c:pt idx="1">
                  <c:v>48.3</c:v>
                </c:pt>
                <c:pt idx="2">
                  <c:v>63.9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3.48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dPt>
            <c:idx val="7"/>
            <c:spPr>
              <a:solidFill>
                <a:srgbClr val="0E9F6E"/>
              </a:solidFill>
            </c:spPr>
          </c:dPt>
          <c:dPt>
            <c:idx val="8"/>
            <c:spPr>
              <a:solidFill>
                <a:srgbClr val="0E9F6E"/>
              </a:solidFill>
            </c:spPr>
          </c:dPt>
          <c:dPt>
            <c:idx val="9"/>
            <c:spPr>
              <a:solidFill>
                <a:srgbClr val="0E9F6E"/>
              </a:solidFill>
            </c:spPr>
          </c:dPt>
          <c:dPt>
            <c:idx val="10"/>
            <c:spPr>
              <a:solidFill>
                <a:srgbClr val="0E9F6E"/>
              </a:solidFill>
            </c:spPr>
          </c:dPt>
          <c:dPt>
            <c:idx val="11"/>
            <c:spPr>
              <a:solidFill>
                <a:srgbClr val="0E9F6E"/>
              </a:solidFill>
            </c:spPr>
          </c:dPt>
          <c:dPt>
            <c:idx val="12"/>
            <c:spPr>
              <a:solidFill>
                <a:srgbClr val="0E9F6E"/>
              </a:solidFill>
            </c:spPr>
          </c:dPt>
          <c:cat>
            <c:strRef>
              <c:f>Sheet1!$A$2:$A$14</c:f>
              <c:strCache>
                <c:ptCount val="13"/>
                <c:pt idx="0">
                  <c:v>Kangaroo Point townhouses</c:v>
                </c:pt>
                <c:pt idx="1">
                  <c:v>West End brewery</c:v>
                </c:pt>
                <c:pt idx="2">
                  <c:v>Rocklea factory</c:v>
                </c:pt>
                <c:pt idx="3">
                  <c:v>Milton office tower</c:v>
                </c:pt>
                <c:pt idx="4">
                  <c:v>Bulimba school</c:v>
                </c:pt>
                <c:pt idx="5">
                  <c:v>Chermside retail centre</c:v>
                </c:pt>
                <c:pt idx="6">
                  <c:v>Southbank cafe group</c:v>
                </c:pt>
                <c:pt idx="7">
                  <c:v>Fortitude Valley hotel</c:v>
                </c:pt>
                <c:pt idx="8">
                  <c:v>Riverside Apartments (strata)</c:v>
                </c:pt>
                <c:pt idx="9">
                  <c:v>Newstead gym</c:v>
                </c:pt>
                <c:pt idx="10">
                  <c:v>Ashgrove aged care</c:v>
                </c:pt>
                <c:pt idx="11">
                  <c:v>Wynnum medical centre</c:v>
                </c:pt>
                <c:pt idx="12">
                  <c:v>Carindale vet clinic</c:v>
                </c:pt>
              </c:strCache>
            </c:strRef>
          </c:cat>
          <c:val>
            <c:numRef>
              <c:f>Sheet1!$B$2:$B$14</c:f>
              <c:numCache>
                <c:formatCode>0.0"%";[Red](0.0"%")</c:formatCode>
                <c:ptCount val="13"/>
                <c:pt idx="0">
                  <c:v>62.9</c:v>
                </c:pt>
                <c:pt idx="1">
                  <c:v>63.1</c:v>
                </c:pt>
                <c:pt idx="2">
                  <c:v>63.1</c:v>
                </c:pt>
                <c:pt idx="3">
                  <c:v>63.4</c:v>
                </c:pt>
                <c:pt idx="4">
                  <c:v>63.6</c:v>
                </c:pt>
                <c:pt idx="5">
                  <c:v>63.8</c:v>
                </c:pt>
                <c:pt idx="6">
                  <c:v>64.0</c:v>
                </c:pt>
                <c:pt idx="7">
                  <c:v>64.2</c:v>
                </c:pt>
                <c:pt idx="8">
                  <c:v>64.3</c:v>
                </c:pt>
                <c:pt idx="9">
                  <c:v>64.3</c:v>
                </c:pt>
                <c:pt idx="10">
                  <c:v>64.4</c:v>
                </c:pt>
                <c:pt idx="11">
                  <c:v>65.1</c:v>
                </c:pt>
                <c:pt idx="12">
                  <c:v>66.2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6.1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Salisbury gym air-con install</c:v>
                </c:pt>
                <c:pt idx="1">
                  <c:v>Kedron shop switchboard upgrade</c:v>
                </c:pt>
                <c:pt idx="2">
                  <c:v>Taringa clinic LED lighting</c:v>
                </c:pt>
                <c:pt idx="3">
                  <c:v>Taringa warehouse EV chargers</c:v>
                </c:pt>
              </c:strCache>
            </c:strRef>
          </c:cat>
          <c:val>
            <c:numRef>
              <c:f>Sheet1!$B$2:$B$5</c:f>
              <c:numCache>
                <c:formatCode>0.0"%";[Red](0.0"%")</c:formatCode>
                <c:ptCount val="4"/>
                <c:pt idx="0">
                  <c:v>31.2</c:v>
                </c:pt>
                <c:pt idx="1">
                  <c:v>32.2</c:v>
                </c:pt>
                <c:pt idx="2">
                  <c:v>40.1</c:v>
                </c:pt>
                <c:pt idx="3">
                  <c:v>46.8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3.81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1-hour call-outs (6)</c:v>
                </c:pt>
                <c:pt idx="1">
                  <c:v>1.5-hour call-outs (6)</c:v>
                </c:pt>
                <c:pt idx="2">
                  <c:v>2-hour call-outs (15)</c:v>
                </c:pt>
                <c:pt idx="3">
                  <c:v>2.5-hour call-outs (4)</c:v>
                </c:pt>
                <c:pt idx="4">
                  <c:v>3-hour call-outs (18)</c:v>
                </c:pt>
                <c:pt idx="5">
                  <c:v>4-hour call-outs (8)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40.5</c:v>
                </c:pt>
                <c:pt idx="1">
                  <c:v>42.1</c:v>
                </c:pt>
                <c:pt idx="2">
                  <c:v>45.4</c:v>
                </c:pt>
                <c:pt idx="3">
                  <c:v>48.8</c:v>
                </c:pt>
                <c:pt idx="4">
                  <c:v>50.6</c:v>
                </c:pt>
                <c:pt idx="5">
                  <c:v>52.7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60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0.0"%";[Red](0.0"%")</c:formatCode>
                <c:ptCount val="17"/>
                <c:pt idx="0">
                  <c:v>40.1</c:v>
                </c:pt>
                <c:pt idx="1">
                  <c:v>43.5</c:v>
                </c:pt>
                <c:pt idx="2">
                  <c:v>46.5</c:v>
                </c:pt>
                <c:pt idx="3">
                  <c:v>48.5</c:v>
                </c:pt>
                <c:pt idx="4">
                  <c:v>42.9</c:v>
                </c:pt>
                <c:pt idx="5">
                  <c:v>43.0</c:v>
                </c:pt>
                <c:pt idx="6">
                  <c:v>44.7</c:v>
                </c:pt>
                <c:pt idx="7">
                  <c:v>42.1</c:v>
                </c:pt>
                <c:pt idx="8">
                  <c:v>46.8</c:v>
                </c:pt>
                <c:pt idx="9">
                  <c:v>42.3</c:v>
                </c:pt>
                <c:pt idx="10">
                  <c:v>49.5</c:v>
                </c:pt>
                <c:pt idx="11">
                  <c:v>44.0</c:v>
                </c:pt>
                <c:pt idx="12">
                  <c:v>44.7</c:v>
                </c:pt>
                <c:pt idx="13">
                  <c:v>40.5</c:v>
                </c:pt>
                <c:pt idx="14">
                  <c:v>43.7</c:v>
                </c:pt>
                <c:pt idx="15">
                  <c:v>41.9</c:v>
                </c:pt>
                <c:pt idx="16">
                  <c:v>44.9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jobs actually make money?. Sample Electrical &amp; Air Pty Ltd. Period: February 2026. In short: Jobs made a 44.9% gross margin in February: maintenance contracts the most (63.9%), installations the least (38.6%).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gross margin to profit. February's jobs made $98,246 gross margin (44.9%). Technician time not charged to jobs took $12,920 and overheads $59,320, leaving $26,006 profit before tax (11.9% of revenue). To cover overheads, jobs need a 33.0%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jobs. Job gross margin, February · All jobs: 44.9%; Job gross margin, January · All jobs: 41.9%; Gross margin jobs need to break even: 33.0%. In February maintenance contracts made a 63.9% job gross margin, installations made a 38.6% job gross margin, call-outs and repairs made a 48.3% job gross margin (technician time at $68 an hour, wages and all on-costs). Jobs need 33.0% just to cover overheads. Installations: 38.6% gross margin, 3.6 points over the 35.0% target ($5,224 ahead on $144,800 in February). Maintenance contracts: 63.9% gross margin, 28.9 points over the 35.0% target ($12,142 ahead on $42,000 in February).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Maintenance contracts. Job gross margin, February · Maintenance contracts: 63.9%; Job gross margin, January · Maintenance contracts: 63.8%; Gross margin jobs need to break even: 33.0%. All 13 contracts made more than the 35.0% job gross margin target. The thinnest was Kangaroo Point townhouses at 62.9% job gross margin: 14.0 h of technician time on a $2,700 monthly fee. The thinnest, Kangaroo Point townhouses: 62.9% gross margin, 27.9 points over the 35.0% target ($753 ahead on $2,700 in February). All maintenance contracts: 63.9% gross margin, 28.9 points over the 35.0% target ($12,142 ahead on $42,000 in February).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on each maintenance contract, February 2026. The month's fee less materials and technician time at $68/hour. Target 35.0% is what to price for; break-even 33.0% only covers overheads and time not charged.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Installations. Job gross margin, February · Installations: 38.6%; Job gross margin, January · Installations: 32.0%; Gross margin jobs need to break even: 33.0%. 2 of the 4 installation jobs invoiced in February made less than the 35.0% job gross margin target. The Salisbury gym air-con install made a 31.2% job gross margin: 71.5 h of technician time ($4,862) and $1,300 of subcontractors on a $20,300 job. Jobs need 33.0% gross margin just to cover overheads. 2 installations under the 35.0% target, worth about $1,893 between them on $60,700 of revenue. The biggest gap, Kedron shop switchboard upgrade: 32.2% gross margin, 2.8 points under the 35.0% target: about $1,126 on $40,400 of revenue in February. It's below the 33.0%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Call-outs and repairs. Job gross margin, February · Call-outs and repairs: 48.3%; Job gross margin, January · Call-outs and repairs: 47.6%; Gross margin jobs need to break even: 33.0%; Technician time charged, February: $22,982; Materials charged, February: $9,126. 57 call-outs in February billed $22,982 of technician time and $9,126 of materials ($7,020 at cost plus 30%), and made a 48.3% job gross margin between them. Gross margins run from 40.5% to 52.7% by length: the hourly rate covers technician time comfortably, so the gross margin mostly moves with how much material goes on the van. All call-outs: 48.3% gross margin, 13.3 points over the 35.0% target ($4,262 ahead on $32,108 in February).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jobs actually make money?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February 2026. In short: Jobs made a 44.9% gross margin in February: maintenance contracts the most (63.9%), installations the least (38.6%).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From gross margin to profit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February's jobs made $98,246 gross margin (44.9%). Technician time not charged to jobs took $12,920 and overheads $59,320, leaving $26,006 profit before tax (11.9% of revenue). To cover overheads, jobs need a 33.0%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9136"/>
          <a:ext cx="11277294" cy="3419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$98,246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wages and on-costs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$72,352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charged to jobs (at 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$59,432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not charged to jobs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$12,920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$85,326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Overheads (operating expenses, depreciation, interest)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$59,320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$26,006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$218,908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jobs,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tax, % of 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11.9%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jobs need just to cover overheads and time not charged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by type of job, February 2026.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February · All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January · All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33.0%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(February)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6955705" y="2661025"/>
            <a:ext cx="0" cy="1657625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58425" y="431865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77687" y="2661025"/>
            <a:ext cx="0" cy="1657625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80407" y="455639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33.0%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911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202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February maintenance contracts made a 63.9% job gross margin, installations made a 38.6% job gross margin, call-outs and repairs made a 48.3% job gross margin (technician time at $68 an hour, wages and all on-costs). Jobs need 33.0%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9911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202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38.6% gross margin, 3.6 points over the 35.0% target ($5,224 ahead on $144,800 in February). Maintenance contracts: 63.9% gross margin, 28.9 points over the 35.0% target ($12,142 ahead on $42,000 in February).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February · Maintenance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January · Maintenance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33.0%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(February)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13 contracts made more than the 35.0% job gross margin target. The thinnest was Kangaroo Point townhouses at 62.9% job gross margin: 14.0 h of technician time on a $2,700 monthly fee.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22860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thinnest, Kangaroo Point townhouses: 62.9% gross margin, 27.9 points over the 35.0% target ($753 ahead on $2,700 in February). All maintenance contracts: 63.9% gross margin, 28.9 points over the 35.0% target ($12,142 ahead on $42,000 in February).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on each maintenance contract, February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The month's fee less materials and technician time at $68/hour. Target 35.0% is what to price for; break-even 33.0% only covers overheads and time not charged.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6847469" y="1599255"/>
            <a:ext cx="0" cy="381682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50189" y="541608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675636" y="1599255"/>
            <a:ext cx="0" cy="3816827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356" y="5653826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33.0%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each installation invoiced in February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February · Installations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38.6%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January · Installations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32.0%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33.0%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(February)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8093994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96714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50931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53651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33.0%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 of the 4 installation jobs invoiced in February made less than the 35.0% job gross margin target. The Salisbury gym air-con install made a 31.2% job gross margin: 71.5 h of technician time ($4,862) and $1,300 of subcontractors on a $20,300 job. Jobs need 33.0% gross margin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 installations under the 35.0% target, worth about $1,893 between them on $60,700 of revenue. The biggest gap, Kedron shop switchboard upgrade: 32.2% gross margin, 2.8 points under the 35.0% target: about $1,126 on $40,400 of revenue in February. It's below the 33.0% needed to cover overheads, too.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call-outs by length, February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February · Call-outs and repairs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8379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895539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January · Call-outs and repairs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47.6%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9558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196718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6718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33.0%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6718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(February)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737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497897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Technician time charged, February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7897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$22,982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7897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71.6% of call-out revenue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61916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799076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Materials charged, February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076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$9,126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076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$7,020 at cost, plus 30%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7" name="Connector 26"/>
          <p:cNvCxnSpPr/>
          <p:nvPr/>
        </p:nvCxnSpPr>
        <p:spPr>
          <a:xfrm>
            <a:off x="7617784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20504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01933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04653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33.0%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57 call-outs in February billed $22,982 of technician time and $9,126 of materials ($7,020 at cost plus 30%), and made a 48.3% job gross margin between them. Gross margins run from 40.5% to 52.7% by length: the hourly rate covers technician time comfortably, so the gross margin mostly moves with how much material goes on the van.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call-outs: 48.3% gross margin, 13.3 points over the 35.0% target ($4,262 ahead on $32,108 in February).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