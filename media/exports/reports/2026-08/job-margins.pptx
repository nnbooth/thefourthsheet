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cat>
            <c:strRef>
              <c:f>Sheet1!$A$2:$A$4</c:f>
              <c:strCache>
                <c:ptCount val="3"/>
                <c:pt idx="0">
                  <c:v>Installations</c:v>
                </c:pt>
                <c:pt idx="1">
                  <c:v>Call-outs and repairs</c:v>
                </c:pt>
                <c:pt idx="2">
                  <c:v>Maintenance contracts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40.8</c:v>
                </c:pt>
                <c:pt idx="1">
                  <c:v>48.2</c:v>
                </c:pt>
                <c:pt idx="2">
                  <c:v>63.9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3.48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dPt>
            <c:idx val="7"/>
            <c:spPr>
              <a:solidFill>
                <a:srgbClr val="0E9F6E"/>
              </a:solidFill>
            </c:spPr>
          </c:dPt>
          <c:dPt>
            <c:idx val="8"/>
            <c:spPr>
              <a:solidFill>
                <a:srgbClr val="0E9F6E"/>
              </a:solidFill>
            </c:spPr>
          </c:dPt>
          <c:dPt>
            <c:idx val="9"/>
            <c:spPr>
              <a:solidFill>
                <a:srgbClr val="0E9F6E"/>
              </a:solidFill>
            </c:spPr>
          </c:dPt>
          <c:dPt>
            <c:idx val="10"/>
            <c:spPr>
              <a:solidFill>
                <a:srgbClr val="0E9F6E"/>
              </a:solidFill>
            </c:spPr>
          </c:dPt>
          <c:dPt>
            <c:idx val="11"/>
            <c:spPr>
              <a:solidFill>
                <a:srgbClr val="0E9F6E"/>
              </a:solidFill>
            </c:spPr>
          </c:dPt>
          <c:dPt>
            <c:idx val="12"/>
            <c:spPr>
              <a:solidFill>
                <a:srgbClr val="0E9F6E"/>
              </a:solidFill>
            </c:spPr>
          </c:dPt>
          <c:dPt>
            <c:idx val="13"/>
            <c:spPr>
              <a:solidFill>
                <a:srgbClr val="0E9F6E"/>
              </a:solidFill>
            </c:spPr>
          </c:dPt>
          <c:cat>
            <c:strRef>
              <c:f>Sheet1!$A$2:$A$15</c:f>
              <c:strCache>
                <c:ptCount val="14"/>
                <c:pt idx="0">
                  <c:v>Kangaroo Point townhouses</c:v>
                </c:pt>
                <c:pt idx="1">
                  <c:v>West End brewery</c:v>
                </c:pt>
                <c:pt idx="2">
                  <c:v>Rocklea factory</c:v>
                </c:pt>
                <c:pt idx="3">
                  <c:v>Wacol logistics depot</c:v>
                </c:pt>
                <c:pt idx="4">
                  <c:v>Milton office tower</c:v>
                </c:pt>
                <c:pt idx="5">
                  <c:v>Bulimba school</c:v>
                </c:pt>
                <c:pt idx="6">
                  <c:v>Chermside retail centre</c:v>
                </c:pt>
                <c:pt idx="7">
                  <c:v>Southbank cafe group</c:v>
                </c:pt>
                <c:pt idx="8">
                  <c:v>Fortitude Valley hotel</c:v>
                </c:pt>
                <c:pt idx="9">
                  <c:v>Riverside Apartments (strata)</c:v>
                </c:pt>
                <c:pt idx="10">
                  <c:v>Newstead gym</c:v>
                </c:pt>
                <c:pt idx="11">
                  <c:v>Ashgrove aged care</c:v>
                </c:pt>
                <c:pt idx="12">
                  <c:v>Wynnum medical centre</c:v>
                </c:pt>
                <c:pt idx="13">
                  <c:v>Carindale vet clinic</c:v>
                </c:pt>
              </c:strCache>
            </c:strRef>
          </c:cat>
          <c:val>
            <c:numRef>
              <c:f>Sheet1!$B$2:$B$15</c:f>
              <c:numCache>
                <c:formatCode>0.0"%";[Red](0.0"%")</c:formatCode>
                <c:ptCount val="14"/>
                <c:pt idx="0">
                  <c:v>62.9</c:v>
                </c:pt>
                <c:pt idx="1">
                  <c:v>63.1</c:v>
                </c:pt>
                <c:pt idx="2">
                  <c:v>63.1</c:v>
                </c:pt>
                <c:pt idx="3">
                  <c:v>63.4</c:v>
                </c:pt>
                <c:pt idx="4">
                  <c:v>63.4</c:v>
                </c:pt>
                <c:pt idx="5">
                  <c:v>63.6</c:v>
                </c:pt>
                <c:pt idx="6">
                  <c:v>63.8</c:v>
                </c:pt>
                <c:pt idx="7">
                  <c:v>64.0</c:v>
                </c:pt>
                <c:pt idx="8">
                  <c:v>64.2</c:v>
                </c:pt>
                <c:pt idx="9">
                  <c:v>64.3</c:v>
                </c:pt>
                <c:pt idx="10">
                  <c:v>64.3</c:v>
                </c:pt>
                <c:pt idx="11">
                  <c:v>64.4</c:v>
                </c:pt>
                <c:pt idx="12">
                  <c:v>65.1</c:v>
                </c:pt>
                <c:pt idx="13">
                  <c:v>66.2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6.13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cat>
            <c:strRef>
              <c:f>Sheet1!$A$2:$A$6</c:f>
              <c:strCache>
                <c:ptCount val="5"/>
                <c:pt idx="0">
                  <c:v>Wynnum house solar</c:v>
                </c:pt>
                <c:pt idx="1">
                  <c:v>Rocklea factory switchboard</c:v>
                </c:pt>
                <c:pt idx="2">
                  <c:v>Newstead gym air-con</c:v>
                </c:pt>
                <c:pt idx="3">
                  <c:v>Valley office cabling</c:v>
                </c:pt>
                <c:pt idx="4">
                  <c:v>Ashgrove hall LED lighting</c:v>
                </c:pt>
              </c:strCache>
            </c:strRef>
          </c:cat>
          <c:val>
            <c:numRef>
              <c:f>Sheet1!$B$2:$B$6</c:f>
              <c:numCache>
                <c:formatCode>0.0"%";[Red](0.0"%")</c:formatCode>
                <c:ptCount val="5"/>
                <c:pt idx="0">
                  <c:v>36.1</c:v>
                </c:pt>
                <c:pt idx="1">
                  <c:v>38.2</c:v>
                </c:pt>
                <c:pt idx="2">
                  <c:v>42.1</c:v>
                </c:pt>
                <c:pt idx="3">
                  <c:v>44.9</c:v>
                </c:pt>
                <c:pt idx="4">
                  <c:v>46.2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3.13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1-hour call-outs (8)</c:v>
                </c:pt>
                <c:pt idx="1">
                  <c:v>1.5-hour call-outs (7)</c:v>
                </c:pt>
                <c:pt idx="2">
                  <c:v>2-hour call-outs (14)</c:v>
                </c:pt>
                <c:pt idx="3">
                  <c:v>3-hour call-outs (15)</c:v>
                </c:pt>
                <c:pt idx="4">
                  <c:v>2.5-hour call-outs (7)</c:v>
                </c:pt>
                <c:pt idx="5">
                  <c:v>4-hour call-outs (7)</c:v>
                </c:pt>
              </c:strCache>
            </c:strRef>
          </c:cat>
          <c:val>
            <c:numRef>
              <c:f>Sheet1!$B$2:$B$7</c:f>
              <c:numCache>
                <c:formatCode>0.0"%";[Red](0.0"%")</c:formatCode>
                <c:ptCount val="6"/>
                <c:pt idx="0">
                  <c:v>42.6</c:v>
                </c:pt>
                <c:pt idx="1">
                  <c:v>44.5</c:v>
                </c:pt>
                <c:pt idx="2">
                  <c:v>48.2</c:v>
                </c:pt>
                <c:pt idx="3">
                  <c:v>48.6</c:v>
                </c:pt>
                <c:pt idx="4">
                  <c:v>49.5</c:v>
                </c:pt>
                <c:pt idx="5">
                  <c:v>50.4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7.959999999999994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0.0"%";[Red](0.0"%")</c:formatCode>
                <c:ptCount val="23"/>
                <c:pt idx="0">
                  <c:v>40.1</c:v>
                </c:pt>
                <c:pt idx="1">
                  <c:v>43.5</c:v>
                </c:pt>
                <c:pt idx="2">
                  <c:v>46.5</c:v>
                </c:pt>
                <c:pt idx="3">
                  <c:v>48.5</c:v>
                </c:pt>
                <c:pt idx="4">
                  <c:v>42.9</c:v>
                </c:pt>
                <c:pt idx="5">
                  <c:v>43.0</c:v>
                </c:pt>
                <c:pt idx="6">
                  <c:v>44.7</c:v>
                </c:pt>
                <c:pt idx="7">
                  <c:v>42.1</c:v>
                </c:pt>
                <c:pt idx="8">
                  <c:v>46.8</c:v>
                </c:pt>
                <c:pt idx="9">
                  <c:v>42.3</c:v>
                </c:pt>
                <c:pt idx="10">
                  <c:v>49.5</c:v>
                </c:pt>
                <c:pt idx="11">
                  <c:v>44.0</c:v>
                </c:pt>
                <c:pt idx="12">
                  <c:v>44.7</c:v>
                </c:pt>
                <c:pt idx="13">
                  <c:v>40.5</c:v>
                </c:pt>
                <c:pt idx="14">
                  <c:v>43.7</c:v>
                </c:pt>
                <c:pt idx="15">
                  <c:v>41.9</c:v>
                </c:pt>
                <c:pt idx="16">
                  <c:v>44.9</c:v>
                </c:pt>
                <c:pt idx="17">
                  <c:v>42.2</c:v>
                </c:pt>
                <c:pt idx="18">
                  <c:v>47.7</c:v>
                </c:pt>
                <c:pt idx="19">
                  <c:v>45.2</c:v>
                </c:pt>
                <c:pt idx="20">
                  <c:v>44.8</c:v>
                </c:pt>
                <c:pt idx="21">
                  <c:v>43.4</c:v>
                </c:pt>
                <c:pt idx="22">
                  <c:v>47.2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6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jobs actually make money?. Sample Electrical &amp; Air Pty Ltd. Period: August 2026. In short: Jobs made a 47.2% gross margin in August: maintenance contracts the most (63.9%), installations the least (40.8%). Every job's gross margin: revenue less materials, subcontractors and technician time at $68 an hour (fully loaded: wages and all on-costs). Pick a type of job and every number, chart and note on the page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gross margin to profit. August's jobs made $94,153 gross margin (47.2%). Technician time not charged to jobs took $27,812 and overheads $59,500, leaving $6,841 profit before tax (3.4% of revenue). To cover overheads, jobs need a 43.8%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jobs. Job gross margin, August · All jobs: 47.2%; Job gross margin, July · All jobs: 43.4%; Gross margin jobs need to break even: 43.8%. In August maintenance contracts made a 63.9% job gross margin, installations made a 40.8% job gross margin, call-outs and repairs made a 48.2% job gross margin (technician time at $68 an hour, wages and all on-costs). Jobs need 43.8% just to cover overheads. Installations: 40.8% gross margin, 5.8 points over the 35.0% target ($7,100 ahead on $122,800 in August). Maintenance contracts: 63.9% gross margin, 28.9 points over the 35.0% target ($13,094 ahead on $45,350 in August).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Maintenance contracts. Job gross margin, August · Maintenance contracts: 63.9%; Job gross margin, July · Maintenance contracts: 63.9%; Gross margin jobs need to break even: 43.8%. All 14 contracts made more than the 35.0% job gross margin target. The thinnest was Kangaroo Point townhouses at 62.9% job gross margin: 14.0 h of technician time on a $2,700 monthly fee. The thinnest, Kangaroo Point townhouses: 62.9% gross margin, 27.9 points over the 35.0% target ($753 ahead on $2,700 in August). All maintenance contracts: 63.9% gross margin, 28.9 points over the 35.0% target ($13,094 ahead on $45,350 in August).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 gross margin on each maintenance contract, August 2026. The month's fee less materials and technician time at $68/hour. Target 35.0% is what to price for; break-even 43.8% only covers overheads and time not charged.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Installations. Job gross margin, August · Installations: 40.8%; Job gross margin, July · Installations: 36.0%; Gross margin jobs need to break even: 43.8%. 0 of the 5 installation jobs invoiced in August made less than the 35.0% job gross margin target. The Wynnum house solar made a 36.1% job gross margin: 36.0 h of technician time ($2,448) and $2,200 of subcontractors on a $22,000 job. Jobs need 43.8% gross margin just to cover overheads. Every installation cleared the 35.0% target. Most profitable: Ashgrove hall LED lighting (46.2%).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Call-outs and repairs. Job gross margin, August · Call-outs and repairs: 48.2%; Job gross margin, July · Call-outs and repairs: 47.8%; Gross margin jobs need to break even: 43.8%; Technician time charged, August: $22,338; Materials charged, August: $9,035. 58 call-outs in August billed $22,338 of technician time and $9,035 of materials ($6,950 at cost plus 30%), and made a 48.2% job gross margin between them. Gross margins run from 42.6% to 50.4% by length: the hourly rate covers technician time comfortably, so the gross margin mostly moves with how much material goes on the van. All call-outs: 48.2% gross margin, 13.2 points over the 35.0% target ($4,126 ahead on $31,373 in August).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 gross margin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jobs actually make money?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August 2026. In short: Jobs made a 47.2% gross margin in August: maintenance contracts the most (63.9%), installations the least (40.8%). Every job's gross margin: revenue less materials, subcontractors and technician time at $68 an hour (fully loaded: wages and all on-costs). Pick a type of job and every number, chart and note on the page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2026: Locked. August 2026 is locked (closed 2 Sep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From gross margin to profit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August's jobs made $94,153 gross margin (47.2%). Technician time not charged to jobs took $27,812 and overheads $59,500, leaving $6,841 profit before tax (3.4% of revenue). To cover overheads, jobs need a 43.8%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9136"/>
          <a:ext cx="11277294" cy="34198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08734"/>
                <a:gridCol w="766856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on jobs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$94,153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wages and on-costs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$72,352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time charged to jobs (at cost)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$44,540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time not charged to jobs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$27,812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profit (the P&amp;L)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$66,341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Overheads (operating expenses, depreciation, interest)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$59,500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Profit before tax (the P&amp;L)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$6,841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Revenue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$199,523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on jobs,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Profit before tax, % of revenue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3.4%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jobs need just to cover overheads and time not charged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jobs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by type of job, August 2026.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August · All jobs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47.2%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July · All jobs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43.4%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43.8%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(August)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18836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6955705" y="2661025"/>
            <a:ext cx="0" cy="1657625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858425" y="431865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38985" y="2661025"/>
            <a:ext cx="0" cy="1657625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641705" y="455639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43.8%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9110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0459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202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 August maintenance contracts made a 63.9% job gross margin, installations made a 40.8% job gross margin, call-outs and repairs made a 48.2% job gross margin (technician time at $68 an hour, wages and all on-costs). Jobs need 43.8% just to cover overheads.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499110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0459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3202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40.8% gross margin, 5.8 points over the 35.0% target ($7,100 ahead on $122,800 in August). Maintenance contracts: 63.9% gross margin, 28.9 points over the 35.0% target ($13,094 ahead on $45,350 in August).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August · Maintenance contracts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2498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29658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July · Maintenance contracts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64956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956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43.8%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(August)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8600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594360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6151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All 14 contracts made more than the 35.0% job gross margin target. The thinnest was Kangaroo Point townhouses at 62.9% job gross margin: 14.0 h of technician time on a $2,700 monthly fee.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3007" y="228600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370167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26151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thinnest, Kangaroo Point townhouses: 62.9% gross margin, 27.9 points over the 35.0% target ($753 ahead on $2,700 in August). All maintenance contracts: 63.9% gross margin, 28.9 points over the 35.0% target ($13,094 ahead on $45,350 in August).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 gross margin on each maintenance contract, August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The month's fee less materials and technician time at $68/hour. Target 35.0% is what to price for; break-even 43.8% only covers overheads and time not charged.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9136"/>
          <a:ext cx="11277295" cy="43373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6847469" y="1599255"/>
            <a:ext cx="0" cy="381682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750189" y="5416082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03535" y="1599255"/>
            <a:ext cx="0" cy="3816827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06255" y="5653826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43.8%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on each installation invoiced in August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August · Installations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40.8%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July · Installations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36.0%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43.8%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(August)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8149236" y="2668112"/>
            <a:ext cx="0" cy="1865498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051956" y="453361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232603" y="2668112"/>
            <a:ext cx="0" cy="1865498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135323" y="477135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43.8%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27320"/>
            <a:ext cx="5501487" cy="11277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0 of the 5 installation jobs invoiced in August made less than the 35.0% job gross margin target. The Wynnum house solar made a 36.1% job gross margin: 36.0 h of technician time ($2,448) and $2,200 of subcontractors on a $22,000 job. Jobs need 43.8% gross margin just to cover overheads.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227320"/>
            <a:ext cx="5501487" cy="11277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Every installation cleared the 35.0% target. Most profitable: Ashgrove hall LED lighting (46.2%).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on call-outs by length, August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August · Call-outs and repairs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48.2%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58379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2895539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July · Call-outs and repairs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5539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47.8%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5539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59558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196718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6718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43.8%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6718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(August)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737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7497897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Technician time charged, August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7897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$22,338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7897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71.2% of call-out revenue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61916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9799076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Materials charged, August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9076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$9,035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99076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$6,950 at cost, plus 30%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27" name="Connector 26"/>
          <p:cNvCxnSpPr/>
          <p:nvPr/>
        </p:nvCxnSpPr>
        <p:spPr>
          <a:xfrm>
            <a:off x="7790165" y="2668112"/>
            <a:ext cx="0" cy="1865498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692885" y="453361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783252" y="2668112"/>
            <a:ext cx="0" cy="1865498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685972" y="477135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43.8%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27320"/>
            <a:ext cx="5501487" cy="11277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594360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58 call-outs in August billed $22,338 of technician time and $9,035 of materials ($6,950 at cost plus 30%), and made a 48.2% job gross margin between them. Gross margins run from 42.6% to 50.4% by length: the hourly rate covers technician time comfortably, so the gross margin mostly moves with how much material goes on the van.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3007" y="5227320"/>
            <a:ext cx="5501487" cy="11277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6370167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0167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All call-outs: 48.2% gross margin, 13.2 points over the 35.0% target ($4,126 ahead on $31,373 in August).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 gross margin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