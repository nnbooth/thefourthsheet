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Sheet1!$A$2:$A$24</c:f>
              <c:strCache>
                <c:ptCount val="2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</c:strCache>
            </c:strRef>
          </c:cat>
          <c:val>
            <c:numRef>
              <c:f>Sheet1!$B$2:$B$24</c:f>
              <c:numCache>
                <c:formatCode>$#,##0;[Red]($#,##0);"-"</c:formatCode>
                <c:ptCount val="23"/>
                <c:pt idx="0">
                  <c:v>191014</c:v>
                </c:pt>
                <c:pt idx="1">
                  <c:v>200124</c:v>
                </c:pt>
                <c:pt idx="2">
                  <c:v>159406</c:v>
                </c:pt>
                <c:pt idx="3">
                  <c:v>156794</c:v>
                </c:pt>
                <c:pt idx="4">
                  <c:v>179190</c:v>
                </c:pt>
                <c:pt idx="5">
                  <c:v>150465</c:v>
                </c:pt>
                <c:pt idx="6">
                  <c:v>138865</c:v>
                </c:pt>
                <c:pt idx="7">
                  <c:v>144649</c:v>
                </c:pt>
                <c:pt idx="8">
                  <c:v>183265</c:v>
                </c:pt>
                <c:pt idx="9">
                  <c:v>208588</c:v>
                </c:pt>
                <c:pt idx="10">
                  <c:v>155118</c:v>
                </c:pt>
                <c:pt idx="11">
                  <c:v>143077</c:v>
                </c:pt>
                <c:pt idx="12">
                  <c:v>143566</c:v>
                </c:pt>
                <c:pt idx="13">
                  <c:v>194966</c:v>
                </c:pt>
                <c:pt idx="14">
                  <c:v>150283</c:v>
                </c:pt>
                <c:pt idx="15">
                  <c:v>183306</c:v>
                </c:pt>
                <c:pt idx="16">
                  <c:v>218908</c:v>
                </c:pt>
                <c:pt idx="17">
                  <c:v>213578</c:v>
                </c:pt>
                <c:pt idx="18">
                  <c:v>183967</c:v>
                </c:pt>
                <c:pt idx="19">
                  <c:v>180342</c:v>
                </c:pt>
                <c:pt idx="20">
                  <c:v>193032</c:v>
                </c:pt>
                <c:pt idx="21">
                  <c:v>215610</c:v>
                </c:pt>
                <c:pt idx="22">
                  <c:v>199523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25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Sheet1!$A$2:$A$24</c:f>
              <c:strCache>
                <c:ptCount val="2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</c:strCache>
            </c:strRef>
          </c:cat>
          <c:val>
            <c:numRef>
              <c:f>Sheet1!$B$2:$B$24</c:f>
              <c:numCache>
                <c:formatCode>$#,##0;[Red]($#,##0);"-"</c:formatCode>
                <c:ptCount val="23"/>
                <c:pt idx="0">
                  <c:v>27650</c:v>
                </c:pt>
                <c:pt idx="1">
                  <c:v>27650</c:v>
                </c:pt>
                <c:pt idx="2">
                  <c:v>27650</c:v>
                </c:pt>
                <c:pt idx="3">
                  <c:v>27650</c:v>
                </c:pt>
                <c:pt idx="4">
                  <c:v>31300</c:v>
                </c:pt>
                <c:pt idx="5">
                  <c:v>31300</c:v>
                </c:pt>
                <c:pt idx="6">
                  <c:v>31300</c:v>
                </c:pt>
                <c:pt idx="7">
                  <c:v>31300</c:v>
                </c:pt>
                <c:pt idx="8">
                  <c:v>35720</c:v>
                </c:pt>
                <c:pt idx="9">
                  <c:v>37200</c:v>
                </c:pt>
                <c:pt idx="10">
                  <c:v>37200</c:v>
                </c:pt>
                <c:pt idx="11">
                  <c:v>37200</c:v>
                </c:pt>
                <c:pt idx="12">
                  <c:v>40100</c:v>
                </c:pt>
                <c:pt idx="13">
                  <c:v>40100</c:v>
                </c:pt>
                <c:pt idx="14">
                  <c:v>40100</c:v>
                </c:pt>
                <c:pt idx="15">
                  <c:v>40100</c:v>
                </c:pt>
                <c:pt idx="16">
                  <c:v>42000</c:v>
                </c:pt>
                <c:pt idx="17">
                  <c:v>42000</c:v>
                </c:pt>
                <c:pt idx="18">
                  <c:v>42000</c:v>
                </c:pt>
                <c:pt idx="19">
                  <c:v>45350</c:v>
                </c:pt>
                <c:pt idx="20">
                  <c:v>45350</c:v>
                </c:pt>
                <c:pt idx="21">
                  <c:v>45350</c:v>
                </c:pt>
                <c:pt idx="22">
                  <c:v>45350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5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Sheet1!$A$2:$A$24</c:f>
              <c:strCache>
                <c:ptCount val="2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</c:strCache>
            </c:strRef>
          </c:cat>
          <c:val>
            <c:numRef>
              <c:f>Sheet1!$B$2:$B$24</c:f>
              <c:numCache>
                <c:formatCode>$#,##0;[Red]($#,##0);"-"</c:formatCode>
                <c:ptCount val="23"/>
                <c:pt idx="0">
                  <c:v>141600</c:v>
                </c:pt>
                <c:pt idx="1">
                  <c:v>147100</c:v>
                </c:pt>
                <c:pt idx="2">
                  <c:v>103700</c:v>
                </c:pt>
                <c:pt idx="3">
                  <c:v>100100</c:v>
                </c:pt>
                <c:pt idx="4">
                  <c:v>118600</c:v>
                </c:pt>
                <c:pt idx="5">
                  <c:v>96400</c:v>
                </c:pt>
                <c:pt idx="6">
                  <c:v>83900</c:v>
                </c:pt>
                <c:pt idx="7">
                  <c:v>89900</c:v>
                </c:pt>
                <c:pt idx="8">
                  <c:v>126300</c:v>
                </c:pt>
                <c:pt idx="9">
                  <c:v>152100</c:v>
                </c:pt>
                <c:pt idx="10">
                  <c:v>96500</c:v>
                </c:pt>
                <c:pt idx="11">
                  <c:v>84200</c:v>
                </c:pt>
                <c:pt idx="12">
                  <c:v>79300</c:v>
                </c:pt>
                <c:pt idx="13">
                  <c:v>126900</c:v>
                </c:pt>
                <c:pt idx="14">
                  <c:v>78100</c:v>
                </c:pt>
                <c:pt idx="15">
                  <c:v>109100</c:v>
                </c:pt>
                <c:pt idx="16">
                  <c:v>144800</c:v>
                </c:pt>
                <c:pt idx="17">
                  <c:v>144900</c:v>
                </c:pt>
                <c:pt idx="18">
                  <c:v>116900</c:v>
                </c:pt>
                <c:pt idx="19">
                  <c:v>103400</c:v>
                </c:pt>
                <c:pt idx="20">
                  <c:v>115600</c:v>
                </c:pt>
                <c:pt idx="21">
                  <c:v>143000</c:v>
                </c:pt>
                <c:pt idx="22">
                  <c:v>122800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20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Sheet1!$A$2:$A$24</c:f>
              <c:strCache>
                <c:ptCount val="2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</c:strCache>
            </c:strRef>
          </c:cat>
          <c:val>
            <c:numRef>
              <c:f>Sheet1!$B$2:$B$24</c:f>
              <c:numCache>
                <c:formatCode>$#,##0;[Red]($#,##0);"-"</c:formatCode>
                <c:ptCount val="23"/>
                <c:pt idx="0">
                  <c:v>21764</c:v>
                </c:pt>
                <c:pt idx="1">
                  <c:v>25374</c:v>
                </c:pt>
                <c:pt idx="2">
                  <c:v>28056</c:v>
                </c:pt>
                <c:pt idx="3">
                  <c:v>29044</c:v>
                </c:pt>
                <c:pt idx="4">
                  <c:v>29290</c:v>
                </c:pt>
                <c:pt idx="5">
                  <c:v>22765</c:v>
                </c:pt>
                <c:pt idx="6">
                  <c:v>23665</c:v>
                </c:pt>
                <c:pt idx="7">
                  <c:v>23449</c:v>
                </c:pt>
                <c:pt idx="8">
                  <c:v>21245</c:v>
                </c:pt>
                <c:pt idx="9">
                  <c:v>19288</c:v>
                </c:pt>
                <c:pt idx="10">
                  <c:v>21418</c:v>
                </c:pt>
                <c:pt idx="11">
                  <c:v>21677</c:v>
                </c:pt>
                <c:pt idx="12">
                  <c:v>24166</c:v>
                </c:pt>
                <c:pt idx="13">
                  <c:v>27966</c:v>
                </c:pt>
                <c:pt idx="14">
                  <c:v>32083</c:v>
                </c:pt>
                <c:pt idx="15">
                  <c:v>34106</c:v>
                </c:pt>
                <c:pt idx="16">
                  <c:v>32108</c:v>
                </c:pt>
                <c:pt idx="17">
                  <c:v>26678</c:v>
                </c:pt>
                <c:pt idx="18">
                  <c:v>25067</c:v>
                </c:pt>
                <c:pt idx="19">
                  <c:v>31592</c:v>
                </c:pt>
                <c:pt idx="20">
                  <c:v>32082</c:v>
                </c:pt>
                <c:pt idx="21">
                  <c:v>27260</c:v>
                </c:pt>
                <c:pt idx="22">
                  <c:v>31373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products and services are growing?. Sample Electrical &amp; Air Pty Ltd. Period: August 2026.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All. August against August last year: 28.6%; Year to date against the same period last year: 14.1%; Gross margin, year to date: 45.2%. Revenue is 14.1% up on the same period last year, year to date ($415,133 against $363,706). Maintenance contracts make the highest gross margin (63.9%); Installations the lowest (38.2%). The business needs 43.8% gross margin just to cover overheads. Installations: 38.2% gross margin, 3.2 points over the 35.0% target ($8,530 ahead on $265,800 this financial year to date). Maintenance contracts: 63.9% gross margin, 28.9 points over the 35.0% target ($26,187 ahead on $90,700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Maintenance contracts. August against August last year: 21.9%; Year to date against the same period last year: 21.9%; Gross margin, year to date: 63.9%. Maintenance contracts brought in $90,700 this financial year to date, 21.9% on the same period last year (faster than the business as a whole, 14.1%), at a 63.9% gross margin (above the 45.2% overall). Maintenance contracts: 63.9% gross margin, 28.9 points over the 35.0% target ($26,187 ahead on $90,700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Installations. August against August last year: 27.3%; Year to date against the same period last year: 6.9%; Gross margin, year to date: 38.2%. Installations brought in $265,800 this financial year to date, 6.9% on the same period last year (slower than the business as a whole, 14.1%), at a 38.2% gross margin (below the 45.2% overall). Installations: 38.2% gross margin, 3.2 points over the 35.0% target ($8,530 ahead on $265,800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Call-outs and repairs. August against August last year: 46.5%; Year to date against the same period last year: 44.0%; Gross margin, year to date: 48.0%. Call-outs and repairs brought in $58,633 this financial year to date, 44.0% on the same period last year (faster than the business as a whole, 14.1%), at a 48.0% gross margin (above the 45.2% overall). Call-outs and repairs: 48.0% gross margin, 13.0 points over the 35.0% target ($7,625 ahead on $58,633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 line: financial year to date (Jul to Aug 2026) against the same period last year · Trades. From gross margin to profit: August's jobs made $94,153 gross margin (47.2%). Technician time not charged to jobs took $27,812 and overheads $59,500, leaving $6,841 profit before tax (3.4% of revenue). To cover overheads, jobs need a 43.8%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products and services are growing?</a:t>
            </a:r>
          </a:p>
        </p:txBody>
      </p:sp>
      <p:pic>
        <p:nvPicPr>
          <p:cNvPr id="3" name="Picture 2" descr="mark-4th-1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457200"/>
            <a:ext cx="82296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August 2026.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2026: Locked. August 2026 is locked (closed 2 Sep 2026).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All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All. Gross margin is not profit.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against August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28.6%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$199,523 against $155,118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against the same period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14.1%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$415,133 against $363,706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45.2%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$187,639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318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Revenue is 14.1% up on the same period last year, year to date ($415,133 against $363,706). Maintenance contracts make the highest gross margin (63.9%); Installations the lowest (38.2%). The business needs 43.8% gross margin just to cover overheads.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38.2% gross margin, 3.2 points over the 35.0% target ($8,530 ahead on $265,800 this financial year to date). Maintenance contracts: 63.9% gross margin, 28.9 points over the 35.0% target ($26,187 ahead on $90,700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Maintenance contracts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Maintenance contracts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against August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21.9%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$45,350 against $37,200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against the same period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21.9%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$90,700 against $74,400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63.9%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$57,932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Maintenance contracts brought in $90,700 this financial year to date, 21.9% on the same period last year (faster than the business as a whole, 14.1%), at a 63.9% gross margin (above the 45.2%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Maintenance contracts: 63.9% gross margin, 28.9 points over the 35.0% target ($26,187 ahead on $90,700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Installations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Installations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against August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27.3%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$122,800 against $96,500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against the same period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6.9%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$265,800 against $248,600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38.2%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$101,560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 brought in $265,800 this financial year to date, 6.9% on the same period last year (slower than the business as a whole, 14.1%), at a 38.2% gross margin (below the 45.2%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38.2% gross margin, 3.2 points over the 35.0% target ($8,530 ahead on $265,800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Call-outs and repairs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Call-outs and repairs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against August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46.5%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$31,373 against $21,418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against the same period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44.0%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$58,633 against $40,706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48.0%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$28,147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Call-outs and repairs brought in $58,633 this financial year to date, 44.0% on the same period last year (faster than the business as a whole, 14.1%), at a 48.0% gross margin (above the 45.2%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Call-outs and repairs: 48.0% gross margin, 13.0 points over the 35.0% target ($7,625 ahead on $58,633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71932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000" b="1">
                <a:solidFill>
                  <a:srgbClr val="25342A"/>
                </a:solidFill>
                <a:latin typeface="Roboto"/>
              </a:rPr>
              <a:t>By line: financial year to date (Jul to Aug 2026) against the same period last year · Trades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5824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From gross margin to profit: August's jobs made $94,153 gross margin (47.2%). Technician time not charged to jobs took $27,812 and overheads $59,500, leaving $6,841 profit before tax (3.4% of revenue). To cover overheads, jobs need a 43.8%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712976"/>
          <a:ext cx="11277295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549"/>
                <a:gridCol w="1879549"/>
                <a:gridCol w="1879549"/>
                <a:gridCol w="1879549"/>
                <a:gridCol w="1879549"/>
                <a:gridCol w="187955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Year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Same period last year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Growth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%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Maintenance contracts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$90,700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$74,400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21.9%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$57,932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63.9%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Installations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$265,800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$248,600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6.9%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$101,560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38.2%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Call-outs and repairs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$58,633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$40,706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44.0%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$28,147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48.0%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$415,133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$363,706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14.1%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$187,639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45.2%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