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1"/>
          <c:y val="0.05"/>
          <c:w val="0.86"/>
          <c:h val="0.8"/>
        </c:manualLayout>
      </c:layout>
      <c:areaChart>
        <c:grouping val="standard"/>
        <c:varyColors val="0"/>
        <c:ser>
          <c:idx val="0"/>
          <c:order val="0"/>
          <c:tx>
            <c:strRef>
              <c:f>Sheet1!$B$1</c:f>
              <c:strCache>
                <c:ptCount val="1"/>
                <c:pt idx="0">
                  <c:v>Cash at bank $</c:v>
                </c:pt>
              </c:strCache>
            </c:strRef>
          </c:tx>
          <c:spPr>
            <a:solidFill>
              <a:srgbClr val="0E9F6E">
                <a:alpha val="25000"/>
              </a:srgbClr>
            </a:solidFill>
            <a:ln w="31750">
              <a:solidFill>
                <a:srgbClr val="0E9F6E"/>
              </a:solidFill>
            </a:ln>
          </c:spPr>
          <c:cat>
            <c:strRef>
              <c:f>Sheet1!$A$2:$A$123</c:f>
              <c:strCache>
                <c:ptCount val="122"/>
                <c:pt idx="0">
                  <c:v>1 Aug</c:v>
                </c:pt>
                <c:pt idx="1">
                  <c:v>2 Aug</c:v>
                </c:pt>
                <c:pt idx="2">
                  <c:v>3 Aug</c:v>
                </c:pt>
                <c:pt idx="3">
                  <c:v>4 Aug</c:v>
                </c:pt>
                <c:pt idx="4">
                  <c:v>5 Aug</c:v>
                </c:pt>
                <c:pt idx="5">
                  <c:v>6 Aug</c:v>
                </c:pt>
                <c:pt idx="6">
                  <c:v>7 Aug</c:v>
                </c:pt>
                <c:pt idx="7">
                  <c:v>8 Aug</c:v>
                </c:pt>
                <c:pt idx="8">
                  <c:v>9 Aug</c:v>
                </c:pt>
                <c:pt idx="9">
                  <c:v>10 Aug</c:v>
                </c:pt>
                <c:pt idx="10">
                  <c:v>11 Aug</c:v>
                </c:pt>
                <c:pt idx="11">
                  <c:v>12 Aug</c:v>
                </c:pt>
                <c:pt idx="12">
                  <c:v>13 Aug</c:v>
                </c:pt>
                <c:pt idx="13">
                  <c:v>14 Aug</c:v>
                </c:pt>
                <c:pt idx="14">
                  <c:v>15 Aug</c:v>
                </c:pt>
                <c:pt idx="15">
                  <c:v>16 Aug</c:v>
                </c:pt>
                <c:pt idx="16">
                  <c:v>17 Aug</c:v>
                </c:pt>
                <c:pt idx="17">
                  <c:v>18 Aug</c:v>
                </c:pt>
                <c:pt idx="18">
                  <c:v>19 Aug</c:v>
                </c:pt>
                <c:pt idx="19">
                  <c:v>20 Aug</c:v>
                </c:pt>
                <c:pt idx="20">
                  <c:v>21 Aug</c:v>
                </c:pt>
                <c:pt idx="21">
                  <c:v>22 Aug</c:v>
                </c:pt>
                <c:pt idx="22">
                  <c:v>23 Aug</c:v>
                </c:pt>
                <c:pt idx="23">
                  <c:v>24 Aug</c:v>
                </c:pt>
                <c:pt idx="24">
                  <c:v>25 Aug</c:v>
                </c:pt>
                <c:pt idx="25">
                  <c:v>26 Aug</c:v>
                </c:pt>
                <c:pt idx="26">
                  <c:v>27 Aug</c:v>
                </c:pt>
                <c:pt idx="27">
                  <c:v>28 Aug</c:v>
                </c:pt>
                <c:pt idx="28">
                  <c:v>29 Aug</c:v>
                </c:pt>
                <c:pt idx="29">
                  <c:v>30 Aug</c:v>
                </c:pt>
                <c:pt idx="30">
                  <c:v>31 Aug</c:v>
                </c:pt>
                <c:pt idx="31">
                  <c:v>1 Sep</c:v>
                </c:pt>
                <c:pt idx="32">
                  <c:v>2 Sep</c:v>
                </c:pt>
                <c:pt idx="33">
                  <c:v>3 Sep</c:v>
                </c:pt>
                <c:pt idx="34">
                  <c:v>4 Sep</c:v>
                </c:pt>
                <c:pt idx="35">
                  <c:v>5 Sep</c:v>
                </c:pt>
                <c:pt idx="36">
                  <c:v>6 Sep</c:v>
                </c:pt>
                <c:pt idx="37">
                  <c:v>7 Sep</c:v>
                </c:pt>
                <c:pt idx="38">
                  <c:v>8 Sep</c:v>
                </c:pt>
                <c:pt idx="39">
                  <c:v>9 Sep</c:v>
                </c:pt>
                <c:pt idx="40">
                  <c:v>10 Sep</c:v>
                </c:pt>
                <c:pt idx="41">
                  <c:v>11 Sep</c:v>
                </c:pt>
                <c:pt idx="42">
                  <c:v>12 Sep</c:v>
                </c:pt>
                <c:pt idx="43">
                  <c:v>13 Sep</c:v>
                </c:pt>
                <c:pt idx="44">
                  <c:v>14 Sep</c:v>
                </c:pt>
                <c:pt idx="45">
                  <c:v>15 Sep</c:v>
                </c:pt>
                <c:pt idx="46">
                  <c:v>16 Sep</c:v>
                </c:pt>
                <c:pt idx="47">
                  <c:v>17 Sep</c:v>
                </c:pt>
                <c:pt idx="48">
                  <c:v>18 Sep</c:v>
                </c:pt>
                <c:pt idx="49">
                  <c:v>19 Sep</c:v>
                </c:pt>
                <c:pt idx="50">
                  <c:v>20 Sep</c:v>
                </c:pt>
                <c:pt idx="51">
                  <c:v>21 Sep</c:v>
                </c:pt>
                <c:pt idx="52">
                  <c:v>22 Sep</c:v>
                </c:pt>
                <c:pt idx="53">
                  <c:v>23 Sep</c:v>
                </c:pt>
                <c:pt idx="54">
                  <c:v>24 Sep</c:v>
                </c:pt>
                <c:pt idx="55">
                  <c:v>25 Sep</c:v>
                </c:pt>
                <c:pt idx="56">
                  <c:v>26 Sep</c:v>
                </c:pt>
                <c:pt idx="57">
                  <c:v>27 Sep</c:v>
                </c:pt>
                <c:pt idx="58">
                  <c:v>28 Sep</c:v>
                </c:pt>
                <c:pt idx="59">
                  <c:v>29 Sep</c:v>
                </c:pt>
                <c:pt idx="60">
                  <c:v>30 Sep</c:v>
                </c:pt>
                <c:pt idx="61">
                  <c:v>1 Oct</c:v>
                </c:pt>
                <c:pt idx="62">
                  <c:v>2 Oct</c:v>
                </c:pt>
                <c:pt idx="63">
                  <c:v>3 Oct</c:v>
                </c:pt>
                <c:pt idx="64">
                  <c:v>4 Oct</c:v>
                </c:pt>
                <c:pt idx="65">
                  <c:v>5 Oct</c:v>
                </c:pt>
                <c:pt idx="66">
                  <c:v>6 Oct</c:v>
                </c:pt>
                <c:pt idx="67">
                  <c:v>7 Oct</c:v>
                </c:pt>
                <c:pt idx="68">
                  <c:v>8 Oct</c:v>
                </c:pt>
                <c:pt idx="69">
                  <c:v>9 Oct</c:v>
                </c:pt>
                <c:pt idx="70">
                  <c:v>10 Oct</c:v>
                </c:pt>
                <c:pt idx="71">
                  <c:v>11 Oct</c:v>
                </c:pt>
                <c:pt idx="72">
                  <c:v>12 Oct</c:v>
                </c:pt>
                <c:pt idx="73">
                  <c:v>13 Oct</c:v>
                </c:pt>
                <c:pt idx="74">
                  <c:v>14 Oct</c:v>
                </c:pt>
                <c:pt idx="75">
                  <c:v>15 Oct</c:v>
                </c:pt>
                <c:pt idx="76">
                  <c:v>16 Oct</c:v>
                </c:pt>
                <c:pt idx="77">
                  <c:v>17 Oct</c:v>
                </c:pt>
                <c:pt idx="78">
                  <c:v>18 Oct</c:v>
                </c:pt>
                <c:pt idx="79">
                  <c:v>19 Oct</c:v>
                </c:pt>
                <c:pt idx="80">
                  <c:v>20 Oct</c:v>
                </c:pt>
                <c:pt idx="81">
                  <c:v>21 Oct</c:v>
                </c:pt>
                <c:pt idx="82">
                  <c:v>22 Oct</c:v>
                </c:pt>
                <c:pt idx="83">
                  <c:v>23 Oct</c:v>
                </c:pt>
                <c:pt idx="84">
                  <c:v>24 Oct</c:v>
                </c:pt>
                <c:pt idx="85">
                  <c:v>25 Oct</c:v>
                </c:pt>
                <c:pt idx="86">
                  <c:v>26 Oct</c:v>
                </c:pt>
                <c:pt idx="87">
                  <c:v>27 Oct</c:v>
                </c:pt>
                <c:pt idx="88">
                  <c:v>28 Oct</c:v>
                </c:pt>
                <c:pt idx="89">
                  <c:v>29 Oct</c:v>
                </c:pt>
                <c:pt idx="90">
                  <c:v>30 Oct</c:v>
                </c:pt>
                <c:pt idx="91">
                  <c:v>31 Oct</c:v>
                </c:pt>
                <c:pt idx="92">
                  <c:v>1 Nov</c:v>
                </c:pt>
                <c:pt idx="93">
                  <c:v>2 Nov</c:v>
                </c:pt>
                <c:pt idx="94">
                  <c:v>3 Nov</c:v>
                </c:pt>
                <c:pt idx="95">
                  <c:v>4 Nov</c:v>
                </c:pt>
                <c:pt idx="96">
                  <c:v>5 Nov</c:v>
                </c:pt>
                <c:pt idx="97">
                  <c:v>6 Nov</c:v>
                </c:pt>
                <c:pt idx="98">
                  <c:v>7 Nov</c:v>
                </c:pt>
                <c:pt idx="99">
                  <c:v>8 Nov</c:v>
                </c:pt>
                <c:pt idx="100">
                  <c:v>9 Nov</c:v>
                </c:pt>
                <c:pt idx="101">
                  <c:v>10 Nov</c:v>
                </c:pt>
                <c:pt idx="102">
                  <c:v>11 Nov</c:v>
                </c:pt>
                <c:pt idx="103">
                  <c:v>12 Nov</c:v>
                </c:pt>
                <c:pt idx="104">
                  <c:v>13 Nov</c:v>
                </c:pt>
                <c:pt idx="105">
                  <c:v>14 Nov</c:v>
                </c:pt>
                <c:pt idx="106">
                  <c:v>15 Nov</c:v>
                </c:pt>
                <c:pt idx="107">
                  <c:v>16 Nov</c:v>
                </c:pt>
                <c:pt idx="108">
                  <c:v>17 Nov</c:v>
                </c:pt>
                <c:pt idx="109">
                  <c:v>18 Nov</c:v>
                </c:pt>
                <c:pt idx="110">
                  <c:v>19 Nov</c:v>
                </c:pt>
                <c:pt idx="111">
                  <c:v>20 Nov</c:v>
                </c:pt>
                <c:pt idx="112">
                  <c:v>21 Nov</c:v>
                </c:pt>
                <c:pt idx="113">
                  <c:v>22 Nov</c:v>
                </c:pt>
                <c:pt idx="114">
                  <c:v>23 Nov</c:v>
                </c:pt>
                <c:pt idx="115">
                  <c:v>24 Nov</c:v>
                </c:pt>
                <c:pt idx="116">
                  <c:v>25 Nov</c:v>
                </c:pt>
                <c:pt idx="117">
                  <c:v>26 Nov</c:v>
                </c:pt>
                <c:pt idx="118">
                  <c:v>27 Nov</c:v>
                </c:pt>
                <c:pt idx="119">
                  <c:v>28 Nov</c:v>
                </c:pt>
                <c:pt idx="120">
                  <c:v>29 Nov</c:v>
                </c:pt>
                <c:pt idx="121">
                  <c:v>30 Nov</c:v>
                </c:pt>
              </c:strCache>
            </c:strRef>
          </c:cat>
          <c:val>
            <c:numRef>
              <c:f>Sheet1!$B$2:$B$123</c:f>
              <c:numCache>
                <c:formatCode>$#,##0;[Red]($#,##0);"-"</c:formatCode>
                <c:ptCount val="122"/>
                <c:pt idx="0">
                  <c:v>88000</c:v>
                </c:pt>
                <c:pt idx="1">
                  <c:v>88000</c:v>
                </c:pt>
                <c:pt idx="2">
                  <c:v>132701</c:v>
                </c:pt>
                <c:pt idx="3">
                  <c:v>151542</c:v>
                </c:pt>
                <c:pt idx="4">
                  <c:v>152596</c:v>
                </c:pt>
                <c:pt idx="5">
                  <c:v>155460</c:v>
                </c:pt>
                <c:pt idx="6">
                  <c:v>155919</c:v>
                </c:pt>
                <c:pt idx="7">
                  <c:v>155919</c:v>
                </c:pt>
                <c:pt idx="8">
                  <c:v>155919</c:v>
                </c:pt>
                <c:pt idx="9">
                  <c:v>185269</c:v>
                </c:pt>
                <c:pt idx="10">
                  <c:v>187001</c:v>
                </c:pt>
                <c:pt idx="11">
                  <c:v>187001</c:v>
                </c:pt>
                <c:pt idx="12">
                  <c:v>188241</c:v>
                </c:pt>
                <c:pt idx="13">
                  <c:v>189402</c:v>
                </c:pt>
                <c:pt idx="14">
                  <c:v>189402</c:v>
                </c:pt>
                <c:pt idx="15">
                  <c:v>189402</c:v>
                </c:pt>
                <c:pt idx="16">
                  <c:v>139498</c:v>
                </c:pt>
                <c:pt idx="17">
                  <c:v>141308</c:v>
                </c:pt>
                <c:pt idx="18">
                  <c:v>142555</c:v>
                </c:pt>
                <c:pt idx="19">
                  <c:v>106665</c:v>
                </c:pt>
                <c:pt idx="20">
                  <c:v>106665</c:v>
                </c:pt>
                <c:pt idx="21">
                  <c:v>106665</c:v>
                </c:pt>
                <c:pt idx="22">
                  <c:v>106665</c:v>
                </c:pt>
                <c:pt idx="23">
                  <c:v>112651</c:v>
                </c:pt>
                <c:pt idx="24">
                  <c:v>113267</c:v>
                </c:pt>
                <c:pt idx="25">
                  <c:v>134548</c:v>
                </c:pt>
                <c:pt idx="26">
                  <c:v>135343</c:v>
                </c:pt>
                <c:pt idx="27">
                  <c:v>132018</c:v>
                </c:pt>
                <c:pt idx="28">
                  <c:v>132018</c:v>
                </c:pt>
                <c:pt idx="29">
                  <c:v>132018</c:v>
                </c:pt>
                <c:pt idx="30">
                  <c:v>92859</c:v>
                </c:pt>
                <c:pt idx="31">
                  <c:v>92859</c:v>
                </c:pt>
                <c:pt idx="32">
                  <c:v>92859</c:v>
                </c:pt>
                <c:pt idx="33">
                  <c:v>56248</c:v>
                </c:pt>
                <c:pt idx="34">
                  <c:v>57783</c:v>
                </c:pt>
                <c:pt idx="35">
                  <c:v>57783</c:v>
                </c:pt>
                <c:pt idx="36">
                  <c:v>57783</c:v>
                </c:pt>
                <c:pt idx="37">
                  <c:v>134475</c:v>
                </c:pt>
                <c:pt idx="38">
                  <c:v>134475</c:v>
                </c:pt>
                <c:pt idx="39">
                  <c:v>134475</c:v>
                </c:pt>
                <c:pt idx="40">
                  <c:v>136011</c:v>
                </c:pt>
                <c:pt idx="41">
                  <c:v>137546</c:v>
                </c:pt>
                <c:pt idx="42">
                  <c:v>137546</c:v>
                </c:pt>
                <c:pt idx="43">
                  <c:v>137546</c:v>
                </c:pt>
                <c:pt idx="44">
                  <c:v>168442</c:v>
                </c:pt>
                <c:pt idx="45">
                  <c:v>117276</c:v>
                </c:pt>
                <c:pt idx="46">
                  <c:v>117276</c:v>
                </c:pt>
                <c:pt idx="47">
                  <c:v>82200</c:v>
                </c:pt>
                <c:pt idx="48">
                  <c:v>104416</c:v>
                </c:pt>
                <c:pt idx="49">
                  <c:v>104416</c:v>
                </c:pt>
                <c:pt idx="50">
                  <c:v>104416</c:v>
                </c:pt>
                <c:pt idx="51">
                  <c:v>109022</c:v>
                </c:pt>
                <c:pt idx="52">
                  <c:v>109022</c:v>
                </c:pt>
                <c:pt idx="53">
                  <c:v>133222</c:v>
                </c:pt>
                <c:pt idx="54">
                  <c:v>134757</c:v>
                </c:pt>
                <c:pt idx="55">
                  <c:v>136292</c:v>
                </c:pt>
                <c:pt idx="56">
                  <c:v>136292</c:v>
                </c:pt>
                <c:pt idx="57">
                  <c:v>136292</c:v>
                </c:pt>
                <c:pt idx="58">
                  <c:v>152398</c:v>
                </c:pt>
                <c:pt idx="59">
                  <c:v>152398</c:v>
                </c:pt>
                <c:pt idx="60">
                  <c:v>100131</c:v>
                </c:pt>
                <c:pt idx="61">
                  <c:v>121395</c:v>
                </c:pt>
                <c:pt idx="62">
                  <c:v>129385</c:v>
                </c:pt>
                <c:pt idx="63">
                  <c:v>129385</c:v>
                </c:pt>
                <c:pt idx="64">
                  <c:v>129385</c:v>
                </c:pt>
                <c:pt idx="65">
                  <c:v>129385</c:v>
                </c:pt>
                <c:pt idx="66">
                  <c:v>146900</c:v>
                </c:pt>
                <c:pt idx="67">
                  <c:v>153354</c:v>
                </c:pt>
                <c:pt idx="68">
                  <c:v>159809</c:v>
                </c:pt>
                <c:pt idx="69">
                  <c:v>167799</c:v>
                </c:pt>
                <c:pt idx="70">
                  <c:v>167799</c:v>
                </c:pt>
                <c:pt idx="71">
                  <c:v>167799</c:v>
                </c:pt>
                <c:pt idx="72">
                  <c:v>185314</c:v>
                </c:pt>
                <c:pt idx="73">
                  <c:v>185314</c:v>
                </c:pt>
                <c:pt idx="74">
                  <c:v>191768</c:v>
                </c:pt>
                <c:pt idx="75">
                  <c:v>111981</c:v>
                </c:pt>
                <c:pt idx="76">
                  <c:v>119971</c:v>
                </c:pt>
                <c:pt idx="77">
                  <c:v>119971</c:v>
                </c:pt>
                <c:pt idx="78">
                  <c:v>119971</c:v>
                </c:pt>
                <c:pt idx="79">
                  <c:v>137486</c:v>
                </c:pt>
                <c:pt idx="80">
                  <c:v>137486</c:v>
                </c:pt>
                <c:pt idx="81">
                  <c:v>143940</c:v>
                </c:pt>
                <c:pt idx="82">
                  <c:v>151930</c:v>
                </c:pt>
                <c:pt idx="83">
                  <c:v>159920</c:v>
                </c:pt>
                <c:pt idx="84">
                  <c:v>159920</c:v>
                </c:pt>
                <c:pt idx="85">
                  <c:v>159920</c:v>
                </c:pt>
                <c:pt idx="86">
                  <c:v>177435</c:v>
                </c:pt>
                <c:pt idx="87">
                  <c:v>177435</c:v>
                </c:pt>
                <c:pt idx="88">
                  <c:v>92669</c:v>
                </c:pt>
                <c:pt idx="89">
                  <c:v>64048</c:v>
                </c:pt>
                <c:pt idx="90">
                  <c:v>72038</c:v>
                </c:pt>
                <c:pt idx="91">
                  <c:v>72038</c:v>
                </c:pt>
                <c:pt idx="92">
                  <c:v>72038</c:v>
                </c:pt>
                <c:pt idx="93">
                  <c:v>87171</c:v>
                </c:pt>
                <c:pt idx="94">
                  <c:v>87171</c:v>
                </c:pt>
                <c:pt idx="95">
                  <c:v>87171</c:v>
                </c:pt>
                <c:pt idx="96">
                  <c:v>95160</c:v>
                </c:pt>
                <c:pt idx="97">
                  <c:v>103150</c:v>
                </c:pt>
                <c:pt idx="98">
                  <c:v>103150</c:v>
                </c:pt>
                <c:pt idx="99">
                  <c:v>103150</c:v>
                </c:pt>
                <c:pt idx="100">
                  <c:v>120665</c:v>
                </c:pt>
                <c:pt idx="101">
                  <c:v>120665</c:v>
                </c:pt>
                <c:pt idx="102">
                  <c:v>127120</c:v>
                </c:pt>
                <c:pt idx="103">
                  <c:v>98498</c:v>
                </c:pt>
                <c:pt idx="104">
                  <c:v>106488</c:v>
                </c:pt>
                <c:pt idx="105">
                  <c:v>106488</c:v>
                </c:pt>
                <c:pt idx="106">
                  <c:v>106488</c:v>
                </c:pt>
                <c:pt idx="107">
                  <c:v>72837</c:v>
                </c:pt>
                <c:pt idx="108">
                  <c:v>72837</c:v>
                </c:pt>
                <c:pt idx="109">
                  <c:v>79292</c:v>
                </c:pt>
                <c:pt idx="110">
                  <c:v>87281</c:v>
                </c:pt>
                <c:pt idx="111">
                  <c:v>95271</c:v>
                </c:pt>
                <c:pt idx="112">
                  <c:v>95271</c:v>
                </c:pt>
                <c:pt idx="113">
                  <c:v>95271</c:v>
                </c:pt>
                <c:pt idx="114">
                  <c:v>112786</c:v>
                </c:pt>
                <c:pt idx="115">
                  <c:v>112786</c:v>
                </c:pt>
                <c:pt idx="116">
                  <c:v>119241</c:v>
                </c:pt>
                <c:pt idx="117">
                  <c:v>90619</c:v>
                </c:pt>
                <c:pt idx="118">
                  <c:v>98609</c:v>
                </c:pt>
                <c:pt idx="119">
                  <c:v>98609</c:v>
                </c:pt>
                <c:pt idx="120">
                  <c:v>98609</c:v>
                </c:pt>
                <c:pt idx="121">
                  <c:v>58857</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tickLblSkip val="14"/>
        <c:noMultiLvlLbl val="0"/>
      </c:catAx>
      <c:valAx>
        <c:axId val="-2100718248"/>
        <c:scaling>
          <c:orientation val="minMax"/>
          <c:max val="200000.0"/>
          <c:min val="0.0"/>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majorUnit val="50000.0"/>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
          <c:y val="0.03"/>
          <c:w val="0.58"/>
          <c:h val="0.88"/>
        </c:manualLayout>
      </c:layout>
      <c:barChart>
        <c:barDir val="bar"/>
        <c:grouping val="clustered"/>
        <c:ser>
          <c:idx val="0"/>
          <c:order val="0"/>
          <c:tx>
            <c:strRef>
              <c:f>Sheet1!$B$1</c:f>
              <c:strCache>
                <c:ptCount val="1"/>
                <c:pt idx="0">
                  <c:v>September: where the cash comes from and goes (forecast)</c:v>
                </c:pt>
              </c:strCache>
            </c:strRef>
          </c:tx>
          <c:dPt>
            <c:idx val="0"/>
            <c:spPr>
              <a:solidFill>
                <a:srgbClr val="B42318"/>
              </a:solidFill>
            </c:spPr>
          </c:dPt>
          <c:dPt>
            <c:idx val="1"/>
            <c:spPr>
              <a:solidFill>
                <a:srgbClr val="B42318"/>
              </a:solidFill>
            </c:spPr>
          </c:dPt>
          <c:dPt>
            <c:idx val="2"/>
            <c:spPr>
              <a:solidFill>
                <a:srgbClr val="B42318"/>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Suppliers and overheads</c:v>
                </c:pt>
                <c:pt idx="1">
                  <c:v>Pay runs (2)</c:v>
                </c:pt>
                <c:pt idx="2">
                  <c:v>Interest and equipment finance</c:v>
                </c:pt>
                <c:pt idx="3">
                  <c:v>BAS (GST and PAYG)</c:v>
                </c:pt>
                <c:pt idx="4">
                  <c:v>New work collected</c:v>
                </c:pt>
                <c:pt idx="5">
                  <c:v>Unpaid invoices collected</c:v>
                </c:pt>
              </c:strCache>
            </c:strRef>
          </c:cat>
          <c:val>
            <c:numRef>
              <c:f>Sheet1!$B$2:$B$7</c:f>
              <c:numCache>
                <c:formatCode>$#,##0;[Red]($#,##0);"-"</c:formatCode>
                <c:ptCount val="6"/>
                <c:pt idx="0">
                  <c:v>-102333</c:v>
                </c:pt>
                <c:pt idx="1">
                  <c:v>-73222</c:v>
                </c:pt>
                <c:pt idx="2">
                  <c:v>-6100</c:v>
                </c:pt>
                <c:pt idx="3">
                  <c:v>0</c:v>
                </c:pt>
                <c:pt idx="4">
                  <c:v>29171</c:v>
                </c:pt>
                <c:pt idx="5">
                  <c:v>159756</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183719.4"/>
          <c:min val="-117682.95"/>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Sample Electrical &amp; Air Pty Ltd. Period: August 2026. In short: Yes: $56,248 forecast in the bank after the 3 September pay run, the tightest in September, and at least one pay run in reserve for all 13 weeks. A 13-week cash forecast from 31 August: cash at bank, plus what customers owe on their usual payment dates and new work at its recent rate, less pay runs, supplier bills, the BAS and finance on their due dates. Every day opens its workings.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Cash at bank, 31 Aug: $92,859; Paid to employees in September: $73,222; After the tightest pay run, 3 Sep: $56,248; Lowest point, next 13 weeks: $56,248. Cash at bank was $92,859 at 31 August. September has 2 pay runs ($73,222). The tightest is 3 September: $56,248 left after paying wages, $19,637 more than a pay run in reserve. The lowest point in the 13 weeks is $56,248 on 3 September. 15 invoices ($24,676) are already past the customer's usual payment date; the forecast assumes they arrive within a week. Without them, the lowest point would be $34,181. The July to September BAS ($86,220, estimated) is due 28 October: GST $33,132, PAYG withheld $47,754 and the PAYG instalment $5,334.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September: where the cash comes from and goes (forecast). Money in, and money out in brackets. Includes GST.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weeks, week by week. Lowest in the week: amber below one pay run ($36,611), red below zero. Amounts include GST.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($24,676): the forecast assumes these arrive within a week (1 of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($24,676): the forecast assumes these arrive within a week (2 of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965960"/>
            <a:ext cx="11277295" cy="1097280"/>
          </a:xfrm>
        </p:spPr>
        <p:txBody>
          <a:bodyPr wrap="square"/>
          <a:lstStyle/>
          <a:p>
            <a:pPr algn="l">
              <a:defRPr>
                <a:latin typeface="Roboto"/>
              </a:defRPr>
            </a:pPr>
            <a:r>
              <a:rPr sz="3400" b="1">
                <a:solidFill>
                  <a:srgbClr val="25342A"/>
                </a:solidFill>
                <a:latin typeface="Roboto"/>
              </a:rPr>
              <a:t>Will cash cover payroll next month?</a:t>
            </a:r>
          </a:p>
        </p:txBody>
      </p:sp>
      <p:pic>
        <p:nvPicPr>
          <p:cNvPr id="3" name="Picture 2" descr="mark-4th-180.png"/>
          <p:cNvPicPr>
            <a:picLocks noChangeAspect="1"/>
          </p:cNvPicPr>
          <p:nvPr/>
        </p:nvPicPr>
        <p:blipFill>
          <a:blip r:embed="rId2"/>
          <a:stretch>
            <a:fillRect/>
          </a:stretch>
        </p:blipFill>
        <p:spPr>
          <a:xfrm>
            <a:off x="365760" y="457200"/>
            <a:ext cx="822960" cy="822960"/>
          </a:xfrm>
          <a:prstGeom prst="rect">
            <a:avLst/>
          </a:prstGeom>
        </p:spPr>
      </p:pic>
      <p:sp>
        <p:nvSpPr>
          <p:cNvPr id="4" name="TextBox 3"/>
          <p:cNvSpPr txBox="1"/>
          <p:nvPr/>
        </p:nvSpPr>
        <p:spPr>
          <a:xfrm>
            <a:off x="1234440" y="658368"/>
            <a:ext cx="5486400" cy="457200"/>
          </a:xfrm>
          <a:prstGeom prst="rect">
            <a:avLst/>
          </a:prstGeom>
          <a:noFill/>
        </p:spPr>
        <p:txBody>
          <a:bodyPr wrap="square" lIns="45720" rIns="45720">
            <a:spAutoFit/>
          </a:bodyPr>
          <a:lstStyle/>
          <a:p>
            <a:pPr>
              <a:defRPr>
                <a:latin typeface="Roboto"/>
              </a:defRPr>
            </a:pPr>
            <a:r>
              <a:rPr sz="1800" b="1">
                <a:solidFill>
                  <a:srgbClr val="25342A"/>
                </a:solidFill>
                <a:latin typeface="Roboto"/>
              </a:rPr>
              <a:t>The Fourth Sheet</a:t>
            </a:r>
          </a:p>
        </p:txBody>
      </p:sp>
      <p:sp>
        <p:nvSpPr>
          <p:cNvPr id="5" name="TextBox 4"/>
          <p:cNvSpPr txBox="1"/>
          <p:nvPr/>
        </p:nvSpPr>
        <p:spPr>
          <a:xfrm>
            <a:off x="457200" y="1554480"/>
            <a:ext cx="10972800" cy="365760"/>
          </a:xfrm>
          <a:prstGeom prst="rect">
            <a:avLst/>
          </a:prstGeom>
          <a:noFill/>
        </p:spPr>
        <p:txBody>
          <a:bodyPr wrap="square" lIns="45720" rIns="45720">
            <a:spAutoFit/>
          </a:bodyPr>
          <a:lstStyle/>
          <a:p>
            <a:pPr>
              <a:defRPr>
                <a:latin typeface="Roboto"/>
              </a:defRPr>
            </a:pPr>
            <a:r>
              <a:rPr sz="1100" b="1">
                <a:solidFill>
                  <a:srgbClr val="8A7A52"/>
                </a:solidFill>
                <a:latin typeface="Roboto"/>
              </a:rPr>
              <a:t>SAMPLE DATA · invented figures for demonstration</a:t>
            </a:r>
          </a:p>
        </p:txBody>
      </p:sp>
      <p:sp>
        <p:nvSpPr>
          <p:cNvPr id="6" name="TextBox 5"/>
          <p:cNvSpPr txBox="1"/>
          <p:nvPr/>
        </p:nvSpPr>
        <p:spPr>
          <a:xfrm>
            <a:off x="457200" y="3154680"/>
            <a:ext cx="11277295" cy="457200"/>
          </a:xfrm>
          <a:prstGeom prst="rect">
            <a:avLst/>
          </a:prstGeom>
          <a:noFill/>
        </p:spPr>
        <p:txBody>
          <a:bodyPr wrap="square" lIns="45720" rIns="45720">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77295" cy="980440"/>
          </a:xfrm>
          <a:prstGeom prst="rect">
            <a:avLst/>
          </a:prstGeom>
          <a:noFill/>
        </p:spPr>
        <p:txBody>
          <a:bodyPr wrap="square" lIns="45720" rIns="45720">
            <a:spAutoFit/>
          </a:bodyPr>
          <a:lstStyle/>
          <a:p>
            <a:pPr>
              <a:defRPr>
                <a:latin typeface="Roboto"/>
              </a:defRPr>
            </a:pPr>
            <a:r>
              <a:rPr sz="1400" b="0">
                <a:solidFill>
                  <a:srgbClr val="25342A"/>
                </a:solidFill>
                <a:latin typeface="Roboto"/>
              </a:rPr>
              <a:t>Period: August 2026. In short: Yes: $56,248 forecast in the bank after the 3 September pay run, the tightest in September, and at least one pay run in reserve for all 13 weeks. A 13-week cash forecast from 31 August: cash at bank, plus what customers owe on their usual payment dates and new work at its recent rate, less pay runs, supplier bills, the BAS and finance on their due dates. Every day opens its workings.</a:t>
            </a:r>
          </a:p>
        </p:txBody>
      </p:sp>
      <p:sp>
        <p:nvSpPr>
          <p:cNvPr id="8" name="TextBox 7"/>
          <p:cNvSpPr txBox="1"/>
          <p:nvPr/>
        </p:nvSpPr>
        <p:spPr>
          <a:xfrm>
            <a:off x="457200" y="4775200"/>
            <a:ext cx="11277295" cy="1097280"/>
          </a:xfrm>
          <a:prstGeom prst="rect">
            <a:avLst/>
          </a:prstGeom>
          <a:noFill/>
        </p:spPr>
        <p:txBody>
          <a:bodyPr wrap="square" lIns="45720" rIns="45720">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August 2026: Locked. August 2026 is locked (closed 2 Sep 2026). These numbers won't change.</a:t>
            </a:r>
          </a:p>
        </p:txBody>
      </p:sp>
      <p:sp>
        <p:nvSpPr>
          <p:cNvPr id="9" name="TextBox 8"/>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10" name="TextBox 9"/>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11" name="TextBox 10"/>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1 of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Will cash cover payroll next month?</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Cash at bank, every day: actual to 31 Aug, then forecast to 30 Nov</a:t>
            </a:r>
          </a:p>
        </p:txBody>
      </p:sp>
      <p:sp>
        <p:nvSpPr>
          <p:cNvPr id="6" name="Rectangle 5"/>
          <p:cNvSpPr/>
          <p:nvPr/>
        </p:nvSpPr>
        <p:spPr>
          <a:xfrm>
            <a:off x="457200"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7" name="TextBox 6"/>
          <p:cNvSpPr txBox="1"/>
          <p:nvPr/>
        </p:nvSpPr>
        <p:spPr>
          <a:xfrm>
            <a:off x="594360"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Cash at bank, 31 Aug</a:t>
            </a:r>
          </a:p>
        </p:txBody>
      </p:sp>
      <p:sp>
        <p:nvSpPr>
          <p:cNvPr id="8" name="TextBox 7"/>
          <p:cNvSpPr txBox="1"/>
          <p:nvPr/>
        </p:nvSpPr>
        <p:spPr>
          <a:xfrm>
            <a:off x="594360"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$92,859</a:t>
            </a:r>
          </a:p>
        </p:txBody>
      </p:sp>
      <p:sp>
        <p:nvSpPr>
          <p:cNvPr id="9" name="TextBox 8"/>
          <p:cNvSpPr txBox="1"/>
          <p:nvPr/>
        </p:nvSpPr>
        <p:spPr>
          <a:xfrm>
            <a:off x="594360"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end of the day</a:t>
            </a:r>
          </a:p>
        </p:txBody>
      </p:sp>
      <p:sp>
        <p:nvSpPr>
          <p:cNvPr id="10" name="Rectangle 9"/>
          <p:cNvSpPr/>
          <p:nvPr/>
        </p:nvSpPr>
        <p:spPr>
          <a:xfrm>
            <a:off x="3333673"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1" name="TextBox 10"/>
          <p:cNvSpPr txBox="1"/>
          <p:nvPr/>
        </p:nvSpPr>
        <p:spPr>
          <a:xfrm>
            <a:off x="3470833"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Paid to employees in September</a:t>
            </a:r>
          </a:p>
        </p:txBody>
      </p:sp>
      <p:sp>
        <p:nvSpPr>
          <p:cNvPr id="12" name="TextBox 11"/>
          <p:cNvSpPr txBox="1"/>
          <p:nvPr/>
        </p:nvSpPr>
        <p:spPr>
          <a:xfrm>
            <a:off x="3470833"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$73,222</a:t>
            </a:r>
          </a:p>
        </p:txBody>
      </p:sp>
      <p:sp>
        <p:nvSpPr>
          <p:cNvPr id="13" name="TextBox 12"/>
          <p:cNvSpPr txBox="1"/>
          <p:nvPr/>
        </p:nvSpPr>
        <p:spPr>
          <a:xfrm>
            <a:off x="3470833"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2 fortnightly pay runs, net pay + super</a:t>
            </a:r>
          </a:p>
        </p:txBody>
      </p:sp>
      <p:sp>
        <p:nvSpPr>
          <p:cNvPr id="14" name="Rectangle 13"/>
          <p:cNvSpPr/>
          <p:nvPr/>
        </p:nvSpPr>
        <p:spPr>
          <a:xfrm>
            <a:off x="6210147"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5" name="TextBox 14"/>
          <p:cNvSpPr txBox="1"/>
          <p:nvPr/>
        </p:nvSpPr>
        <p:spPr>
          <a:xfrm>
            <a:off x="6347307"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After the tightest pay run, 3 Sep</a:t>
            </a:r>
          </a:p>
        </p:txBody>
      </p:sp>
      <p:sp>
        <p:nvSpPr>
          <p:cNvPr id="16" name="TextBox 15"/>
          <p:cNvSpPr txBox="1"/>
          <p:nvPr/>
        </p:nvSpPr>
        <p:spPr>
          <a:xfrm>
            <a:off x="6347307"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$56,248</a:t>
            </a:r>
          </a:p>
        </p:txBody>
      </p:sp>
      <p:sp>
        <p:nvSpPr>
          <p:cNvPr id="17" name="TextBox 16"/>
          <p:cNvSpPr txBox="1"/>
          <p:nvPr/>
        </p:nvSpPr>
        <p:spPr>
          <a:xfrm>
            <a:off x="6347307"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buffer: one pay run, $36,611</a:t>
            </a:r>
          </a:p>
        </p:txBody>
      </p:sp>
      <p:sp>
        <p:nvSpPr>
          <p:cNvPr id="18" name="Rectangle 17"/>
          <p:cNvSpPr/>
          <p:nvPr/>
        </p:nvSpPr>
        <p:spPr>
          <a:xfrm>
            <a:off x="9086621"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9" name="TextBox 18"/>
          <p:cNvSpPr txBox="1"/>
          <p:nvPr/>
        </p:nvSpPr>
        <p:spPr>
          <a:xfrm>
            <a:off x="9223781"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Lowest point, next 13 weeks</a:t>
            </a:r>
          </a:p>
        </p:txBody>
      </p:sp>
      <p:sp>
        <p:nvSpPr>
          <p:cNvPr id="20" name="TextBox 19"/>
          <p:cNvSpPr txBox="1"/>
          <p:nvPr/>
        </p:nvSpPr>
        <p:spPr>
          <a:xfrm>
            <a:off x="9223781"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$56,248</a:t>
            </a:r>
          </a:p>
        </p:txBody>
      </p:sp>
      <p:sp>
        <p:nvSpPr>
          <p:cNvPr id="21" name="TextBox 20"/>
          <p:cNvSpPr txBox="1"/>
          <p:nvPr/>
        </p:nvSpPr>
        <p:spPr>
          <a:xfrm>
            <a:off x="9223781"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3 September</a:t>
            </a:r>
          </a:p>
        </p:txBody>
      </p:sp>
      <p:graphicFrame>
        <p:nvGraphicFramePr>
          <p:cNvPr id="22" name="Chart 21"/>
          <p:cNvGraphicFramePr>
            <a:graphicFrameLocks noGrp="1"/>
          </p:cNvGraphicFramePr>
          <p:nvPr/>
        </p:nvGraphicFramePr>
        <p:xfrm>
          <a:off x="457200" y="2604516"/>
          <a:ext cx="11277295" cy="2119884"/>
        </p:xfrm>
        <a:graphic>
          <a:graphicData uri="http://schemas.openxmlformats.org/drawingml/2006/chart">
            <c:chart xmlns:c="http://schemas.openxmlformats.org/drawingml/2006/chart" r:id="rId3"/>
          </a:graphicData>
        </a:graphic>
      </p:graphicFrame>
      <p:cxnSp>
        <p:nvCxnSpPr>
          <p:cNvPr id="23" name="Connector 22"/>
          <p:cNvCxnSpPr/>
          <p:nvPr/>
        </p:nvCxnSpPr>
        <p:spPr>
          <a:xfrm>
            <a:off x="1697702" y="4095973"/>
            <a:ext cx="9698474" cy="0"/>
          </a:xfrm>
          <a:prstGeom prst="line">
            <a:avLst/>
          </a:prstGeom>
          <a:ln w="19050">
            <a:solidFill>
              <a:srgbClr val="25342A"/>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09776" y="3821653"/>
            <a:ext cx="5486400" cy="237744"/>
          </a:xfrm>
          <a:prstGeom prst="rect">
            <a:avLst/>
          </a:prstGeom>
          <a:noFill/>
        </p:spPr>
        <p:txBody>
          <a:bodyPr wrap="square" lIns="45720" rIns="45720">
            <a:spAutoFit/>
          </a:bodyPr>
          <a:lstStyle/>
          <a:p>
            <a:pPr algn="r">
              <a:defRPr>
                <a:latin typeface="Roboto"/>
              </a:defRPr>
            </a:pPr>
            <a:r>
              <a:rPr sz="1000" b="1">
                <a:solidFill>
                  <a:srgbClr val="25342A"/>
                </a:solidFill>
                <a:latin typeface="Roboto"/>
              </a:rPr>
              <a:t>Buffer: one pay run, $36,611</a:t>
            </a:r>
          </a:p>
        </p:txBody>
      </p:sp>
      <p:sp>
        <p:nvSpPr>
          <p:cNvPr id="25" name="Rectangle 24"/>
          <p:cNvSpPr/>
          <p:nvPr/>
        </p:nvSpPr>
        <p:spPr>
          <a:xfrm>
            <a:off x="457200" y="4815840"/>
            <a:ext cx="5501487" cy="14935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6" name="TextBox 25"/>
          <p:cNvSpPr txBox="1"/>
          <p:nvPr/>
        </p:nvSpPr>
        <p:spPr>
          <a:xfrm>
            <a:off x="594360" y="487070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IT SHOWS</a:t>
            </a:r>
          </a:p>
        </p:txBody>
      </p:sp>
      <p:sp>
        <p:nvSpPr>
          <p:cNvPr id="27" name="TextBox 26"/>
          <p:cNvSpPr txBox="1"/>
          <p:nvPr/>
        </p:nvSpPr>
        <p:spPr>
          <a:xfrm>
            <a:off x="594360" y="5145024"/>
            <a:ext cx="5227167" cy="1127760"/>
          </a:xfrm>
          <a:prstGeom prst="rect">
            <a:avLst/>
          </a:prstGeom>
          <a:noFill/>
        </p:spPr>
        <p:txBody>
          <a:bodyPr wrap="square" lIns="45720" rIns="45720">
            <a:spAutoFit/>
          </a:bodyPr>
          <a:lstStyle/>
          <a:p>
            <a:pPr>
              <a:defRPr>
                <a:latin typeface="Roboto"/>
              </a:defRPr>
            </a:pPr>
            <a:r>
              <a:rPr sz="1200" b="0">
                <a:solidFill>
                  <a:srgbClr val="25342A"/>
                </a:solidFill>
                <a:latin typeface="Roboto"/>
              </a:rPr>
              <a:t>Cash at bank was $92,859 at 31 August. September has 2 pay runs ($73,222). The tightest is 3 September: $56,248 left after paying wages, $19,637 more than a pay run in reserve. The lowest point in the 13 weeks is $56,248 on 3 September.</a:t>
            </a:r>
          </a:p>
        </p:txBody>
      </p:sp>
      <p:sp>
        <p:nvSpPr>
          <p:cNvPr id="28" name="Rectangle 27"/>
          <p:cNvSpPr/>
          <p:nvPr/>
        </p:nvSpPr>
        <p:spPr>
          <a:xfrm>
            <a:off x="6233007" y="4815840"/>
            <a:ext cx="5501487" cy="14935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9" name="TextBox 28"/>
          <p:cNvSpPr txBox="1"/>
          <p:nvPr/>
        </p:nvSpPr>
        <p:spPr>
          <a:xfrm>
            <a:off x="6370167" y="487070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YOU'D DO ABOUT IT</a:t>
            </a:r>
          </a:p>
        </p:txBody>
      </p:sp>
      <p:sp>
        <p:nvSpPr>
          <p:cNvPr id="30" name="TextBox 29"/>
          <p:cNvSpPr txBox="1"/>
          <p:nvPr/>
        </p:nvSpPr>
        <p:spPr>
          <a:xfrm>
            <a:off x="6370167" y="5145024"/>
            <a:ext cx="5227167" cy="1127760"/>
          </a:xfrm>
          <a:prstGeom prst="rect">
            <a:avLst/>
          </a:prstGeom>
          <a:noFill/>
        </p:spPr>
        <p:txBody>
          <a:bodyPr wrap="square" lIns="45720" rIns="45720">
            <a:spAutoFit/>
          </a:bodyPr>
          <a:lstStyle/>
          <a:p>
            <a:pPr>
              <a:defRPr>
                <a:latin typeface="Roboto"/>
              </a:defRPr>
            </a:pPr>
            <a:r>
              <a:rPr sz="1200" b="0">
                <a:solidFill>
                  <a:srgbClr val="25342A"/>
                </a:solidFill>
                <a:latin typeface="Roboto"/>
              </a:rPr>
              <a:t>15 invoices ($24,676) are already past the customer's usual payment date; the forecast assumes they arrive within a week. Without them, the lowest point would be $34,181. The July to September BAS ($86,220, estimated) is due 28 October: GST $33,132, PAYG withheld $47,754 and the PAYG instalment $5,334.</a:t>
            </a:r>
          </a:p>
        </p:txBody>
      </p:sp>
      <p:sp>
        <p:nvSpPr>
          <p:cNvPr id="31" name="TextBox 30"/>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32" name="TextBox 31"/>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33" name="TextBox 32"/>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September: where the cash comes from and goes (forecast)</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Money in, and money out in brackets. Includes GST.</a:t>
            </a:r>
          </a:p>
        </p:txBody>
      </p:sp>
      <p:graphicFrame>
        <p:nvGraphicFramePr>
          <p:cNvPr id="6" name="Chart 5"/>
          <p:cNvGraphicFramePr>
            <a:graphicFrameLocks noGrp="1"/>
          </p:cNvGraphicFramePr>
          <p:nvPr/>
        </p:nvGraphicFramePr>
        <p:xfrm>
          <a:off x="457200" y="1278636"/>
          <a:ext cx="11277295" cy="4527804"/>
        </p:xfrm>
        <a:graphic>
          <a:graphicData uri="http://schemas.openxmlformats.org/drawingml/2006/chart">
            <c:chart xmlns:c="http://schemas.openxmlformats.org/drawingml/2006/chart" r:id="rId3"/>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13 weeks, week by week</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Lowest in the week: amber below one pay run ($36,611), red below zero. Amounts include GST.</a:t>
            </a:r>
          </a:p>
        </p:txBody>
      </p:sp>
      <p:graphicFrame>
        <p:nvGraphicFramePr>
          <p:cNvPr id="6" name="Table 5"/>
          <p:cNvGraphicFramePr>
            <a:graphicFrameLocks noGrp="1"/>
          </p:cNvGraphicFramePr>
          <p:nvPr/>
        </p:nvGraphicFramePr>
        <p:xfrm>
          <a:off x="457200" y="1278636"/>
          <a:ext cx="11277295" cy="4352544"/>
        </p:xfrm>
        <a:graphic>
          <a:graphicData uri="http://schemas.openxmlformats.org/drawingml/2006/table">
            <a:tbl>
              <a:tblPr firstRow="1" bandRow="1">
                <a:tableStyleId>{5C22544A-7EE6-4342-B048-85BDC9FD1C3A}</a:tableStyleId>
              </a:tblPr>
              <a:tblGrid>
                <a:gridCol w="1127729"/>
                <a:gridCol w="1127729"/>
                <a:gridCol w="1127729"/>
                <a:gridCol w="1127729"/>
                <a:gridCol w="1127729"/>
                <a:gridCol w="1127729"/>
                <a:gridCol w="1127729"/>
                <a:gridCol w="1127729"/>
                <a:gridCol w="1127729"/>
                <a:gridCol w="1127734"/>
              </a:tblGrid>
              <a:tr h="310896">
                <a:tc>
                  <a:txBody>
                    <a:bodyPr/>
                    <a:lstStyle/>
                    <a:p>
                      <a:pPr algn="l">
                        <a:defRPr>
                          <a:latin typeface="Roboto"/>
                        </a:defRPr>
                      </a:pPr>
                      <a:r>
                        <a:rPr sz="1100" b="1">
                          <a:solidFill>
                            <a:srgbClr val="FFFFFF"/>
                          </a:solidFill>
                          <a:latin typeface="Roboto"/>
                        </a:rPr>
                        <a:t>Week ending</a:t>
                      </a:r>
                    </a:p>
                  </a:txBody>
                  <a:tcPr>
                    <a:solidFill>
                      <a:srgbClr val="2F7A5D"/>
                    </a:solidFill>
                  </a:tcPr>
                </a:tc>
                <a:tc>
                  <a:txBody>
                    <a:bodyPr/>
                    <a:lstStyle/>
                    <a:p>
                      <a:pPr algn="r">
                        <a:defRPr>
                          <a:latin typeface="Roboto"/>
                        </a:defRPr>
                      </a:pPr>
                      <a:r>
                        <a:rPr sz="1100" b="1">
                          <a:solidFill>
                            <a:srgbClr val="FFFFFF"/>
                          </a:solidFill>
                          <a:latin typeface="Roboto"/>
                        </a:rPr>
                        <a:t>Cash at start</a:t>
                      </a:r>
                    </a:p>
                  </a:txBody>
                  <a:tcPr>
                    <a:solidFill>
                      <a:srgbClr val="2F7A5D"/>
                    </a:solidFill>
                  </a:tcPr>
                </a:tc>
                <a:tc>
                  <a:txBody>
                    <a:bodyPr/>
                    <a:lstStyle/>
                    <a:p>
                      <a:pPr algn="r">
                        <a:defRPr>
                          <a:latin typeface="Roboto"/>
                        </a:defRPr>
                      </a:pPr>
                      <a:r>
                        <a:rPr sz="1100" b="1">
                          <a:solidFill>
                            <a:srgbClr val="FFFFFF"/>
                          </a:solidFill>
                          <a:latin typeface="Roboto"/>
                        </a:rPr>
                        <a:t>Unpaid invoices collected</a:t>
                      </a:r>
                    </a:p>
                  </a:txBody>
                  <a:tcPr>
                    <a:solidFill>
                      <a:srgbClr val="2F7A5D"/>
                    </a:solidFill>
                  </a:tcPr>
                </a:tc>
                <a:tc>
                  <a:txBody>
                    <a:bodyPr/>
                    <a:lstStyle/>
                    <a:p>
                      <a:pPr algn="r">
                        <a:defRPr>
                          <a:latin typeface="Roboto"/>
                        </a:defRPr>
                      </a:pPr>
                      <a:r>
                        <a:rPr sz="1100" b="1">
                          <a:solidFill>
                            <a:srgbClr val="FFFFFF"/>
                          </a:solidFill>
                          <a:latin typeface="Roboto"/>
                        </a:rPr>
                        <a:t>New work collected</a:t>
                      </a:r>
                    </a:p>
                  </a:txBody>
                  <a:tcPr>
                    <a:solidFill>
                      <a:srgbClr val="2F7A5D"/>
                    </a:solidFill>
                  </a:tcPr>
                </a:tc>
                <a:tc>
                  <a:txBody>
                    <a:bodyPr/>
                    <a:lstStyle/>
                    <a:p>
                      <a:pPr algn="r">
                        <a:defRPr>
                          <a:latin typeface="Roboto"/>
                        </a:defRPr>
                      </a:pPr>
                      <a:r>
                        <a:rPr sz="1100" b="1">
                          <a:solidFill>
                            <a:srgbClr val="FFFFFF"/>
                          </a:solidFill>
                          <a:latin typeface="Roboto"/>
                        </a:rPr>
                        <a:t>Pay runs</a:t>
                      </a:r>
                    </a:p>
                  </a:txBody>
                  <a:tcPr>
                    <a:solidFill>
                      <a:srgbClr val="2F7A5D"/>
                    </a:solidFill>
                  </a:tcPr>
                </a:tc>
                <a:tc>
                  <a:txBody>
                    <a:bodyPr/>
                    <a:lstStyle/>
                    <a:p>
                      <a:pPr algn="r">
                        <a:defRPr>
                          <a:latin typeface="Roboto"/>
                        </a:defRPr>
                      </a:pPr>
                      <a:r>
                        <a:rPr sz="1100" b="1">
                          <a:solidFill>
                            <a:srgbClr val="FFFFFF"/>
                          </a:solidFill>
                          <a:latin typeface="Roboto"/>
                        </a:rPr>
                        <a:t>Suppliers and overheads</a:t>
                      </a:r>
                    </a:p>
                  </a:txBody>
                  <a:tcPr>
                    <a:solidFill>
                      <a:srgbClr val="2F7A5D"/>
                    </a:solidFill>
                  </a:tcPr>
                </a:tc>
                <a:tc>
                  <a:txBody>
                    <a:bodyPr/>
                    <a:lstStyle/>
                    <a:p>
                      <a:pPr algn="r">
                        <a:defRPr>
                          <a:latin typeface="Roboto"/>
                        </a:defRPr>
                      </a:pPr>
                      <a:r>
                        <a:rPr sz="1100" b="1">
                          <a:solidFill>
                            <a:srgbClr val="FFFFFF"/>
                          </a:solidFill>
                          <a:latin typeface="Roboto"/>
                        </a:rPr>
                        <a:t>BAS (GST and PAYG)</a:t>
                      </a:r>
                    </a:p>
                  </a:txBody>
                  <a:tcPr>
                    <a:solidFill>
                      <a:srgbClr val="2F7A5D"/>
                    </a:solidFill>
                  </a:tcPr>
                </a:tc>
                <a:tc>
                  <a:txBody>
                    <a:bodyPr/>
                    <a:lstStyle/>
                    <a:p>
                      <a:pPr algn="r">
                        <a:defRPr>
                          <a:latin typeface="Roboto"/>
                        </a:defRPr>
                      </a:pPr>
                      <a:r>
                        <a:rPr sz="1100" b="1">
                          <a:solidFill>
                            <a:srgbClr val="FFFFFF"/>
                          </a:solidFill>
                          <a:latin typeface="Roboto"/>
                        </a:rPr>
                        <a:t>Interest and finance</a:t>
                      </a:r>
                    </a:p>
                  </a:txBody>
                  <a:tcPr>
                    <a:solidFill>
                      <a:srgbClr val="2F7A5D"/>
                    </a:solidFill>
                  </a:tcPr>
                </a:tc>
                <a:tc>
                  <a:txBody>
                    <a:bodyPr/>
                    <a:lstStyle/>
                    <a:p>
                      <a:pPr algn="r">
                        <a:defRPr>
                          <a:latin typeface="Roboto"/>
                        </a:defRPr>
                      </a:pPr>
                      <a:r>
                        <a:rPr sz="1100" b="1">
                          <a:solidFill>
                            <a:srgbClr val="FFFFFF"/>
                          </a:solidFill>
                          <a:latin typeface="Roboto"/>
                        </a:rPr>
                        <a:t>Cash at end</a:t>
                      </a:r>
                    </a:p>
                  </a:txBody>
                  <a:tcPr>
                    <a:solidFill>
                      <a:srgbClr val="2F7A5D"/>
                    </a:solidFill>
                  </a:tcPr>
                </a:tc>
                <a:tc>
                  <a:txBody>
                    <a:bodyPr/>
                    <a:lstStyle/>
                    <a:p>
                      <a:pPr algn="r">
                        <a:defRPr>
                          <a:latin typeface="Roboto"/>
                        </a:defRPr>
                      </a:pPr>
                      <a:r>
                        <a:rPr sz="1100" b="1">
                          <a:solidFill>
                            <a:srgbClr val="FFFFFF"/>
                          </a:solidFill>
                          <a:latin typeface="Roboto"/>
                        </a:rPr>
                        <a:t>Lowest in the week</a:t>
                      </a:r>
                    </a:p>
                  </a:txBody>
                  <a:tcPr>
                    <a:solidFill>
                      <a:srgbClr val="2F7A5D"/>
                    </a:solidFill>
                  </a:tcPr>
                </a:tc>
              </a:tr>
              <a:tr h="310896">
                <a:tc>
                  <a:txBody>
                    <a:bodyPr/>
                    <a:lstStyle/>
                    <a:p>
                      <a:pPr algn="l">
                        <a:defRPr>
                          <a:latin typeface="Roboto"/>
                        </a:defRPr>
                      </a:pPr>
                      <a:r>
                        <a:rPr sz="1050">
                          <a:solidFill>
                            <a:srgbClr val="25342A"/>
                          </a:solidFill>
                          <a:latin typeface="Roboto"/>
                        </a:rPr>
                        <a:t>7 Sep</a:t>
                      </a:r>
                    </a:p>
                  </a:txBody>
                  <a:tcPr>
                    <a:solidFill>
                      <a:srgbClr val="FFFFFF"/>
                    </a:solidFill>
                  </a:tcPr>
                </a:tc>
                <a:tc>
                  <a:txBody>
                    <a:bodyPr/>
                    <a:lstStyle/>
                    <a:p>
                      <a:pPr algn="r">
                        <a:defRPr>
                          <a:latin typeface="Roboto"/>
                        </a:defRPr>
                      </a:pPr>
                      <a:r>
                        <a:rPr sz="1050">
                          <a:solidFill>
                            <a:srgbClr val="25342A"/>
                          </a:solidFill>
                          <a:latin typeface="Roboto"/>
                        </a:rPr>
                        <a:t>$92,859</a:t>
                      </a:r>
                    </a:p>
                  </a:txBody>
                  <a:tcPr>
                    <a:solidFill>
                      <a:srgbClr val="FFFFFF"/>
                    </a:solidFill>
                  </a:tcPr>
                </a:tc>
                <a:tc>
                  <a:txBody>
                    <a:bodyPr/>
                    <a:lstStyle/>
                    <a:p>
                      <a:pPr algn="r">
                        <a:defRPr>
                          <a:latin typeface="Roboto"/>
                        </a:defRPr>
                      </a:pPr>
                      <a:r>
                        <a:rPr sz="1050">
                          <a:solidFill>
                            <a:srgbClr val="25342A"/>
                          </a:solidFill>
                          <a:latin typeface="Roboto"/>
                        </a:rPr>
                        <a:t>$72,086</a:t>
                      </a:r>
                    </a:p>
                  </a:txBody>
                  <a:tcPr>
                    <a:solidFill>
                      <a:srgbClr val="FFFFFF"/>
                    </a:solidFill>
                  </a:tcPr>
                </a:tc>
                <a:tc>
                  <a:txBody>
                    <a:bodyPr/>
                    <a:lstStyle/>
                    <a:p>
                      <a:pPr algn="r">
                        <a:defRPr>
                          <a:latin typeface="Roboto"/>
                        </a:defRPr>
                      </a:pPr>
                      <a:r>
                        <a:rPr sz="1050">
                          <a:solidFill>
                            <a:srgbClr val="25342A"/>
                          </a:solidFill>
                          <a:latin typeface="Roboto"/>
                        </a:rPr>
                        <a:t>$6,141</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$134,475</a:t>
                      </a:r>
                    </a:p>
                  </a:txBody>
                  <a:tcPr>
                    <a:solidFill>
                      <a:srgbClr val="FFFFFF"/>
                    </a:solidFill>
                  </a:tcPr>
                </a:tc>
                <a:tc>
                  <a:txBody>
                    <a:bodyPr/>
                    <a:lstStyle/>
                    <a:p>
                      <a:pPr algn="r">
                        <a:defRPr>
                          <a:latin typeface="Roboto"/>
                        </a:defRPr>
                      </a:pPr>
                      <a:r>
                        <a:rPr sz="1050">
                          <a:solidFill>
                            <a:srgbClr val="25342A"/>
                          </a:solidFill>
                          <a:latin typeface="Roboto"/>
                        </a:rPr>
                        <a:t>$56,248</a:t>
                      </a:r>
                    </a:p>
                  </a:txBody>
                  <a:tcPr>
                    <a:solidFill>
                      <a:srgbClr val="FFFFFF"/>
                    </a:solidFill>
                  </a:tcPr>
                </a:tc>
              </a:tr>
              <a:tr h="310896">
                <a:tc>
                  <a:txBody>
                    <a:bodyPr/>
                    <a:lstStyle/>
                    <a:p>
                      <a:pPr algn="l">
                        <a:defRPr>
                          <a:latin typeface="Roboto"/>
                        </a:defRPr>
                      </a:pPr>
                      <a:r>
                        <a:rPr sz="1050">
                          <a:solidFill>
                            <a:srgbClr val="25342A"/>
                          </a:solidFill>
                          <a:latin typeface="Roboto"/>
                        </a:rPr>
                        <a:t>14 Sep</a:t>
                      </a:r>
                    </a:p>
                  </a:txBody>
                  <a:tcPr>
                    <a:solidFill>
                      <a:srgbClr val="F7FAF7"/>
                    </a:solidFill>
                  </a:tcPr>
                </a:tc>
                <a:tc>
                  <a:txBody>
                    <a:bodyPr/>
                    <a:lstStyle/>
                    <a:p>
                      <a:pPr algn="r">
                        <a:defRPr>
                          <a:latin typeface="Roboto"/>
                        </a:defRPr>
                      </a:pPr>
                      <a:r>
                        <a:rPr sz="1050">
                          <a:solidFill>
                            <a:srgbClr val="25342A"/>
                          </a:solidFill>
                          <a:latin typeface="Roboto"/>
                        </a:rPr>
                        <a:t>$134,475</a:t>
                      </a:r>
                    </a:p>
                  </a:txBody>
                  <a:tcPr>
                    <a:solidFill>
                      <a:srgbClr val="F7FAF7"/>
                    </a:solidFill>
                  </a:tcPr>
                </a:tc>
                <a:tc>
                  <a:txBody>
                    <a:bodyPr/>
                    <a:lstStyle/>
                    <a:p>
                      <a:pPr algn="r">
                        <a:defRPr>
                          <a:latin typeface="Roboto"/>
                        </a:defRPr>
                      </a:pPr>
                      <a:r>
                        <a:rPr sz="1050">
                          <a:solidFill>
                            <a:srgbClr val="25342A"/>
                          </a:solidFill>
                          <a:latin typeface="Roboto"/>
                        </a:rPr>
                        <a:t>$26,290</a:t>
                      </a:r>
                    </a:p>
                  </a:txBody>
                  <a:tcPr>
                    <a:solidFill>
                      <a:srgbClr val="F7FAF7"/>
                    </a:solidFill>
                  </a:tcPr>
                </a:tc>
                <a:tc>
                  <a:txBody>
                    <a:bodyPr/>
                    <a:lstStyle/>
                    <a:p>
                      <a:pPr algn="r">
                        <a:defRPr>
                          <a:latin typeface="Roboto"/>
                        </a:defRPr>
                      </a:pPr>
                      <a:r>
                        <a:rPr sz="1050">
                          <a:solidFill>
                            <a:srgbClr val="25342A"/>
                          </a:solidFill>
                          <a:latin typeface="Roboto"/>
                        </a:rPr>
                        <a:t>$7,677</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$168,442</a:t>
                      </a:r>
                    </a:p>
                  </a:txBody>
                  <a:tcPr>
                    <a:solidFill>
                      <a:srgbClr val="F7FAF7"/>
                    </a:solidFill>
                  </a:tcPr>
                </a:tc>
                <a:tc>
                  <a:txBody>
                    <a:bodyPr/>
                    <a:lstStyle/>
                    <a:p>
                      <a:pPr algn="r">
                        <a:defRPr>
                          <a:latin typeface="Roboto"/>
                        </a:defRPr>
                      </a:pPr>
                      <a:r>
                        <a:rPr sz="1050">
                          <a:solidFill>
                            <a:srgbClr val="25342A"/>
                          </a:solidFill>
                          <a:latin typeface="Roboto"/>
                        </a:rPr>
                        <a:t>$134,475</a:t>
                      </a:r>
                    </a:p>
                  </a:txBody>
                  <a:tcPr>
                    <a:solidFill>
                      <a:srgbClr val="F7FAF7"/>
                    </a:solidFill>
                  </a:tcPr>
                </a:tc>
              </a:tr>
              <a:tr h="310896">
                <a:tc>
                  <a:txBody>
                    <a:bodyPr/>
                    <a:lstStyle/>
                    <a:p>
                      <a:pPr algn="l">
                        <a:defRPr>
                          <a:latin typeface="Roboto"/>
                        </a:defRPr>
                      </a:pPr>
                      <a:r>
                        <a:rPr sz="1050">
                          <a:solidFill>
                            <a:srgbClr val="25342A"/>
                          </a:solidFill>
                          <a:latin typeface="Roboto"/>
                        </a:rPr>
                        <a:t>21 Sep</a:t>
                      </a:r>
                    </a:p>
                  </a:txBody>
                  <a:tcPr>
                    <a:solidFill>
                      <a:srgbClr val="FFFFFF"/>
                    </a:solidFill>
                  </a:tcPr>
                </a:tc>
                <a:tc>
                  <a:txBody>
                    <a:bodyPr/>
                    <a:lstStyle/>
                    <a:p>
                      <a:pPr algn="r">
                        <a:defRPr>
                          <a:latin typeface="Roboto"/>
                        </a:defRPr>
                      </a:pPr>
                      <a:r>
                        <a:rPr sz="1050">
                          <a:solidFill>
                            <a:srgbClr val="25342A"/>
                          </a:solidFill>
                          <a:latin typeface="Roboto"/>
                        </a:rPr>
                        <a:t>$168,442</a:t>
                      </a:r>
                    </a:p>
                  </a:txBody>
                  <a:tcPr>
                    <a:solidFill>
                      <a:srgbClr val="FFFFFF"/>
                    </a:solidFill>
                  </a:tcPr>
                </a:tc>
                <a:tc>
                  <a:txBody>
                    <a:bodyPr/>
                    <a:lstStyle/>
                    <a:p>
                      <a:pPr algn="r">
                        <a:defRPr>
                          <a:latin typeface="Roboto"/>
                        </a:defRPr>
                      </a:pPr>
                      <a:r>
                        <a:rPr sz="1050">
                          <a:solidFill>
                            <a:srgbClr val="25342A"/>
                          </a:solidFill>
                          <a:latin typeface="Roboto"/>
                        </a:rPr>
                        <a:t>$20,680</a:t>
                      </a:r>
                    </a:p>
                  </a:txBody>
                  <a:tcPr>
                    <a:solidFill>
                      <a:srgbClr val="FFFFFF"/>
                    </a:solidFill>
                  </a:tcPr>
                </a:tc>
                <a:tc>
                  <a:txBody>
                    <a:bodyPr/>
                    <a:lstStyle/>
                    <a:p>
                      <a:pPr algn="r">
                        <a:defRPr>
                          <a:latin typeface="Roboto"/>
                        </a:defRPr>
                      </a:pPr>
                      <a:r>
                        <a:rPr sz="1050">
                          <a:solidFill>
                            <a:srgbClr val="25342A"/>
                          </a:solidFill>
                          <a:latin typeface="Roboto"/>
                        </a:rPr>
                        <a:t>$7,677</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$109,022</a:t>
                      </a:r>
                    </a:p>
                  </a:txBody>
                  <a:tcPr>
                    <a:solidFill>
                      <a:srgbClr val="FFFFFF"/>
                    </a:solidFill>
                  </a:tcPr>
                </a:tc>
                <a:tc>
                  <a:txBody>
                    <a:bodyPr/>
                    <a:lstStyle/>
                    <a:p>
                      <a:pPr algn="r">
                        <a:defRPr>
                          <a:latin typeface="Roboto"/>
                        </a:defRPr>
                      </a:pPr>
                      <a:r>
                        <a:rPr sz="1050">
                          <a:solidFill>
                            <a:srgbClr val="25342A"/>
                          </a:solidFill>
                          <a:latin typeface="Roboto"/>
                        </a:rPr>
                        <a:t>$82,200</a:t>
                      </a:r>
                    </a:p>
                  </a:txBody>
                  <a:tcPr>
                    <a:solidFill>
                      <a:srgbClr val="FFFFFF"/>
                    </a:solidFill>
                  </a:tcPr>
                </a:tc>
              </a:tr>
              <a:tr h="310896">
                <a:tc>
                  <a:txBody>
                    <a:bodyPr/>
                    <a:lstStyle/>
                    <a:p>
                      <a:pPr algn="l">
                        <a:defRPr>
                          <a:latin typeface="Roboto"/>
                        </a:defRPr>
                      </a:pPr>
                      <a:r>
                        <a:rPr sz="1050">
                          <a:solidFill>
                            <a:srgbClr val="25342A"/>
                          </a:solidFill>
                          <a:latin typeface="Roboto"/>
                        </a:rPr>
                        <a:t>28 Sep</a:t>
                      </a:r>
                    </a:p>
                  </a:txBody>
                  <a:tcPr>
                    <a:solidFill>
                      <a:srgbClr val="F7FAF7"/>
                    </a:solidFill>
                  </a:tcPr>
                </a:tc>
                <a:tc>
                  <a:txBody>
                    <a:bodyPr/>
                    <a:lstStyle/>
                    <a:p>
                      <a:pPr algn="r">
                        <a:defRPr>
                          <a:latin typeface="Roboto"/>
                        </a:defRPr>
                      </a:pPr>
                      <a:r>
                        <a:rPr sz="1050">
                          <a:solidFill>
                            <a:srgbClr val="25342A"/>
                          </a:solidFill>
                          <a:latin typeface="Roboto"/>
                        </a:rPr>
                        <a:t>$109,022</a:t>
                      </a:r>
                    </a:p>
                  </a:txBody>
                  <a:tcPr>
                    <a:solidFill>
                      <a:srgbClr val="F7FAF7"/>
                    </a:solidFill>
                  </a:tcPr>
                </a:tc>
                <a:tc>
                  <a:txBody>
                    <a:bodyPr/>
                    <a:lstStyle/>
                    <a:p>
                      <a:pPr algn="r">
                        <a:defRPr>
                          <a:latin typeface="Roboto"/>
                        </a:defRPr>
                      </a:pPr>
                      <a:r>
                        <a:rPr sz="1050">
                          <a:solidFill>
                            <a:srgbClr val="25342A"/>
                          </a:solidFill>
                          <a:latin typeface="Roboto"/>
                        </a:rPr>
                        <a:t>$40,700</a:t>
                      </a:r>
                    </a:p>
                  </a:txBody>
                  <a:tcPr>
                    <a:solidFill>
                      <a:srgbClr val="F7FAF7"/>
                    </a:solidFill>
                  </a:tcPr>
                </a:tc>
                <a:tc>
                  <a:txBody>
                    <a:bodyPr/>
                    <a:lstStyle/>
                    <a:p>
                      <a:pPr algn="r">
                        <a:defRPr>
                          <a:latin typeface="Roboto"/>
                        </a:defRPr>
                      </a:pPr>
                      <a:r>
                        <a:rPr sz="1050">
                          <a:solidFill>
                            <a:srgbClr val="25342A"/>
                          </a:solidFill>
                          <a:latin typeface="Roboto"/>
                        </a:rPr>
                        <a:t>$7,676</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B42318"/>
                          </a:solidFill>
                          <a:latin typeface="Roboto"/>
                        </a:rPr>
                        <a:t>($5,000)</a:t>
                      </a:r>
                    </a:p>
                  </a:txBody>
                  <a:tcPr>
                    <a:solidFill>
                      <a:srgbClr val="F7FAF7"/>
                    </a:solidFill>
                  </a:tcPr>
                </a:tc>
                <a:tc>
                  <a:txBody>
                    <a:bodyPr/>
                    <a:lstStyle/>
                    <a:p>
                      <a:pPr algn="r">
                        <a:defRPr>
                          <a:latin typeface="Roboto"/>
                        </a:defRPr>
                      </a:pPr>
                      <a:r>
                        <a:rPr sz="1050">
                          <a:solidFill>
                            <a:srgbClr val="25342A"/>
                          </a:solidFill>
                          <a:latin typeface="Roboto"/>
                        </a:rPr>
                        <a:t>$152,398</a:t>
                      </a:r>
                    </a:p>
                  </a:txBody>
                  <a:tcPr>
                    <a:solidFill>
                      <a:srgbClr val="F7FAF7"/>
                    </a:solidFill>
                  </a:tcPr>
                </a:tc>
                <a:tc>
                  <a:txBody>
                    <a:bodyPr/>
                    <a:lstStyle/>
                    <a:p>
                      <a:pPr algn="r">
                        <a:defRPr>
                          <a:latin typeface="Roboto"/>
                        </a:defRPr>
                      </a:pPr>
                      <a:r>
                        <a:rPr sz="1050">
                          <a:solidFill>
                            <a:srgbClr val="25342A"/>
                          </a:solidFill>
                          <a:latin typeface="Roboto"/>
                        </a:rPr>
                        <a:t>$109,022</a:t>
                      </a:r>
                    </a:p>
                  </a:txBody>
                  <a:tcPr>
                    <a:solidFill>
                      <a:srgbClr val="F7FAF7"/>
                    </a:solidFill>
                  </a:tcPr>
                </a:tc>
              </a:tr>
              <a:tr h="310896">
                <a:tc>
                  <a:txBody>
                    <a:bodyPr/>
                    <a:lstStyle/>
                    <a:p>
                      <a:pPr algn="l">
                        <a:defRPr>
                          <a:latin typeface="Roboto"/>
                        </a:defRPr>
                      </a:pPr>
                      <a:r>
                        <a:rPr sz="1050">
                          <a:solidFill>
                            <a:srgbClr val="25342A"/>
                          </a:solidFill>
                          <a:latin typeface="Roboto"/>
                        </a:rPr>
                        <a:t>5 Oct</a:t>
                      </a:r>
                    </a:p>
                  </a:txBody>
                  <a:tcPr>
                    <a:solidFill>
                      <a:srgbClr val="FFFFFF"/>
                    </a:solidFill>
                  </a:tcPr>
                </a:tc>
                <a:tc>
                  <a:txBody>
                    <a:bodyPr/>
                    <a:lstStyle/>
                    <a:p>
                      <a:pPr algn="r">
                        <a:defRPr>
                          <a:latin typeface="Roboto"/>
                        </a:defRPr>
                      </a:pPr>
                      <a:r>
                        <a:rPr sz="1050">
                          <a:solidFill>
                            <a:srgbClr val="25342A"/>
                          </a:solidFill>
                          <a:latin typeface="Roboto"/>
                        </a:rPr>
                        <a:t>$152,398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$65,865</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($51,167)</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($1,100)</a:t>
                      </a:r>
                    </a:p>
                  </a:txBody>
                  <a:tcPr>
                    <a:solidFill>
                      <a:srgbClr val="FFFFFF"/>
                    </a:solidFill>
                  </a:tcPr>
                </a:tc>
                <a:tc>
                  <a:txBody>
                    <a:bodyPr/>
                    <a:lstStyle/>
                    <a:p>
                      <a:pPr algn="r">
                        <a:defRPr>
                          <a:latin typeface="Roboto"/>
                        </a:defRPr>
                      </a:pPr>
                      <a:r>
                        <a:rPr sz="1050">
                          <a:solidFill>
                            <a:srgbClr val="25342A"/>
                          </a:solidFill>
                          <a:latin typeface="Roboto"/>
                        </a:rPr>
                        <a:t>$129,385</a:t>
                      </a:r>
                    </a:p>
                  </a:txBody>
                  <a:tcPr>
                    <a:solidFill>
                      <a:srgbClr val="FFFFFF"/>
                    </a:solidFill>
                  </a:tcPr>
                </a:tc>
                <a:tc>
                  <a:txBody>
                    <a:bodyPr/>
                    <a:lstStyle/>
                    <a:p>
                      <a:pPr algn="r">
                        <a:defRPr>
                          <a:latin typeface="Roboto"/>
                        </a:defRPr>
                      </a:pPr>
                      <a:r>
                        <a:rPr sz="1050">
                          <a:solidFill>
                            <a:srgbClr val="25342A"/>
                          </a:solidFill>
                          <a:latin typeface="Roboto"/>
                        </a:rPr>
                        <a:t>$100,131</a:t>
                      </a:r>
                    </a:p>
                  </a:txBody>
                  <a:tcPr>
                    <a:solidFill>
                      <a:srgbClr val="FFFFFF"/>
                    </a:solidFill>
                  </a:tcPr>
                </a:tc>
              </a:tr>
              <a:tr h="310896">
                <a:tc>
                  <a:txBody>
                    <a:bodyPr/>
                    <a:lstStyle/>
                    <a:p>
                      <a:pPr algn="l">
                        <a:defRPr>
                          <a:latin typeface="Roboto"/>
                        </a:defRPr>
                      </a:pPr>
                      <a:r>
                        <a:rPr sz="1050">
                          <a:solidFill>
                            <a:srgbClr val="25342A"/>
                          </a:solidFill>
                          <a:latin typeface="Roboto"/>
                        </a:rPr>
                        <a:t>12 Oct</a:t>
                      </a:r>
                    </a:p>
                  </a:txBody>
                  <a:tcPr>
                    <a:solidFill>
                      <a:srgbClr val="F7FAF7"/>
                    </a:solidFill>
                  </a:tcPr>
                </a:tc>
                <a:tc>
                  <a:txBody>
                    <a:bodyPr/>
                    <a:lstStyle/>
                    <a:p>
                      <a:pPr algn="r">
                        <a:defRPr>
                          <a:latin typeface="Roboto"/>
                        </a:defRPr>
                      </a:pPr>
                      <a:r>
                        <a:rPr sz="1050">
                          <a:solidFill>
                            <a:srgbClr val="25342A"/>
                          </a:solidFill>
                          <a:latin typeface="Roboto"/>
                        </a:rPr>
                        <a:t>$129,385</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$55,929</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$185,314</a:t>
                      </a:r>
                    </a:p>
                  </a:txBody>
                  <a:tcPr>
                    <a:solidFill>
                      <a:srgbClr val="F7FAF7"/>
                    </a:solidFill>
                  </a:tcPr>
                </a:tc>
                <a:tc>
                  <a:txBody>
                    <a:bodyPr/>
                    <a:lstStyle/>
                    <a:p>
                      <a:pPr algn="r">
                        <a:defRPr>
                          <a:latin typeface="Roboto"/>
                        </a:defRPr>
                      </a:pPr>
                      <a:r>
                        <a:rPr sz="1050">
                          <a:solidFill>
                            <a:srgbClr val="25342A"/>
                          </a:solidFill>
                          <a:latin typeface="Roboto"/>
                        </a:rPr>
                        <a:t>$146,900</a:t>
                      </a:r>
                    </a:p>
                  </a:txBody>
                  <a:tcPr>
                    <a:solidFill>
                      <a:srgbClr val="F7FAF7"/>
                    </a:solidFill>
                  </a:tcPr>
                </a:tc>
              </a:tr>
              <a:tr h="310896">
                <a:tc>
                  <a:txBody>
                    <a:bodyPr/>
                    <a:lstStyle/>
                    <a:p>
                      <a:pPr algn="l">
                        <a:defRPr>
                          <a:latin typeface="Roboto"/>
                        </a:defRPr>
                      </a:pPr>
                      <a:r>
                        <a:rPr sz="1050">
                          <a:solidFill>
                            <a:srgbClr val="25342A"/>
                          </a:solidFill>
                          <a:latin typeface="Roboto"/>
                        </a:rPr>
                        <a:t>19 Oct</a:t>
                      </a:r>
                    </a:p>
                  </a:txBody>
                  <a:tcPr>
                    <a:solidFill>
                      <a:srgbClr val="FFFFFF"/>
                    </a:solidFill>
                  </a:tcPr>
                </a:tc>
                <a:tc>
                  <a:txBody>
                    <a:bodyPr/>
                    <a:lstStyle/>
                    <a:p>
                      <a:pPr algn="r">
                        <a:defRPr>
                          <a:latin typeface="Roboto"/>
                        </a:defRPr>
                      </a:pPr>
                      <a:r>
                        <a:rPr sz="1050">
                          <a:solidFill>
                            <a:srgbClr val="25342A"/>
                          </a:solidFill>
                          <a:latin typeface="Roboto"/>
                        </a:rPr>
                        <a:t>$185,314</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$39,949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$137,486</a:t>
                      </a:r>
                    </a:p>
                  </a:txBody>
                  <a:tcPr>
                    <a:solidFill>
                      <a:srgbClr val="FFFFFF"/>
                    </a:solidFill>
                  </a:tcPr>
                </a:tc>
                <a:tc>
                  <a:txBody>
                    <a:bodyPr/>
                    <a:lstStyle/>
                    <a:p>
                      <a:pPr algn="r">
                        <a:defRPr>
                          <a:latin typeface="Roboto"/>
                        </a:defRPr>
                      </a:pPr>
                      <a:r>
                        <a:rPr sz="1050">
                          <a:solidFill>
                            <a:srgbClr val="25342A"/>
                          </a:solidFill>
                          <a:latin typeface="Roboto"/>
                        </a:rPr>
                        <a:t>$111,981</a:t>
                      </a:r>
                    </a:p>
                  </a:txBody>
                  <a:tcPr>
                    <a:solidFill>
                      <a:srgbClr val="FFFFFF"/>
                    </a:solidFill>
                  </a:tcPr>
                </a:tc>
              </a:tr>
              <a:tr h="310896">
                <a:tc>
                  <a:txBody>
                    <a:bodyPr/>
                    <a:lstStyle/>
                    <a:p>
                      <a:pPr algn="l">
                        <a:defRPr>
                          <a:latin typeface="Roboto"/>
                        </a:defRPr>
                      </a:pPr>
                      <a:r>
                        <a:rPr sz="1050">
                          <a:solidFill>
                            <a:srgbClr val="25342A"/>
                          </a:solidFill>
                          <a:latin typeface="Roboto"/>
                        </a:rPr>
                        <a:t>26 Oct</a:t>
                      </a:r>
                    </a:p>
                  </a:txBody>
                  <a:tcPr>
                    <a:solidFill>
                      <a:srgbClr val="F7FAF7"/>
                    </a:solidFill>
                  </a:tcPr>
                </a:tc>
                <a:tc>
                  <a:txBody>
                    <a:bodyPr/>
                    <a:lstStyle/>
                    <a:p>
                      <a:pPr algn="r">
                        <a:defRPr>
                          <a:latin typeface="Roboto"/>
                        </a:defRPr>
                      </a:pPr>
                      <a:r>
                        <a:rPr sz="1050">
                          <a:solidFill>
                            <a:srgbClr val="25342A"/>
                          </a:solidFill>
                          <a:latin typeface="Roboto"/>
                        </a:rPr>
                        <a:t>$137,486</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$39,949</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$177,435</a:t>
                      </a:r>
                    </a:p>
                  </a:txBody>
                  <a:tcPr>
                    <a:solidFill>
                      <a:srgbClr val="F7FAF7"/>
                    </a:solidFill>
                  </a:tcPr>
                </a:tc>
                <a:tc>
                  <a:txBody>
                    <a:bodyPr/>
                    <a:lstStyle/>
                    <a:p>
                      <a:pPr algn="r">
                        <a:defRPr>
                          <a:latin typeface="Roboto"/>
                        </a:defRPr>
                      </a:pPr>
                      <a:r>
                        <a:rPr sz="1050">
                          <a:solidFill>
                            <a:srgbClr val="25342A"/>
                          </a:solidFill>
                          <a:latin typeface="Roboto"/>
                        </a:rPr>
                        <a:t>$137,486</a:t>
                      </a:r>
                    </a:p>
                  </a:txBody>
                  <a:tcPr>
                    <a:solidFill>
                      <a:srgbClr val="F7FAF7"/>
                    </a:solidFill>
                  </a:tcPr>
                </a:tc>
              </a:tr>
              <a:tr h="310896">
                <a:tc>
                  <a:txBody>
                    <a:bodyPr/>
                    <a:lstStyle/>
                    <a:p>
                      <a:pPr algn="l">
                        <a:defRPr>
                          <a:latin typeface="Roboto"/>
                        </a:defRPr>
                      </a:pPr>
                      <a:r>
                        <a:rPr sz="1050">
                          <a:solidFill>
                            <a:srgbClr val="25342A"/>
                          </a:solidFill>
                          <a:latin typeface="Roboto"/>
                        </a:rPr>
                        <a:t>2 Nov</a:t>
                      </a:r>
                    </a:p>
                  </a:txBody>
                  <a:tcPr>
                    <a:solidFill>
                      <a:srgbClr val="FFFFFF"/>
                    </a:solidFill>
                  </a:tcPr>
                </a:tc>
                <a:tc>
                  <a:txBody>
                    <a:bodyPr/>
                    <a:lstStyle/>
                    <a:p>
                      <a:pPr algn="r">
                        <a:defRPr>
                          <a:latin typeface="Roboto"/>
                        </a:defRPr>
                      </a:pPr>
                      <a:r>
                        <a:rPr sz="1050">
                          <a:solidFill>
                            <a:srgbClr val="25342A"/>
                          </a:solidFill>
                          <a:latin typeface="Roboto"/>
                        </a:rPr>
                        <a:t>$177,435</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$89,834</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($51,167)</a:t>
                      </a:r>
                    </a:p>
                  </a:txBody>
                  <a:tcPr>
                    <a:solidFill>
                      <a:srgbClr val="FFFFFF"/>
                    </a:solidFill>
                  </a:tcPr>
                </a:tc>
                <a:tc>
                  <a:txBody>
                    <a:bodyPr/>
                    <a:lstStyle/>
                    <a:p>
                      <a:pPr algn="r">
                        <a:defRPr>
                          <a:latin typeface="Roboto"/>
                        </a:defRPr>
                      </a:pPr>
                      <a:r>
                        <a:rPr sz="1050">
                          <a:solidFill>
                            <a:srgbClr val="B42318"/>
                          </a:solidFill>
                          <a:latin typeface="Roboto"/>
                        </a:rPr>
                        <a:t>($86,220)</a:t>
                      </a:r>
                    </a:p>
                  </a:txBody>
                  <a:tcPr>
                    <a:solidFill>
                      <a:srgbClr val="FFFFFF"/>
                    </a:solidFill>
                  </a:tcPr>
                </a:tc>
                <a:tc>
                  <a:txBody>
                    <a:bodyPr/>
                    <a:lstStyle/>
                    <a:p>
                      <a:pPr algn="r">
                        <a:defRPr>
                          <a:latin typeface="Roboto"/>
                        </a:defRPr>
                      </a:pPr>
                      <a:r>
                        <a:rPr sz="1050">
                          <a:solidFill>
                            <a:srgbClr val="B42318"/>
                          </a:solidFill>
                          <a:latin typeface="Roboto"/>
                        </a:rPr>
                        <a:t>($6,100)</a:t>
                      </a:r>
                    </a:p>
                  </a:txBody>
                  <a:tcPr>
                    <a:solidFill>
                      <a:srgbClr val="FFFFFF"/>
                    </a:solidFill>
                  </a:tcPr>
                </a:tc>
                <a:tc>
                  <a:txBody>
                    <a:bodyPr/>
                    <a:lstStyle/>
                    <a:p>
                      <a:pPr algn="r">
                        <a:defRPr>
                          <a:latin typeface="Roboto"/>
                        </a:defRPr>
                      </a:pPr>
                      <a:r>
                        <a:rPr sz="1050">
                          <a:solidFill>
                            <a:srgbClr val="25342A"/>
                          </a:solidFill>
                          <a:latin typeface="Roboto"/>
                        </a:rPr>
                        <a:t>$87,171</a:t>
                      </a:r>
                    </a:p>
                  </a:txBody>
                  <a:tcPr>
                    <a:solidFill>
                      <a:srgbClr val="FFFFFF"/>
                    </a:solidFill>
                  </a:tcPr>
                </a:tc>
                <a:tc>
                  <a:txBody>
                    <a:bodyPr/>
                    <a:lstStyle/>
                    <a:p>
                      <a:pPr algn="r">
                        <a:defRPr>
                          <a:latin typeface="Roboto"/>
                        </a:defRPr>
                      </a:pPr>
                      <a:r>
                        <a:rPr sz="1050">
                          <a:solidFill>
                            <a:srgbClr val="25342A"/>
                          </a:solidFill>
                          <a:latin typeface="Roboto"/>
                        </a:rPr>
                        <a:t>$64,048</a:t>
                      </a:r>
                    </a:p>
                  </a:txBody>
                  <a:tcPr>
                    <a:solidFill>
                      <a:srgbClr val="FFFFFF"/>
                    </a:solidFill>
                  </a:tcPr>
                </a:tc>
              </a:tr>
              <a:tr h="310896">
                <a:tc>
                  <a:txBody>
                    <a:bodyPr/>
                    <a:lstStyle/>
                    <a:p>
                      <a:pPr algn="l">
                        <a:defRPr>
                          <a:latin typeface="Roboto"/>
                        </a:defRPr>
                      </a:pPr>
                      <a:r>
                        <a:rPr sz="1050">
                          <a:solidFill>
                            <a:srgbClr val="25342A"/>
                          </a:solidFill>
                          <a:latin typeface="Roboto"/>
                        </a:rPr>
                        <a:t>9 Nov</a:t>
                      </a:r>
                    </a:p>
                  </a:txBody>
                  <a:tcPr>
                    <a:solidFill>
                      <a:srgbClr val="F7FAF7"/>
                    </a:solidFill>
                  </a:tcPr>
                </a:tc>
                <a:tc>
                  <a:txBody>
                    <a:bodyPr/>
                    <a:lstStyle/>
                    <a:p>
                      <a:pPr algn="r">
                        <a:defRPr>
                          <a:latin typeface="Roboto"/>
                        </a:defRPr>
                      </a:pPr>
                      <a:r>
                        <a:rPr sz="1050">
                          <a:solidFill>
                            <a:srgbClr val="25342A"/>
                          </a:solidFill>
                          <a:latin typeface="Roboto"/>
                        </a:rPr>
                        <a:t>$87,171</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$33,494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$120,665</a:t>
                      </a:r>
                    </a:p>
                  </a:txBody>
                  <a:tcPr>
                    <a:solidFill>
                      <a:srgbClr val="F7FAF7"/>
                    </a:solidFill>
                  </a:tcPr>
                </a:tc>
                <a:tc>
                  <a:txBody>
                    <a:bodyPr/>
                    <a:lstStyle/>
                    <a:p>
                      <a:pPr algn="r">
                        <a:defRPr>
                          <a:latin typeface="Roboto"/>
                        </a:defRPr>
                      </a:pPr>
                      <a:r>
                        <a:rPr sz="1050">
                          <a:solidFill>
                            <a:srgbClr val="25342A"/>
                          </a:solidFill>
                          <a:latin typeface="Roboto"/>
                        </a:rPr>
                        <a:t>$87,171</a:t>
                      </a:r>
                    </a:p>
                  </a:txBody>
                  <a:tcPr>
                    <a:solidFill>
                      <a:srgbClr val="F7FAF7"/>
                    </a:solidFill>
                  </a:tcPr>
                </a:tc>
              </a:tr>
              <a:tr h="310896">
                <a:tc>
                  <a:txBody>
                    <a:bodyPr/>
                    <a:lstStyle/>
                    <a:p>
                      <a:pPr algn="l">
                        <a:defRPr>
                          <a:latin typeface="Roboto"/>
                        </a:defRPr>
                      </a:pPr>
                      <a:r>
                        <a:rPr sz="1050">
                          <a:solidFill>
                            <a:srgbClr val="25342A"/>
                          </a:solidFill>
                          <a:latin typeface="Roboto"/>
                        </a:rPr>
                        <a:t>16 Nov</a:t>
                      </a:r>
                    </a:p>
                  </a:txBody>
                  <a:tcPr>
                    <a:solidFill>
                      <a:srgbClr val="FFFFFF"/>
                    </a:solidFill>
                  </a:tcPr>
                </a:tc>
                <a:tc>
                  <a:txBody>
                    <a:bodyPr/>
                    <a:lstStyle/>
                    <a:p>
                      <a:pPr algn="r">
                        <a:defRPr>
                          <a:latin typeface="Roboto"/>
                        </a:defRPr>
                      </a:pPr>
                      <a:r>
                        <a:rPr sz="1050">
                          <a:solidFill>
                            <a:srgbClr val="25342A"/>
                          </a:solidFill>
                          <a:latin typeface="Roboto"/>
                        </a:rPr>
                        <a:t>$120,665</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$39,949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$72,837</a:t>
                      </a:r>
                    </a:p>
                  </a:txBody>
                  <a:tcPr>
                    <a:solidFill>
                      <a:srgbClr val="FFFFFF"/>
                    </a:solidFill>
                  </a:tcPr>
                </a:tc>
                <a:tc>
                  <a:txBody>
                    <a:bodyPr/>
                    <a:lstStyle/>
                    <a:p>
                      <a:pPr algn="r">
                        <a:defRPr>
                          <a:latin typeface="Roboto"/>
                        </a:defRPr>
                      </a:pPr>
                      <a:r>
                        <a:rPr sz="1050">
                          <a:solidFill>
                            <a:srgbClr val="25342A"/>
                          </a:solidFill>
                          <a:latin typeface="Roboto"/>
                        </a:rPr>
                        <a:t>$72,837</a:t>
                      </a:r>
                    </a:p>
                  </a:txBody>
                  <a:tcPr>
                    <a:solidFill>
                      <a:srgbClr val="FFFFFF"/>
                    </a:solidFill>
                  </a:tcPr>
                </a:tc>
              </a:tr>
              <a:tr h="310896">
                <a:tc>
                  <a:txBody>
                    <a:bodyPr/>
                    <a:lstStyle/>
                    <a:p>
                      <a:pPr algn="l">
                        <a:defRPr>
                          <a:latin typeface="Roboto"/>
                        </a:defRPr>
                      </a:pPr>
                      <a:r>
                        <a:rPr sz="1050">
                          <a:solidFill>
                            <a:srgbClr val="25342A"/>
                          </a:solidFill>
                          <a:latin typeface="Roboto"/>
                        </a:rPr>
                        <a:t>23 Nov</a:t>
                      </a:r>
                    </a:p>
                  </a:txBody>
                  <a:tcPr>
                    <a:solidFill>
                      <a:srgbClr val="F7FAF7"/>
                    </a:solidFill>
                  </a:tcPr>
                </a:tc>
                <a:tc>
                  <a:txBody>
                    <a:bodyPr/>
                    <a:lstStyle/>
                    <a:p>
                      <a:pPr algn="r">
                        <a:defRPr>
                          <a:latin typeface="Roboto"/>
                        </a:defRPr>
                      </a:pPr>
                      <a:r>
                        <a:rPr sz="1050">
                          <a:solidFill>
                            <a:srgbClr val="25342A"/>
                          </a:solidFill>
                          <a:latin typeface="Roboto"/>
                        </a:rPr>
                        <a:t>$72,837</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$39,949</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$112,786</a:t>
                      </a:r>
                    </a:p>
                  </a:txBody>
                  <a:tcPr>
                    <a:solidFill>
                      <a:srgbClr val="F7FAF7"/>
                    </a:solidFill>
                  </a:tcPr>
                </a:tc>
                <a:tc>
                  <a:txBody>
                    <a:bodyPr/>
                    <a:lstStyle/>
                    <a:p>
                      <a:pPr algn="r">
                        <a:defRPr>
                          <a:latin typeface="Roboto"/>
                        </a:defRPr>
                      </a:pPr>
                      <a:r>
                        <a:rPr sz="1050">
                          <a:solidFill>
                            <a:srgbClr val="25342A"/>
                          </a:solidFill>
                          <a:latin typeface="Roboto"/>
                        </a:rPr>
                        <a:t>$72,837</a:t>
                      </a:r>
                    </a:p>
                  </a:txBody>
                  <a:tcPr>
                    <a:solidFill>
                      <a:srgbClr val="F7FAF7"/>
                    </a:solidFill>
                  </a:tcPr>
                </a:tc>
              </a:tr>
              <a:tr h="310896">
                <a:tc>
                  <a:txBody>
                    <a:bodyPr/>
                    <a:lstStyle/>
                    <a:p>
                      <a:pPr algn="l">
                        <a:defRPr>
                          <a:latin typeface="Roboto"/>
                        </a:defRPr>
                      </a:pPr>
                      <a:r>
                        <a:rPr sz="1050">
                          <a:solidFill>
                            <a:srgbClr val="25342A"/>
                          </a:solidFill>
                          <a:latin typeface="Roboto"/>
                        </a:rPr>
                        <a:t>30 Nov</a:t>
                      </a:r>
                    </a:p>
                  </a:txBody>
                  <a:tcPr>
                    <a:solidFill>
                      <a:srgbClr val="FFFFFF"/>
                    </a:solidFill>
                  </a:tcPr>
                </a:tc>
                <a:tc>
                  <a:txBody>
                    <a:bodyPr/>
                    <a:lstStyle/>
                    <a:p>
                      <a:pPr algn="r">
                        <a:defRPr>
                          <a:latin typeface="Roboto"/>
                        </a:defRPr>
                      </a:pPr>
                      <a:r>
                        <a:rPr sz="1050">
                          <a:solidFill>
                            <a:srgbClr val="25342A"/>
                          </a:solidFill>
                          <a:latin typeface="Roboto"/>
                        </a:rPr>
                        <a:t>$112,786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$39,949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($51,167)</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($6,100)</a:t>
                      </a:r>
                    </a:p>
                  </a:txBody>
                  <a:tcPr>
                    <a:solidFill>
                      <a:srgbClr val="FFFFFF"/>
                    </a:solidFill>
                  </a:tcPr>
                </a:tc>
                <a:tc>
                  <a:txBody>
                    <a:bodyPr/>
                    <a:lstStyle/>
                    <a:p>
                      <a:pPr algn="r">
                        <a:defRPr>
                          <a:latin typeface="Roboto"/>
                        </a:defRPr>
                      </a:pPr>
                      <a:r>
                        <a:rPr sz="1050">
                          <a:solidFill>
                            <a:srgbClr val="25342A"/>
                          </a:solidFill>
                          <a:latin typeface="Roboto"/>
                        </a:rPr>
                        <a:t>$58,857</a:t>
                      </a:r>
                    </a:p>
                  </a:txBody>
                  <a:tcPr>
                    <a:solidFill>
                      <a:srgbClr val="FFFFFF"/>
                    </a:solidFill>
                  </a:tcPr>
                </a:tc>
                <a:tc>
                  <a:txBody>
                    <a:bodyPr/>
                    <a:lstStyle/>
                    <a:p>
                      <a:pPr algn="r">
                        <a:defRPr>
                          <a:latin typeface="Roboto"/>
                        </a:defRPr>
                      </a:pPr>
                      <a:r>
                        <a:rPr sz="1050">
                          <a:solidFill>
                            <a:srgbClr val="25342A"/>
                          </a:solidFill>
                          <a:latin typeface="Roboto"/>
                        </a:rPr>
                        <a:t>$58,857</a:t>
                      </a:r>
                    </a:p>
                  </a:txBody>
                  <a:tcPr>
                    <a:solidFill>
                      <a:srgbClr val="FFFFFF"/>
                    </a:solidFill>
                  </a:tcPr>
                </a:tc>
              </a:tr>
            </a:tbl>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($24,676): the forecast assumes these arrive within a week (1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466344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Chermside retail centre</a:t>
                      </a:r>
                    </a:p>
                  </a:txBody>
                  <a:tcPr>
                    <a:solidFill>
                      <a:srgbClr val="FFFFFF"/>
                    </a:solidFill>
                  </a:tcPr>
                </a:tc>
                <a:tc>
                  <a:txBody>
                    <a:bodyPr/>
                    <a:lstStyle/>
                    <a:p>
                      <a:pPr algn="l">
                        <a:defRPr>
                          <a:latin typeface="Roboto"/>
                        </a:defRPr>
                      </a:pPr>
                      <a:r>
                        <a:rPr sz="1050">
                          <a:solidFill>
                            <a:srgbClr val="25342A"/>
                          </a:solidFill>
                          <a:latin typeface="Roboto"/>
                        </a:rPr>
                        <a:t>1 Aug</a:t>
                      </a:r>
                    </a:p>
                  </a:txBody>
                  <a:tcPr>
                    <a:solidFill>
                      <a:srgbClr val="FFFFFF"/>
                    </a:solidFill>
                  </a:tcPr>
                </a:tc>
                <a:tc>
                  <a:txBody>
                    <a:bodyPr/>
                    <a:lstStyle/>
                    <a:p>
                      <a:pPr algn="r">
                        <a:defRPr>
                          <a:latin typeface="Roboto"/>
                        </a:defRPr>
                      </a:pPr>
                      <a:r>
                        <a:rPr sz="1050">
                          <a:solidFill>
                            <a:srgbClr val="25342A"/>
                          </a:solidFill>
                          <a:latin typeface="Roboto"/>
                        </a:rPr>
                        <a:t>$5,060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r>
              <a:tr h="310896">
                <a:tc>
                  <a:txBody>
                    <a:bodyPr/>
                    <a:lstStyle/>
                    <a:p>
                      <a:pPr algn="l">
                        <a:defRPr>
                          <a:latin typeface="Roboto"/>
                        </a:defRPr>
                      </a:pPr>
                      <a:r>
                        <a:rPr sz="1050">
                          <a:solidFill>
                            <a:srgbClr val="25342A"/>
                          </a:solidFill>
                          <a:latin typeface="Roboto"/>
                        </a:rPr>
                        <a:t>Rocklea factory</a:t>
                      </a:r>
                    </a:p>
                  </a:txBody>
                  <a:tcPr>
                    <a:solidFill>
                      <a:srgbClr val="F7FAF7"/>
                    </a:solidFill>
                  </a:tcPr>
                </a:tc>
                <a:tc>
                  <a:txBody>
                    <a:bodyPr/>
                    <a:lstStyle/>
                    <a:p>
                      <a:pPr algn="l">
                        <a:defRPr>
                          <a:latin typeface="Roboto"/>
                        </a:defRPr>
                      </a:pPr>
                      <a:r>
                        <a:rPr sz="1050">
                          <a:solidFill>
                            <a:srgbClr val="25342A"/>
                          </a:solidFill>
                          <a:latin typeface="Roboto"/>
                        </a:rPr>
                        <a:t>1 Aug</a:t>
                      </a:r>
                    </a:p>
                  </a:txBody>
                  <a:tcPr>
                    <a:solidFill>
                      <a:srgbClr val="F7FAF7"/>
                    </a:solidFill>
                  </a:tcPr>
                </a:tc>
                <a:tc>
                  <a:txBody>
                    <a:bodyPr/>
                    <a:lstStyle/>
                    <a:p>
                      <a:pPr algn="r">
                        <a:defRPr>
                          <a:latin typeface="Roboto"/>
                        </a:defRPr>
                      </a:pPr>
                      <a:r>
                        <a:rPr sz="1050">
                          <a:solidFill>
                            <a:srgbClr val="25342A"/>
                          </a:solidFill>
                          <a:latin typeface="Roboto"/>
                        </a:rPr>
                        <a:t>$4,785</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r>
              <a:tr h="310896">
                <a:tc>
                  <a:txBody>
                    <a:bodyPr/>
                    <a:lstStyle/>
                    <a:p>
                      <a:pPr algn="l">
                        <a:defRPr>
                          <a:latin typeface="Roboto"/>
                        </a:defRPr>
                      </a:pPr>
                      <a:r>
                        <a:rPr sz="1050">
                          <a:solidFill>
                            <a:srgbClr val="25342A"/>
                          </a:solidFill>
                          <a:latin typeface="Roboto"/>
                        </a:rPr>
                        <a:t>Riverside Apartments (strata)</a:t>
                      </a:r>
                    </a:p>
                  </a:txBody>
                  <a:tcPr>
                    <a:solidFill>
                      <a:srgbClr val="FFFFFF"/>
                    </a:solidFill>
                  </a:tcPr>
                </a:tc>
                <a:tc>
                  <a:txBody>
                    <a:bodyPr/>
                    <a:lstStyle/>
                    <a:p>
                      <a:pPr algn="l">
                        <a:defRPr>
                          <a:latin typeface="Roboto"/>
                        </a:defRPr>
                      </a:pPr>
                      <a:r>
                        <a:rPr sz="1050">
                          <a:solidFill>
                            <a:srgbClr val="25342A"/>
                          </a:solidFill>
                          <a:latin typeface="Roboto"/>
                        </a:rPr>
                        <a:t>1 Aug</a:t>
                      </a:r>
                    </a:p>
                  </a:txBody>
                  <a:tcPr>
                    <a:solidFill>
                      <a:srgbClr val="FFFFFF"/>
                    </a:solidFill>
                  </a:tcPr>
                </a:tc>
                <a:tc>
                  <a:txBody>
                    <a:bodyPr/>
                    <a:lstStyle/>
                    <a:p>
                      <a:pPr algn="r">
                        <a:defRPr>
                          <a:latin typeface="Roboto"/>
                        </a:defRPr>
                      </a:pPr>
                      <a:r>
                        <a:rPr sz="1050">
                          <a:solidFill>
                            <a:srgbClr val="25342A"/>
                          </a:solidFill>
                          <a:latin typeface="Roboto"/>
                        </a:rPr>
                        <a:t>$3,960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r>
              <a:tr h="310896">
                <a:tc>
                  <a:txBody>
                    <a:bodyPr/>
                    <a:lstStyle/>
                    <a:p>
                      <a:pPr algn="l">
                        <a:defRPr>
                          <a:latin typeface="Roboto"/>
                        </a:defRPr>
                      </a:pPr>
                      <a:r>
                        <a:rPr sz="1050">
                          <a:solidFill>
                            <a:srgbClr val="25342A"/>
                          </a:solidFill>
                          <a:latin typeface="Roboto"/>
                        </a:rPr>
                        <a:t>Wacol logistics depot</a:t>
                      </a:r>
                    </a:p>
                  </a:txBody>
                  <a:tcPr>
                    <a:solidFill>
                      <a:srgbClr val="F7FAF7"/>
                    </a:solidFill>
                  </a:tcPr>
                </a:tc>
                <a:tc>
                  <a:txBody>
                    <a:bodyPr/>
                    <a:lstStyle/>
                    <a:p>
                      <a:pPr algn="l">
                        <a:defRPr>
                          <a:latin typeface="Roboto"/>
                        </a:defRPr>
                      </a:pPr>
                      <a:r>
                        <a:rPr sz="1050">
                          <a:solidFill>
                            <a:srgbClr val="25342A"/>
                          </a:solidFill>
                          <a:latin typeface="Roboto"/>
                        </a:rPr>
                        <a:t>1 Aug</a:t>
                      </a:r>
                    </a:p>
                  </a:txBody>
                  <a:tcPr>
                    <a:solidFill>
                      <a:srgbClr val="F7FAF7"/>
                    </a:solidFill>
                  </a:tcPr>
                </a:tc>
                <a:tc>
                  <a:txBody>
                    <a:bodyPr/>
                    <a:lstStyle/>
                    <a:p>
                      <a:pPr algn="r">
                        <a:defRPr>
                          <a:latin typeface="Roboto"/>
                        </a:defRPr>
                      </a:pPr>
                      <a:r>
                        <a:rPr sz="1050">
                          <a:solidFill>
                            <a:srgbClr val="25342A"/>
                          </a:solidFill>
                          <a:latin typeface="Roboto"/>
                        </a:rPr>
                        <a:t>$3,685</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r>
              <a:tr h="310896">
                <a:tc>
                  <a:txBody>
                    <a:bodyPr/>
                    <a:lstStyle/>
                    <a:p>
                      <a:pPr algn="l">
                        <a:defRPr>
                          <a:latin typeface="Roboto"/>
                        </a:defRPr>
                      </a:pPr>
                      <a:r>
                        <a:rPr sz="1050">
                          <a:solidFill>
                            <a:srgbClr val="25342A"/>
                          </a:solidFill>
                          <a:latin typeface="Roboto"/>
                        </a:rPr>
                        <a:t>Call-out CO-49132</a:t>
                      </a:r>
                    </a:p>
                  </a:txBody>
                  <a:tcPr>
                    <a:solidFill>
                      <a:srgbClr val="FFFFFF"/>
                    </a:solidFill>
                  </a:tcPr>
                </a:tc>
                <a:tc>
                  <a:txBody>
                    <a:bodyPr/>
                    <a:lstStyle/>
                    <a:p>
                      <a:pPr algn="l">
                        <a:defRPr>
                          <a:latin typeface="Roboto"/>
                        </a:defRPr>
                      </a:pPr>
                      <a:r>
                        <a:rPr sz="1050">
                          <a:solidFill>
                            <a:srgbClr val="25342A"/>
                          </a:solidFill>
                          <a:latin typeface="Roboto"/>
                        </a:rPr>
                        <a:t>24 Aug</a:t>
                      </a:r>
                    </a:p>
                  </a:txBody>
                  <a:tcPr>
                    <a:solidFill>
                      <a:srgbClr val="FFFFFF"/>
                    </a:solidFill>
                  </a:tcPr>
                </a:tc>
                <a:tc>
                  <a:txBody>
                    <a:bodyPr/>
                    <a:lstStyle/>
                    <a:p>
                      <a:pPr algn="r">
                        <a:defRPr>
                          <a:latin typeface="Roboto"/>
                        </a:defRPr>
                      </a:pPr>
                      <a:r>
                        <a:rPr sz="1050">
                          <a:solidFill>
                            <a:srgbClr val="25342A"/>
                          </a:solidFill>
                          <a:latin typeface="Roboto"/>
                        </a:rPr>
                        <a:t>$1,018</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7</a:t>
                      </a:r>
                    </a:p>
                  </a:txBody>
                  <a:tcPr>
                    <a:solidFill>
                      <a:srgbClr val="FFFFFF"/>
                    </a:solidFill>
                  </a:tcPr>
                </a:tc>
              </a:tr>
              <a:tr h="310896">
                <a:tc>
                  <a:txBody>
                    <a:bodyPr/>
                    <a:lstStyle/>
                    <a:p>
                      <a:pPr algn="l">
                        <a:defRPr>
                          <a:latin typeface="Roboto"/>
                        </a:defRPr>
                      </a:pPr>
                      <a:r>
                        <a:rPr sz="1050">
                          <a:solidFill>
                            <a:srgbClr val="25342A"/>
                          </a:solidFill>
                          <a:latin typeface="Roboto"/>
                        </a:rPr>
                        <a:t>Call-out CO-49149</a:t>
                      </a:r>
                    </a:p>
                  </a:txBody>
                  <a:tcPr>
                    <a:solidFill>
                      <a:srgbClr val="F7FAF7"/>
                    </a:solidFill>
                  </a:tcPr>
                </a:tc>
                <a:tc>
                  <a:txBody>
                    <a:bodyPr/>
                    <a:lstStyle/>
                    <a:p>
                      <a:pPr algn="l">
                        <a:defRPr>
                          <a:latin typeface="Roboto"/>
                        </a:defRPr>
                      </a:pPr>
                      <a:r>
                        <a:rPr sz="1050">
                          <a:solidFill>
                            <a:srgbClr val="25342A"/>
                          </a:solidFill>
                          <a:latin typeface="Roboto"/>
                        </a:rPr>
                        <a:t>22 Aug</a:t>
                      </a:r>
                    </a:p>
                  </a:txBody>
                  <a:tcPr>
                    <a:solidFill>
                      <a:srgbClr val="F7FAF7"/>
                    </a:solidFill>
                  </a:tcPr>
                </a:tc>
                <a:tc>
                  <a:txBody>
                    <a:bodyPr/>
                    <a:lstStyle/>
                    <a:p>
                      <a:pPr algn="r">
                        <a:defRPr>
                          <a:latin typeface="Roboto"/>
                        </a:defRPr>
                      </a:pPr>
                      <a:r>
                        <a:rPr sz="1050">
                          <a:solidFill>
                            <a:srgbClr val="25342A"/>
                          </a:solidFill>
                          <a:latin typeface="Roboto"/>
                        </a:rPr>
                        <a:t>$1,003</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9</a:t>
                      </a:r>
                    </a:p>
                  </a:txBody>
                  <a:tcPr>
                    <a:solidFill>
                      <a:srgbClr val="F7FAF7"/>
                    </a:solidFill>
                  </a:tcPr>
                </a:tc>
              </a:tr>
              <a:tr h="310896">
                <a:tc>
                  <a:txBody>
                    <a:bodyPr/>
                    <a:lstStyle/>
                    <a:p>
                      <a:pPr algn="l">
                        <a:defRPr>
                          <a:latin typeface="Roboto"/>
                        </a:defRPr>
                      </a:pPr>
                      <a:r>
                        <a:rPr sz="1050">
                          <a:solidFill>
                            <a:srgbClr val="25342A"/>
                          </a:solidFill>
                          <a:latin typeface="Roboto"/>
                        </a:rPr>
                        <a:t>Call-out CO-49147</a:t>
                      </a:r>
                    </a:p>
                  </a:txBody>
                  <a:tcPr>
                    <a:solidFill>
                      <a:srgbClr val="FFFFFF"/>
                    </a:solidFill>
                  </a:tcPr>
                </a:tc>
                <a:tc>
                  <a:txBody>
                    <a:bodyPr/>
                    <a:lstStyle/>
                    <a:p>
                      <a:pPr algn="l">
                        <a:defRPr>
                          <a:latin typeface="Roboto"/>
                        </a:defRPr>
                      </a:pPr>
                      <a:r>
                        <a:rPr sz="1050">
                          <a:solidFill>
                            <a:srgbClr val="25342A"/>
                          </a:solidFill>
                          <a:latin typeface="Roboto"/>
                        </a:rPr>
                        <a:t>5 Aug</a:t>
                      </a:r>
                    </a:p>
                  </a:txBody>
                  <a:tcPr>
                    <a:solidFill>
                      <a:srgbClr val="FFFFFF"/>
                    </a:solidFill>
                  </a:tcPr>
                </a:tc>
                <a:tc>
                  <a:txBody>
                    <a:bodyPr/>
                    <a:lstStyle/>
                    <a:p>
                      <a:pPr algn="r">
                        <a:defRPr>
                          <a:latin typeface="Roboto"/>
                        </a:defRPr>
                      </a:pPr>
                      <a:r>
                        <a:rPr sz="1050">
                          <a:solidFill>
                            <a:srgbClr val="25342A"/>
                          </a:solidFill>
                          <a:latin typeface="Roboto"/>
                        </a:rPr>
                        <a:t>$824</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26</a:t>
                      </a:r>
                    </a:p>
                  </a:txBody>
                  <a:tcPr>
                    <a:solidFill>
                      <a:srgbClr val="FFFFFF"/>
                    </a:solidFill>
                  </a:tcPr>
                </a:tc>
              </a:tr>
              <a:tr h="310896">
                <a:tc>
                  <a:txBody>
                    <a:bodyPr/>
                    <a:lstStyle/>
                    <a:p>
                      <a:pPr algn="l">
                        <a:defRPr>
                          <a:latin typeface="Roboto"/>
                        </a:defRPr>
                      </a:pPr>
                      <a:r>
                        <a:rPr sz="1050">
                          <a:solidFill>
                            <a:srgbClr val="25342A"/>
                          </a:solidFill>
                          <a:latin typeface="Roboto"/>
                        </a:rPr>
                        <a:t>Call-out CO-49175</a:t>
                      </a:r>
                    </a:p>
                  </a:txBody>
                  <a:tcPr>
                    <a:solidFill>
                      <a:srgbClr val="F7FAF7"/>
                    </a:solidFill>
                  </a:tcPr>
                </a:tc>
                <a:tc>
                  <a:txBody>
                    <a:bodyPr/>
                    <a:lstStyle/>
                    <a:p>
                      <a:pPr algn="l">
                        <a:defRPr>
                          <a:latin typeface="Roboto"/>
                        </a:defRPr>
                      </a:pPr>
                      <a:r>
                        <a:rPr sz="1050">
                          <a:solidFill>
                            <a:srgbClr val="25342A"/>
                          </a:solidFill>
                          <a:latin typeface="Roboto"/>
                        </a:rPr>
                        <a:t>25 Aug</a:t>
                      </a:r>
                    </a:p>
                  </a:txBody>
                  <a:tcPr>
                    <a:solidFill>
                      <a:srgbClr val="F7FAF7"/>
                    </a:solidFill>
                  </a:tcPr>
                </a:tc>
                <a:tc>
                  <a:txBody>
                    <a:bodyPr/>
                    <a:lstStyle/>
                    <a:p>
                      <a:pPr algn="r">
                        <a:defRPr>
                          <a:latin typeface="Roboto"/>
                        </a:defRPr>
                      </a:pPr>
                      <a:r>
                        <a:rPr sz="1050">
                          <a:solidFill>
                            <a:srgbClr val="25342A"/>
                          </a:solidFill>
                          <a:latin typeface="Roboto"/>
                        </a:rPr>
                        <a:t>$781</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6</a:t>
                      </a:r>
                    </a:p>
                  </a:txBody>
                  <a:tcPr>
                    <a:solidFill>
                      <a:srgbClr val="F7FAF7"/>
                    </a:solidFill>
                  </a:tcPr>
                </a:tc>
              </a:tr>
              <a:tr h="310896">
                <a:tc>
                  <a:txBody>
                    <a:bodyPr/>
                    <a:lstStyle/>
                    <a:p>
                      <a:pPr algn="l">
                        <a:defRPr>
                          <a:latin typeface="Roboto"/>
                        </a:defRPr>
                      </a:pPr>
                      <a:r>
                        <a:rPr sz="1050">
                          <a:solidFill>
                            <a:srgbClr val="25342A"/>
                          </a:solidFill>
                          <a:latin typeface="Roboto"/>
                        </a:rPr>
                        <a:t>Call-out CO-49162</a:t>
                      </a:r>
                    </a:p>
                  </a:txBody>
                  <a:tcPr>
                    <a:solidFill>
                      <a:srgbClr val="FFFFFF"/>
                    </a:solidFill>
                  </a:tcPr>
                </a:tc>
                <a:tc>
                  <a:txBody>
                    <a:bodyPr/>
                    <a:lstStyle/>
                    <a:p>
                      <a:pPr algn="l">
                        <a:defRPr>
                          <a:latin typeface="Roboto"/>
                        </a:defRPr>
                      </a:pPr>
                      <a:r>
                        <a:rPr sz="1050">
                          <a:solidFill>
                            <a:srgbClr val="25342A"/>
                          </a:solidFill>
                          <a:latin typeface="Roboto"/>
                        </a:rPr>
                        <a:t>3 Aug</a:t>
                      </a:r>
                    </a:p>
                  </a:txBody>
                  <a:tcPr>
                    <a:solidFill>
                      <a:srgbClr val="FFFFFF"/>
                    </a:solidFill>
                  </a:tcPr>
                </a:tc>
                <a:tc>
                  <a:txBody>
                    <a:bodyPr/>
                    <a:lstStyle/>
                    <a:p>
                      <a:pPr algn="r">
                        <a:defRPr>
                          <a:latin typeface="Roboto"/>
                        </a:defRPr>
                      </a:pPr>
                      <a:r>
                        <a:rPr sz="1050">
                          <a:solidFill>
                            <a:srgbClr val="25342A"/>
                          </a:solidFill>
                          <a:latin typeface="Roboto"/>
                        </a:rPr>
                        <a:t>$678</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28</a:t>
                      </a:r>
                    </a:p>
                  </a:txBody>
                  <a:tcPr>
                    <a:solidFill>
                      <a:srgbClr val="FFFFFF"/>
                    </a:solidFill>
                  </a:tcPr>
                </a:tc>
              </a:tr>
              <a:tr h="310896">
                <a:tc>
                  <a:txBody>
                    <a:bodyPr/>
                    <a:lstStyle/>
                    <a:p>
                      <a:pPr algn="l">
                        <a:defRPr>
                          <a:latin typeface="Roboto"/>
                        </a:defRPr>
                      </a:pPr>
                      <a:r>
                        <a:rPr sz="1050">
                          <a:solidFill>
                            <a:srgbClr val="25342A"/>
                          </a:solidFill>
                          <a:latin typeface="Roboto"/>
                        </a:rPr>
                        <a:t>Call-out CO-49136</a:t>
                      </a:r>
                    </a:p>
                  </a:txBody>
                  <a:tcPr>
                    <a:solidFill>
                      <a:srgbClr val="F7FAF7"/>
                    </a:solidFill>
                  </a:tcPr>
                </a:tc>
                <a:tc>
                  <a:txBody>
                    <a:bodyPr/>
                    <a:lstStyle/>
                    <a:p>
                      <a:pPr algn="l">
                        <a:defRPr>
                          <a:latin typeface="Roboto"/>
                        </a:defRPr>
                      </a:pPr>
                      <a:r>
                        <a:rPr sz="1050">
                          <a:solidFill>
                            <a:srgbClr val="25342A"/>
                          </a:solidFill>
                          <a:latin typeface="Roboto"/>
                        </a:rPr>
                        <a:t>26 Aug</a:t>
                      </a:r>
                    </a:p>
                  </a:txBody>
                  <a:tcPr>
                    <a:solidFill>
                      <a:srgbClr val="F7FAF7"/>
                    </a:solidFill>
                  </a:tcPr>
                </a:tc>
                <a:tc>
                  <a:txBody>
                    <a:bodyPr/>
                    <a:lstStyle/>
                    <a:p>
                      <a:pPr algn="r">
                        <a:defRPr>
                          <a:latin typeface="Roboto"/>
                        </a:defRPr>
                      </a:pPr>
                      <a:r>
                        <a:rPr sz="1050">
                          <a:solidFill>
                            <a:srgbClr val="25342A"/>
                          </a:solidFill>
                          <a:latin typeface="Roboto"/>
                        </a:rPr>
                        <a:t>$592</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5</a:t>
                      </a:r>
                    </a:p>
                  </a:txBody>
                  <a:tcPr>
                    <a:solidFill>
                      <a:srgbClr val="F7FAF7"/>
                    </a:solidFill>
                  </a:tcPr>
                </a:tc>
              </a:tr>
              <a:tr h="310896">
                <a:tc>
                  <a:txBody>
                    <a:bodyPr/>
                    <a:lstStyle/>
                    <a:p>
                      <a:pPr algn="l">
                        <a:defRPr>
                          <a:latin typeface="Roboto"/>
                        </a:defRPr>
                      </a:pPr>
                      <a:r>
                        <a:rPr sz="1050">
                          <a:solidFill>
                            <a:srgbClr val="25342A"/>
                          </a:solidFill>
                          <a:latin typeface="Roboto"/>
                        </a:rPr>
                        <a:t>Call-out CO-49176</a:t>
                      </a:r>
                    </a:p>
                  </a:txBody>
                  <a:tcPr>
                    <a:solidFill>
                      <a:srgbClr val="FFFFFF"/>
                    </a:solidFill>
                  </a:tcPr>
                </a:tc>
                <a:tc>
                  <a:txBody>
                    <a:bodyPr/>
                    <a:lstStyle/>
                    <a:p>
                      <a:pPr algn="l">
                        <a:defRPr>
                          <a:latin typeface="Roboto"/>
                        </a:defRPr>
                      </a:pPr>
                      <a:r>
                        <a:rPr sz="1050">
                          <a:solidFill>
                            <a:srgbClr val="25342A"/>
                          </a:solidFill>
                          <a:latin typeface="Roboto"/>
                        </a:rPr>
                        <a:t>25 Aug</a:t>
                      </a:r>
                    </a:p>
                  </a:txBody>
                  <a:tcPr>
                    <a:solidFill>
                      <a:srgbClr val="FFFFFF"/>
                    </a:solidFill>
                  </a:tcPr>
                </a:tc>
                <a:tc>
                  <a:txBody>
                    <a:bodyPr/>
                    <a:lstStyle/>
                    <a:p>
                      <a:pPr algn="r">
                        <a:defRPr>
                          <a:latin typeface="Roboto"/>
                        </a:defRPr>
                      </a:pPr>
                      <a:r>
                        <a:rPr sz="1050">
                          <a:solidFill>
                            <a:srgbClr val="25342A"/>
                          </a:solidFill>
                          <a:latin typeface="Roboto"/>
                        </a:rPr>
                        <a:t>$530</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6</a:t>
                      </a:r>
                    </a:p>
                  </a:txBody>
                  <a:tcPr>
                    <a:solidFill>
                      <a:srgbClr val="FFFFFF"/>
                    </a:solidFill>
                  </a:tcPr>
                </a:tc>
              </a:tr>
              <a:tr h="310896">
                <a:tc>
                  <a:txBody>
                    <a:bodyPr/>
                    <a:lstStyle/>
                    <a:p>
                      <a:pPr algn="l">
                        <a:defRPr>
                          <a:latin typeface="Roboto"/>
                        </a:defRPr>
                      </a:pPr>
                      <a:r>
                        <a:rPr sz="1050">
                          <a:solidFill>
                            <a:srgbClr val="25342A"/>
                          </a:solidFill>
                          <a:latin typeface="Roboto"/>
                        </a:rPr>
                        <a:t>Call-out CO-49156</a:t>
                      </a:r>
                    </a:p>
                  </a:txBody>
                  <a:tcPr>
                    <a:solidFill>
                      <a:srgbClr val="F7FAF7"/>
                    </a:solidFill>
                  </a:tcPr>
                </a:tc>
                <a:tc>
                  <a:txBody>
                    <a:bodyPr/>
                    <a:lstStyle/>
                    <a:p>
                      <a:pPr algn="l">
                        <a:defRPr>
                          <a:latin typeface="Roboto"/>
                        </a:defRPr>
                      </a:pPr>
                      <a:r>
                        <a:rPr sz="1050">
                          <a:solidFill>
                            <a:srgbClr val="25342A"/>
                          </a:solidFill>
                          <a:latin typeface="Roboto"/>
                        </a:rPr>
                        <a:t>25 Aug</a:t>
                      </a:r>
                    </a:p>
                  </a:txBody>
                  <a:tcPr>
                    <a:solidFill>
                      <a:srgbClr val="F7FAF7"/>
                    </a:solidFill>
                  </a:tcPr>
                </a:tc>
                <a:tc>
                  <a:txBody>
                    <a:bodyPr/>
                    <a:lstStyle/>
                    <a:p>
                      <a:pPr algn="r">
                        <a:defRPr>
                          <a:latin typeface="Roboto"/>
                        </a:defRPr>
                      </a:pPr>
                      <a:r>
                        <a:rPr sz="1050">
                          <a:solidFill>
                            <a:srgbClr val="25342A"/>
                          </a:solidFill>
                          <a:latin typeface="Roboto"/>
                        </a:rPr>
                        <a:t>$516</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6</a:t>
                      </a:r>
                    </a:p>
                  </a:txBody>
                  <a:tcPr>
                    <a:solidFill>
                      <a:srgbClr val="F7FAF7"/>
                    </a:solidFill>
                  </a:tcPr>
                </a:tc>
              </a:tr>
              <a:tr h="310896">
                <a:tc>
                  <a:txBody>
                    <a:bodyPr/>
                    <a:lstStyle/>
                    <a:p>
                      <a:pPr algn="l">
                        <a:defRPr>
                          <a:latin typeface="Roboto"/>
                        </a:defRPr>
                      </a:pPr>
                      <a:r>
                        <a:rPr sz="1050">
                          <a:solidFill>
                            <a:srgbClr val="25342A"/>
                          </a:solidFill>
                          <a:latin typeface="Roboto"/>
                        </a:rPr>
                        <a:t>Call-out CO-49181</a:t>
                      </a:r>
                    </a:p>
                  </a:txBody>
                  <a:tcPr>
                    <a:solidFill>
                      <a:srgbClr val="FFFFFF"/>
                    </a:solidFill>
                  </a:tcPr>
                </a:tc>
                <a:tc>
                  <a:txBody>
                    <a:bodyPr/>
                    <a:lstStyle/>
                    <a:p>
                      <a:pPr algn="l">
                        <a:defRPr>
                          <a:latin typeface="Roboto"/>
                        </a:defRPr>
                      </a:pPr>
                      <a:r>
                        <a:rPr sz="1050">
                          <a:solidFill>
                            <a:srgbClr val="25342A"/>
                          </a:solidFill>
                          <a:latin typeface="Roboto"/>
                        </a:rPr>
                        <a:t>8 Aug</a:t>
                      </a:r>
                    </a:p>
                  </a:txBody>
                  <a:tcPr>
                    <a:solidFill>
                      <a:srgbClr val="FFFFFF"/>
                    </a:solidFill>
                  </a:tcPr>
                </a:tc>
                <a:tc>
                  <a:txBody>
                    <a:bodyPr/>
                    <a:lstStyle/>
                    <a:p>
                      <a:pPr algn="r">
                        <a:defRPr>
                          <a:latin typeface="Roboto"/>
                        </a:defRPr>
                      </a:pPr>
                      <a:r>
                        <a:rPr sz="1050">
                          <a:solidFill>
                            <a:srgbClr val="25342A"/>
                          </a:solidFill>
                          <a:latin typeface="Roboto"/>
                        </a:rPr>
                        <a:t>$430</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23</a:t>
                      </a:r>
                    </a:p>
                  </a:txBody>
                  <a:tcPr>
                    <a:solidFill>
                      <a:srgbClr val="FFFFFF"/>
                    </a:solidFill>
                  </a:tcPr>
                </a:tc>
              </a:tr>
              <a:tr h="310896">
                <a:tc>
                  <a:txBody>
                    <a:bodyPr/>
                    <a:lstStyle/>
                    <a:p>
                      <a:pPr algn="l">
                        <a:defRPr>
                          <a:latin typeface="Roboto"/>
                        </a:defRPr>
                      </a:pPr>
                      <a:r>
                        <a:rPr sz="1050">
                          <a:solidFill>
                            <a:srgbClr val="25342A"/>
                          </a:solidFill>
                          <a:latin typeface="Roboto"/>
                        </a:rPr>
                        <a:t>Call-out CO-49142</a:t>
                      </a:r>
                    </a:p>
                  </a:txBody>
                  <a:tcPr>
                    <a:solidFill>
                      <a:srgbClr val="F7FAF7"/>
                    </a:solidFill>
                  </a:tcPr>
                </a:tc>
                <a:tc>
                  <a:txBody>
                    <a:bodyPr/>
                    <a:lstStyle/>
                    <a:p>
                      <a:pPr algn="l">
                        <a:defRPr>
                          <a:latin typeface="Roboto"/>
                        </a:defRPr>
                      </a:pPr>
                      <a:r>
                        <a:rPr sz="1050">
                          <a:solidFill>
                            <a:srgbClr val="25342A"/>
                          </a:solidFill>
                          <a:latin typeface="Roboto"/>
                        </a:rPr>
                        <a:t>8 Aug</a:t>
                      </a:r>
                    </a:p>
                  </a:txBody>
                  <a:tcPr>
                    <a:solidFill>
                      <a:srgbClr val="F7FAF7"/>
                    </a:solidFill>
                  </a:tcPr>
                </a:tc>
                <a:tc>
                  <a:txBody>
                    <a:bodyPr/>
                    <a:lstStyle/>
                    <a:p>
                      <a:pPr algn="r">
                        <a:defRPr>
                          <a:latin typeface="Roboto"/>
                        </a:defRPr>
                      </a:pPr>
                      <a:r>
                        <a:rPr sz="1050">
                          <a:solidFill>
                            <a:srgbClr val="25342A"/>
                          </a:solidFill>
                          <a:latin typeface="Roboto"/>
                        </a:rPr>
                        <a:t>$416</a:t>
                      </a:r>
                    </a:p>
                  </a:txBody>
                  <a:tcPr>
                    <a:solidFill>
                      <a:srgbClr val="F7FAF7"/>
                    </a:solidFill>
                  </a:tcPr>
                </a:tc>
                <a:tc>
                  <a:txBody>
                    <a:bodyPr/>
                    <a:lstStyle/>
                    <a:p>
                      <a:pPr algn="r">
                        <a:defRPr>
                          <a:latin typeface="Roboto"/>
                        </a:defRPr>
                      </a:pPr>
                      <a:r>
                        <a:rPr sz="1050">
                          <a:solidFill>
                            <a:srgbClr val="25342A"/>
                          </a:solidFill>
                          <a:latin typeface="Roboto"/>
                        </a:rPr>
                        <a:t>3</a:t>
                      </a:r>
                    </a:p>
                  </a:txBody>
                  <a:tcPr>
                    <a:solidFill>
                      <a:srgbClr val="F7FAF7"/>
                    </a:solidFill>
                  </a:tcPr>
                </a:tc>
                <a:tc>
                  <a:txBody>
                    <a:bodyPr/>
                    <a:lstStyle/>
                    <a:p>
                      <a:pPr algn="r">
                        <a:defRPr>
                          <a:latin typeface="Roboto"/>
                        </a:defRPr>
                      </a:pPr>
                      <a:r>
                        <a:rPr sz="1050">
                          <a:solidFill>
                            <a:srgbClr val="25342A"/>
                          </a:solidFill>
                          <a:latin typeface="Roboto"/>
                        </a:rPr>
                        <a:t>23</a:t>
                      </a:r>
                    </a:p>
                  </a:txBody>
                  <a:tcPr>
                    <a:solidFill>
                      <a:srgbClr val="F7FAF7"/>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($24,676): the forecast assumes these arrive within a week (2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621792"/>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Call-out CO-49182</a:t>
                      </a:r>
                    </a:p>
                  </a:txBody>
                  <a:tcPr>
                    <a:solidFill>
                      <a:srgbClr val="FFFFFF"/>
                    </a:solidFill>
                  </a:tcPr>
                </a:tc>
                <a:tc>
                  <a:txBody>
                    <a:bodyPr/>
                    <a:lstStyle/>
                    <a:p>
                      <a:pPr algn="l">
                        <a:defRPr>
                          <a:latin typeface="Roboto"/>
                        </a:defRPr>
                      </a:pPr>
                      <a:r>
                        <a:rPr sz="1050">
                          <a:solidFill>
                            <a:srgbClr val="25342A"/>
                          </a:solidFill>
                          <a:latin typeface="Roboto"/>
                        </a:rPr>
                        <a:t>4 Aug</a:t>
                      </a:r>
                    </a:p>
                  </a:txBody>
                  <a:tcPr>
                    <a:solidFill>
                      <a:srgbClr val="FFFFFF"/>
                    </a:solidFill>
                  </a:tcPr>
                </a:tc>
                <a:tc>
                  <a:txBody>
                    <a:bodyPr/>
                    <a:lstStyle/>
                    <a:p>
                      <a:pPr algn="r">
                        <a:defRPr>
                          <a:latin typeface="Roboto"/>
                        </a:defRPr>
                      </a:pPr>
                      <a:r>
                        <a:rPr sz="1050">
                          <a:solidFill>
                            <a:srgbClr val="25342A"/>
                          </a:solidFill>
                          <a:latin typeface="Roboto"/>
                        </a:rPr>
                        <a:t>$398</a:t>
                      </a:r>
                    </a:p>
                  </a:txBody>
                  <a:tcPr>
                    <a:solidFill>
                      <a:srgbClr val="FFFFFF"/>
                    </a:solidFill>
                  </a:tcPr>
                </a:tc>
                <a:tc>
                  <a:txBody>
                    <a:bodyPr/>
                    <a:lstStyle/>
                    <a:p>
                      <a:pPr algn="r">
                        <a:defRPr>
                          <a:latin typeface="Roboto"/>
                        </a:defRPr>
                      </a:pPr>
                      <a:r>
                        <a:rPr sz="1050">
                          <a:solidFill>
                            <a:srgbClr val="25342A"/>
                          </a:solidFill>
                          <a:latin typeface="Roboto"/>
                        </a:rPr>
                        <a:t>3</a:t>
                      </a:r>
                    </a:p>
                  </a:txBody>
                  <a:tcPr>
                    <a:solidFill>
                      <a:srgbClr val="FFFFFF"/>
                    </a:solidFill>
                  </a:tcPr>
                </a:tc>
                <a:tc>
                  <a:txBody>
                    <a:bodyPr/>
                    <a:lstStyle/>
                    <a:p>
                      <a:pPr algn="r">
                        <a:defRPr>
                          <a:latin typeface="Roboto"/>
                        </a:defRPr>
                      </a:pPr>
                      <a:r>
                        <a:rPr sz="1050">
                          <a:solidFill>
                            <a:srgbClr val="25342A"/>
                          </a:solidFill>
                          <a:latin typeface="Roboto"/>
                        </a:rPr>
                        <a:t>27</a:t>
                      </a:r>
                    </a:p>
                  </a:txBody>
                  <a:tcPr>
                    <a:solidFill>
                      <a:srgbClr val="FFFFFF"/>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28 Oct 2026, 12:45pm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5342A"/>
      </a:dk2>
      <a:lt2>
        <a:srgbClr val="F4F7F2"/>
      </a:lt2>
      <a:accent1>
        <a:srgbClr val="2F7A5D"/>
      </a:accent1>
      <a:accent2>
        <a:srgbClr val="0E9F6E"/>
      </a:accent2>
      <a:accent3>
        <a:srgbClr val="7D8790"/>
      </a:accent3>
      <a:accent4>
        <a:srgbClr val="8A6D3B"/>
      </a:accent4>
      <a:accent5>
        <a:srgbClr val="B42318"/>
      </a:accent5>
      <a:accent6>
        <a:srgbClr val="8E9CAB"/>
      </a:accent6>
      <a:hlink>
        <a:srgbClr val="0000FF"/>
      </a:hlink>
      <a:folHlink>
        <a:srgbClr val="800080"/>
      </a:folHlink>
    </a:clrScheme>
    <a:fontScheme name="Office">
      <a:majorFont>
        <a:latin typeface="Robo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