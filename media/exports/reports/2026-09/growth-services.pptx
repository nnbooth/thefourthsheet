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  <c:pt idx="21">
                  <c:v>133455</c:v>
                </c:pt>
                <c:pt idx="22">
                  <c:v>126500</c:v>
                </c:pt>
                <c:pt idx="23">
                  <c:v>145330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  <c:pt idx="21">
                  <c:v>88055</c:v>
                </c:pt>
                <c:pt idx="22">
                  <c:v>83800</c:v>
                </c:pt>
                <c:pt idx="23">
                  <c:v>94830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  <c:pt idx="21">
                  <c:v>35700</c:v>
                </c:pt>
                <c:pt idx="22">
                  <c:v>35700</c:v>
                </c:pt>
                <c:pt idx="23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  <c:pt idx="21">
                  <c:v>9700</c:v>
                </c:pt>
                <c:pt idx="22">
                  <c:v>7000</c:v>
                </c:pt>
                <c:pt idx="23">
                  <c:v>14800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September against September last year: 121.4%; Year to date against the same period last year: 77.6%; Gross margin, year to date: 61.1%. Revenue is 77.6% up on the same period last year, year to date ($405,285 against $228,200). Retainers make the highest gross margin (63.4%); Projects the lowest (60.0%). The business needs 45.8% gross margin just to cover overheads. Projects: 60.0% gross margin, 20.0 points over the 40.0% target ($53,451 ahead on $266,685 this financial year to date). Retainers: 63.4% gross margin, 23.4 points over the 40.0% target ($25,080 ahead on $107,100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September against September last year: 125.5%; Year to date against the same period last year: 70.8%; Gross margin, year to date: 60.0%. Projects brought in $266,685 this financial year to date, 70.8% on the same period last year (slower than the business as a whole, 77.6%), at a 60.0% gross margin (below the 61.1% overall). Projects: 60.0% gross margin, 20.0 points over the 40.0% target ($53,451 ahead on $266,685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September against September last year: 99.4%; Year to date against the same period last year: 99.4%; Gross margin, year to date: 63.4%. Retainers brought in $107,100 this financial year to date, 99.4% on the same period last year (faster than the business as a whole, 77.6%), at a 63.4% gross margin (above the 61.1% overall). Retainers: 63.4% gross margin, 23.4 points over the 40.0% target ($25,080 ahead on $107,100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September against September last year: 159.6%; Year to date against the same period last year: 71.2%; Gross margin, year to date: 61.9%. Training brought in $31,500 this financial year to date, 71.2% on the same period last year (slower than the business as a whole, 77.6%), at a 61.9% gross margin (above the 61.1% overall). Training: 61.9% gross margin, 21.9 points over the 40.0% target ($6,900 ahead on $31,500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Sep 2026) against the same period last year · Services. From gross margin to profit: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121.4%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$145,330 against $65,650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$405,285 against $228,200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$247,545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77.6% up on the same period last year, year to date ($405,285 against $228,200). Retainers make the highest gross margin (63.4%); Projects the lowest (60.0%). The business needs 45.8%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60.0% gross margin, 20.0 points over the 40.0% target ($53,451 ahead on $266,685 this financial year to date). Retainers: 63.4% gross margin, 23.4 points over the 40.0% target ($25,080 ahead on $107,100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$94,830 against $42,050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$266,685 against $156,100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$160,125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$266,685 this financial year to date, 70.8% on the same period last year (slower than the business as a whole, 77.6%), at a 60.0% gross margin (below the 61.1%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60.0% gross margin, 20.0 points over the 40.0% target ($53,451 ahead on $266,685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$107,100 against $53,700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$67,920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$107,100 this financial year to date, 99.4% on the same period last year (faster than the business as a whole, 77.6%), at a 63.4% gross margin (above the 61.1%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63.4% gross margin, 23.4 points over the 40.0% target ($25,080 ahead on $107,100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$14,800 against $5,700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$31,500 against $18,400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$19,500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$31,500 this financial year to date, 71.2% on the same period last year (slower than the business as a whole, 77.6%), at a 61.9% gross margin (above the 61.1%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61.9% gross margin, 21.9 points over the 40.0% target ($6,900 ahead on $31,500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Sep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$266,685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$160,125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$405,285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$228,200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77.6%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$247,545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61.1%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