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>
        <c:manualLayout>
          <c:layoutTarget val="inner"/>
          <c:xMode val="edge"/>
          <c:yMode val="edge"/>
          <c:x val="0.11"/>
          <c:y val="0.05"/>
          <c:w val="0.86"/>
          <c:h val="0.8"/>
        </c:manualLayout>
      </c:layout>
      <c:area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 $</c:v>
                </c:pt>
              </c:strCache>
            </c:strRef>
          </c:tx>
          <c:spPr>
            <a:solidFill>
              <a:srgbClr val="0E9F6E">
                <a:alpha val="25000"/>
              </a:srgbClr>
            </a:solidFill>
            <a:ln w="31750">
              <a:solidFill>
                <a:srgbClr val="0E9F6E"/>
              </a:solidFill>
            </a:ln>
          </c:spPr>
          <c:cat>
            <c:strRef>
              <c:f>Sheet1!$A$2:$A$25</c:f>
              <c:strCache>
                <c:ptCount val="24"/>
                <c:pt idx="0">
                  <c:v>Oct 24</c:v>
                </c:pt>
                <c:pt idx="1">
                  <c:v>Nov 24</c:v>
                </c:pt>
                <c:pt idx="2">
                  <c:v>Dec 24</c:v>
                </c:pt>
                <c:pt idx="3">
                  <c:v>Jan 25</c:v>
                </c:pt>
                <c:pt idx="4">
                  <c:v>Feb 25</c:v>
                </c:pt>
                <c:pt idx="5">
                  <c:v>Mar 25</c:v>
                </c:pt>
                <c:pt idx="6">
                  <c:v>Apr 25</c:v>
                </c:pt>
                <c:pt idx="7">
                  <c:v>May 25</c:v>
                </c:pt>
                <c:pt idx="8">
                  <c:v>Jun 25</c:v>
                </c:pt>
                <c:pt idx="9">
                  <c:v>Jul 25</c:v>
                </c:pt>
                <c:pt idx="10">
                  <c:v>Aug 25</c:v>
                </c:pt>
                <c:pt idx="11">
                  <c:v>Sep 25</c:v>
                </c:pt>
                <c:pt idx="12">
                  <c:v>Oct 25</c:v>
                </c:pt>
                <c:pt idx="13">
                  <c:v>Nov 25</c:v>
                </c:pt>
                <c:pt idx="14">
                  <c:v>Dec 25</c:v>
                </c:pt>
                <c:pt idx="15">
                  <c:v>Jan 26</c:v>
                </c:pt>
                <c:pt idx="16">
                  <c:v>Feb 26</c:v>
                </c:pt>
                <c:pt idx="17">
                  <c:v>Mar 26</c:v>
                </c:pt>
                <c:pt idx="18">
                  <c:v>Apr 26</c:v>
                </c:pt>
                <c:pt idx="19">
                  <c:v>May 26</c:v>
                </c:pt>
                <c:pt idx="20">
                  <c:v>Jun 26</c:v>
                </c:pt>
                <c:pt idx="21">
                  <c:v>Jul 26</c:v>
                </c:pt>
                <c:pt idx="22">
                  <c:v>Aug 26</c:v>
                </c:pt>
                <c:pt idx="23">
                  <c:v>Sep 26</c:v>
                </c:pt>
              </c:strCache>
            </c:strRef>
          </c:cat>
          <c:val>
            <c:numRef>
              <c:f>Sheet1!$B$2:$B$25</c:f>
              <c:numCache>
                <c:formatCode>$#,##0;[Red]($#,##0);"-"</c:formatCode>
                <c:ptCount val="24"/>
                <c:pt idx="0">
                  <c:v>103550</c:v>
                </c:pt>
                <c:pt idx="1">
                  <c:v>118390</c:v>
                </c:pt>
                <c:pt idx="2">
                  <c:v>125715</c:v>
                </c:pt>
                <c:pt idx="3">
                  <c:v>96560</c:v>
                </c:pt>
                <c:pt idx="4">
                  <c:v>121275</c:v>
                </c:pt>
                <c:pt idx="5">
                  <c:v>84340</c:v>
                </c:pt>
                <c:pt idx="6">
                  <c:v>69985</c:v>
                </c:pt>
                <c:pt idx="7">
                  <c:v>104970</c:v>
                </c:pt>
                <c:pt idx="8">
                  <c:v>99060</c:v>
                </c:pt>
                <c:pt idx="9">
                  <c:v>94805</c:v>
                </c:pt>
                <c:pt idx="10">
                  <c:v>67745</c:v>
                </c:pt>
                <c:pt idx="11">
                  <c:v>65650</c:v>
                </c:pt>
                <c:pt idx="12">
                  <c:v>78550</c:v>
                </c:pt>
                <c:pt idx="13">
                  <c:v>92575</c:v>
                </c:pt>
                <c:pt idx="14">
                  <c:v>76600</c:v>
                </c:pt>
                <c:pt idx="15">
                  <c:v>102350</c:v>
                </c:pt>
                <c:pt idx="16">
                  <c:v>110835</c:v>
                </c:pt>
                <c:pt idx="17">
                  <c:v>121215</c:v>
                </c:pt>
                <c:pt idx="18">
                  <c:v>88665</c:v>
                </c:pt>
                <c:pt idx="19">
                  <c:v>84920</c:v>
                </c:pt>
                <c:pt idx="20">
                  <c:v>127580</c:v>
                </c:pt>
                <c:pt idx="21">
                  <c:v>133455</c:v>
                </c:pt>
                <c:pt idx="22">
                  <c:v>126500</c:v>
                </c:pt>
                <c:pt idx="23">
                  <c:v>145330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-2101159928"/>
        <c:axId val="-2100718248"/>
      </c:areaChart>
      <c:catAx>
        <c:axId val="-2101159928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1000"/>
            </a:pPr>
          </a:p>
        </c:txPr>
        <c:crossAx val="-2100718248"/>
        <c:crosses val="autoZero"/>
        <c:auto val="1"/>
        <c:lblAlgn val="ctr"/>
        <c:lblOffset val="100"/>
        <c:tickLblSkip val="3"/>
        <c:noMultiLvlLbl val="0"/>
      </c:catAx>
      <c:valAx>
        <c:axId val="-2100718248"/>
        <c:scaling>
          <c:orientation val="minMax"/>
          <c:max val="200000.0"/>
          <c:min val="0.0"/>
        </c:scaling>
        <c:delete val="0"/>
        <c:axPos val="l"/>
        <c:majorGridlines>
          <c:spPr>
            <a:ln>
              <a:solidFill>
                <a:srgbClr val="E6EAE7"/>
              </a:solidFill>
            </a:ln>
          </c:spPr>
        </c:majorGridlines>
        <c:numFmt formatCode="$#,##0;[Red]($#,##0);&quot;-&quot;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000"/>
            </a:pPr>
          </a:p>
        </c:txPr>
        <c:crossAx val="-2101159928"/>
        <c:crosses val="autoZero"/>
        <c:crossBetween val="midCat"/>
        <c:majorUnit val="50000.0"/>
      </c:valAx>
    </c:plotArea>
    <c:plotVisOnly val="1"/>
    <c:dispBlanksAs val="zero"/>
    <c:showDLblsOverMax val="0"/>
  </c:chart>
  <c:txPr>
    <a:bodyPr/>
    <a:lstStyle/>
    <a:p>
      <a:pPr>
        <a:defRPr sz="1800">
          <a:latin typeface="Roboto"/>
        </a:defRPr>
      </a:pPr>
      <a:endParaRPr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>
        <c:manualLayout>
          <c:layoutTarget val="inner"/>
          <c:xMode val="edge"/>
          <c:yMode val="edge"/>
          <c:x val="0.11"/>
          <c:y val="0.05"/>
          <c:w val="0.86"/>
          <c:h val="0.8"/>
        </c:manualLayout>
      </c:layout>
      <c:area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 $</c:v>
                </c:pt>
              </c:strCache>
            </c:strRef>
          </c:tx>
          <c:spPr>
            <a:solidFill>
              <a:srgbClr val="0E9F6E">
                <a:alpha val="25000"/>
              </a:srgbClr>
            </a:solidFill>
            <a:ln w="31750">
              <a:solidFill>
                <a:srgbClr val="0E9F6E"/>
              </a:solidFill>
            </a:ln>
          </c:spPr>
          <c:cat>
            <c:strRef>
              <c:f>Sheet1!$A$2:$A$25</c:f>
              <c:strCache>
                <c:ptCount val="24"/>
                <c:pt idx="0">
                  <c:v>Oct 24</c:v>
                </c:pt>
                <c:pt idx="1">
                  <c:v>Nov 24</c:v>
                </c:pt>
                <c:pt idx="2">
                  <c:v>Dec 24</c:v>
                </c:pt>
                <c:pt idx="3">
                  <c:v>Jan 25</c:v>
                </c:pt>
                <c:pt idx="4">
                  <c:v>Feb 25</c:v>
                </c:pt>
                <c:pt idx="5">
                  <c:v>Mar 25</c:v>
                </c:pt>
                <c:pt idx="6">
                  <c:v>Apr 25</c:v>
                </c:pt>
                <c:pt idx="7">
                  <c:v>May 25</c:v>
                </c:pt>
                <c:pt idx="8">
                  <c:v>Jun 25</c:v>
                </c:pt>
                <c:pt idx="9">
                  <c:v>Jul 25</c:v>
                </c:pt>
                <c:pt idx="10">
                  <c:v>Aug 25</c:v>
                </c:pt>
                <c:pt idx="11">
                  <c:v>Sep 25</c:v>
                </c:pt>
                <c:pt idx="12">
                  <c:v>Oct 25</c:v>
                </c:pt>
                <c:pt idx="13">
                  <c:v>Nov 25</c:v>
                </c:pt>
                <c:pt idx="14">
                  <c:v>Dec 25</c:v>
                </c:pt>
                <c:pt idx="15">
                  <c:v>Jan 26</c:v>
                </c:pt>
                <c:pt idx="16">
                  <c:v>Feb 26</c:v>
                </c:pt>
                <c:pt idx="17">
                  <c:v>Mar 26</c:v>
                </c:pt>
                <c:pt idx="18">
                  <c:v>Apr 26</c:v>
                </c:pt>
                <c:pt idx="19">
                  <c:v>May 26</c:v>
                </c:pt>
                <c:pt idx="20">
                  <c:v>Jun 26</c:v>
                </c:pt>
                <c:pt idx="21">
                  <c:v>Jul 26</c:v>
                </c:pt>
                <c:pt idx="22">
                  <c:v>Aug 26</c:v>
                </c:pt>
                <c:pt idx="23">
                  <c:v>Sep 26</c:v>
                </c:pt>
              </c:strCache>
            </c:strRef>
          </c:cat>
          <c:val>
            <c:numRef>
              <c:f>Sheet1!$B$2:$B$25</c:f>
              <c:numCache>
                <c:formatCode>$#,##0;[Red]($#,##0);"-"</c:formatCode>
                <c:ptCount val="24"/>
                <c:pt idx="0">
                  <c:v>77350</c:v>
                </c:pt>
                <c:pt idx="1">
                  <c:v>96790</c:v>
                </c:pt>
                <c:pt idx="2">
                  <c:v>103515</c:v>
                </c:pt>
                <c:pt idx="3">
                  <c:v>73060</c:v>
                </c:pt>
                <c:pt idx="4">
                  <c:v>92075</c:v>
                </c:pt>
                <c:pt idx="5">
                  <c:v>53340</c:v>
                </c:pt>
                <c:pt idx="6">
                  <c:v>40885</c:v>
                </c:pt>
                <c:pt idx="7">
                  <c:v>65570</c:v>
                </c:pt>
                <c:pt idx="8">
                  <c:v>70760</c:v>
                </c:pt>
                <c:pt idx="9">
                  <c:v>71205</c:v>
                </c:pt>
                <c:pt idx="10">
                  <c:v>42845</c:v>
                </c:pt>
                <c:pt idx="11">
                  <c:v>42050</c:v>
                </c:pt>
                <c:pt idx="12">
                  <c:v>50650</c:v>
                </c:pt>
                <c:pt idx="13">
                  <c:v>51775</c:v>
                </c:pt>
                <c:pt idx="14">
                  <c:v>32800</c:v>
                </c:pt>
                <c:pt idx="15">
                  <c:v>66950</c:v>
                </c:pt>
                <c:pt idx="16">
                  <c:v>70035</c:v>
                </c:pt>
                <c:pt idx="17">
                  <c:v>83115</c:v>
                </c:pt>
                <c:pt idx="18">
                  <c:v>51865</c:v>
                </c:pt>
                <c:pt idx="19">
                  <c:v>48120</c:v>
                </c:pt>
                <c:pt idx="20">
                  <c:v>84880</c:v>
                </c:pt>
                <c:pt idx="21">
                  <c:v>88055</c:v>
                </c:pt>
                <c:pt idx="22">
                  <c:v>83800</c:v>
                </c:pt>
                <c:pt idx="23">
                  <c:v>94830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-2101159928"/>
        <c:axId val="-2100718248"/>
      </c:areaChart>
      <c:catAx>
        <c:axId val="-2101159928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1000"/>
            </a:pPr>
          </a:p>
        </c:txPr>
        <c:crossAx val="-2100718248"/>
        <c:crosses val="autoZero"/>
        <c:auto val="1"/>
        <c:lblAlgn val="ctr"/>
        <c:lblOffset val="100"/>
        <c:tickLblSkip val="3"/>
        <c:noMultiLvlLbl val="0"/>
      </c:catAx>
      <c:valAx>
        <c:axId val="-2100718248"/>
        <c:scaling>
          <c:orientation val="minMax"/>
          <c:max val="125000.0"/>
          <c:min val="0.0"/>
        </c:scaling>
        <c:delete val="0"/>
        <c:axPos val="l"/>
        <c:majorGridlines>
          <c:spPr>
            <a:ln>
              <a:solidFill>
                <a:srgbClr val="E6EAE7"/>
              </a:solidFill>
            </a:ln>
          </c:spPr>
        </c:majorGridlines>
        <c:numFmt formatCode="$#,##0;[Red]($#,##0);&quot;-&quot;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000"/>
            </a:pPr>
          </a:p>
        </c:txPr>
        <c:crossAx val="-2101159928"/>
        <c:crosses val="autoZero"/>
        <c:crossBetween val="midCat"/>
        <c:majorUnit val="25000.0"/>
      </c:valAx>
    </c:plotArea>
    <c:plotVisOnly val="1"/>
    <c:dispBlanksAs val="zero"/>
    <c:showDLblsOverMax val="0"/>
  </c:chart>
  <c:txPr>
    <a:bodyPr/>
    <a:lstStyle/>
    <a:p>
      <a:pPr>
        <a:defRPr sz="1800">
          <a:latin typeface="Roboto"/>
        </a:defRPr>
      </a:pPr>
      <a:endParaRPr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>
        <c:manualLayout>
          <c:layoutTarget val="inner"/>
          <c:xMode val="edge"/>
          <c:yMode val="edge"/>
          <c:x val="0.11"/>
          <c:y val="0.05"/>
          <c:w val="0.86"/>
          <c:h val="0.8"/>
        </c:manualLayout>
      </c:layout>
      <c:area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 $</c:v>
                </c:pt>
              </c:strCache>
            </c:strRef>
          </c:tx>
          <c:spPr>
            <a:solidFill>
              <a:srgbClr val="0E9F6E">
                <a:alpha val="25000"/>
              </a:srgbClr>
            </a:solidFill>
            <a:ln w="31750">
              <a:solidFill>
                <a:srgbClr val="0E9F6E"/>
              </a:solidFill>
            </a:ln>
          </c:spPr>
          <c:cat>
            <c:strRef>
              <c:f>Sheet1!$A$2:$A$25</c:f>
              <c:strCache>
                <c:ptCount val="24"/>
                <c:pt idx="0">
                  <c:v>Oct 24</c:v>
                </c:pt>
                <c:pt idx="1">
                  <c:v>Nov 24</c:v>
                </c:pt>
                <c:pt idx="2">
                  <c:v>Dec 24</c:v>
                </c:pt>
                <c:pt idx="3">
                  <c:v>Jan 25</c:v>
                </c:pt>
                <c:pt idx="4">
                  <c:v>Feb 25</c:v>
                </c:pt>
                <c:pt idx="5">
                  <c:v>Mar 25</c:v>
                </c:pt>
                <c:pt idx="6">
                  <c:v>Apr 25</c:v>
                </c:pt>
                <c:pt idx="7">
                  <c:v>May 25</c:v>
                </c:pt>
                <c:pt idx="8">
                  <c:v>Jun 25</c:v>
                </c:pt>
                <c:pt idx="9">
                  <c:v>Jul 25</c:v>
                </c:pt>
                <c:pt idx="10">
                  <c:v>Aug 25</c:v>
                </c:pt>
                <c:pt idx="11">
                  <c:v>Sep 25</c:v>
                </c:pt>
                <c:pt idx="12">
                  <c:v>Oct 25</c:v>
                </c:pt>
                <c:pt idx="13">
                  <c:v>Nov 25</c:v>
                </c:pt>
                <c:pt idx="14">
                  <c:v>Dec 25</c:v>
                </c:pt>
                <c:pt idx="15">
                  <c:v>Jan 26</c:v>
                </c:pt>
                <c:pt idx="16">
                  <c:v>Feb 26</c:v>
                </c:pt>
                <c:pt idx="17">
                  <c:v>Mar 26</c:v>
                </c:pt>
                <c:pt idx="18">
                  <c:v>Apr 26</c:v>
                </c:pt>
                <c:pt idx="19">
                  <c:v>May 26</c:v>
                </c:pt>
                <c:pt idx="20">
                  <c:v>Jun 26</c:v>
                </c:pt>
                <c:pt idx="21">
                  <c:v>Jul 26</c:v>
                </c:pt>
                <c:pt idx="22">
                  <c:v>Aug 26</c:v>
                </c:pt>
                <c:pt idx="23">
                  <c:v>Sep 26</c:v>
                </c:pt>
              </c:strCache>
            </c:strRef>
          </c:cat>
          <c:val>
            <c:numRef>
              <c:f>Sheet1!$B$2:$B$25</c:f>
              <c:numCache>
                <c:formatCode>$#,##0;[Red]($#,##0);"-"</c:formatCode>
                <c:ptCount val="24"/>
                <c:pt idx="0">
                  <c:v>16500</c:v>
                </c:pt>
                <c:pt idx="1">
                  <c:v>16500</c:v>
                </c:pt>
                <c:pt idx="2">
                  <c:v>16500</c:v>
                </c:pt>
                <c:pt idx="3">
                  <c:v>16500</c:v>
                </c:pt>
                <c:pt idx="4">
                  <c:v>16500</c:v>
                </c:pt>
                <c:pt idx="5">
                  <c:v>24000</c:v>
                </c:pt>
                <c:pt idx="6">
                  <c:v>24000</c:v>
                </c:pt>
                <c:pt idx="7">
                  <c:v>24000</c:v>
                </c:pt>
                <c:pt idx="8">
                  <c:v>24000</c:v>
                </c:pt>
                <c:pt idx="9">
                  <c:v>17900</c:v>
                </c:pt>
                <c:pt idx="10">
                  <c:v>17900</c:v>
                </c:pt>
                <c:pt idx="11">
                  <c:v>17900</c:v>
                </c:pt>
                <c:pt idx="12">
                  <c:v>17900</c:v>
                </c:pt>
                <c:pt idx="13">
                  <c:v>31100</c:v>
                </c:pt>
                <c:pt idx="14">
                  <c:v>31100</c:v>
                </c:pt>
                <c:pt idx="15">
                  <c:v>31100</c:v>
                </c:pt>
                <c:pt idx="16">
                  <c:v>31100</c:v>
                </c:pt>
                <c:pt idx="17">
                  <c:v>31100</c:v>
                </c:pt>
                <c:pt idx="18">
                  <c:v>31100</c:v>
                </c:pt>
                <c:pt idx="19">
                  <c:v>31100</c:v>
                </c:pt>
                <c:pt idx="20">
                  <c:v>35700</c:v>
                </c:pt>
                <c:pt idx="21">
                  <c:v>35700</c:v>
                </c:pt>
                <c:pt idx="22">
                  <c:v>35700</c:v>
                </c:pt>
                <c:pt idx="23">
                  <c:v>35700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-2101159928"/>
        <c:axId val="-2100718248"/>
      </c:areaChart>
      <c:catAx>
        <c:axId val="-2101159928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1000"/>
            </a:pPr>
          </a:p>
        </c:txPr>
        <c:crossAx val="-2100718248"/>
        <c:crosses val="autoZero"/>
        <c:auto val="1"/>
        <c:lblAlgn val="ctr"/>
        <c:lblOffset val="100"/>
        <c:tickLblSkip val="3"/>
        <c:noMultiLvlLbl val="0"/>
      </c:catAx>
      <c:valAx>
        <c:axId val="-2100718248"/>
        <c:scaling>
          <c:orientation val="minMax"/>
          <c:max val="40000.0"/>
          <c:min val="0.0"/>
        </c:scaling>
        <c:delete val="0"/>
        <c:axPos val="l"/>
        <c:majorGridlines>
          <c:spPr>
            <a:ln>
              <a:solidFill>
                <a:srgbClr val="E6EAE7"/>
              </a:solidFill>
            </a:ln>
          </c:spPr>
        </c:majorGridlines>
        <c:numFmt formatCode="$#,##0;[Red]($#,##0);&quot;-&quot;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000"/>
            </a:pPr>
          </a:p>
        </c:txPr>
        <c:crossAx val="-2101159928"/>
        <c:crosses val="autoZero"/>
        <c:crossBetween val="midCat"/>
        <c:majorUnit val="10000.0"/>
      </c:valAx>
    </c:plotArea>
    <c:plotVisOnly val="1"/>
    <c:dispBlanksAs val="zero"/>
    <c:showDLblsOverMax val="0"/>
  </c:chart>
  <c:txPr>
    <a:bodyPr/>
    <a:lstStyle/>
    <a:p>
      <a:pPr>
        <a:defRPr sz="1800">
          <a:latin typeface="Roboto"/>
        </a:defRPr>
      </a:pPr>
      <a:endParaRPr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>
        <c:manualLayout>
          <c:layoutTarget val="inner"/>
          <c:xMode val="edge"/>
          <c:yMode val="edge"/>
          <c:x val="0.11"/>
          <c:y val="0.05"/>
          <c:w val="0.86"/>
          <c:h val="0.8"/>
        </c:manualLayout>
      </c:layout>
      <c:area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 $</c:v>
                </c:pt>
              </c:strCache>
            </c:strRef>
          </c:tx>
          <c:spPr>
            <a:solidFill>
              <a:srgbClr val="0E9F6E">
                <a:alpha val="25000"/>
              </a:srgbClr>
            </a:solidFill>
            <a:ln w="31750">
              <a:solidFill>
                <a:srgbClr val="0E9F6E"/>
              </a:solidFill>
            </a:ln>
          </c:spPr>
          <c:cat>
            <c:strRef>
              <c:f>Sheet1!$A$2:$A$25</c:f>
              <c:strCache>
                <c:ptCount val="24"/>
                <c:pt idx="0">
                  <c:v>Oct 24</c:v>
                </c:pt>
                <c:pt idx="1">
                  <c:v>Nov 24</c:v>
                </c:pt>
                <c:pt idx="2">
                  <c:v>Dec 24</c:v>
                </c:pt>
                <c:pt idx="3">
                  <c:v>Jan 25</c:v>
                </c:pt>
                <c:pt idx="4">
                  <c:v>Feb 25</c:v>
                </c:pt>
                <c:pt idx="5">
                  <c:v>Mar 25</c:v>
                </c:pt>
                <c:pt idx="6">
                  <c:v>Apr 25</c:v>
                </c:pt>
                <c:pt idx="7">
                  <c:v>May 25</c:v>
                </c:pt>
                <c:pt idx="8">
                  <c:v>Jun 25</c:v>
                </c:pt>
                <c:pt idx="9">
                  <c:v>Jul 25</c:v>
                </c:pt>
                <c:pt idx="10">
                  <c:v>Aug 25</c:v>
                </c:pt>
                <c:pt idx="11">
                  <c:v>Sep 25</c:v>
                </c:pt>
                <c:pt idx="12">
                  <c:v>Oct 25</c:v>
                </c:pt>
                <c:pt idx="13">
                  <c:v>Nov 25</c:v>
                </c:pt>
                <c:pt idx="14">
                  <c:v>Dec 25</c:v>
                </c:pt>
                <c:pt idx="15">
                  <c:v>Jan 26</c:v>
                </c:pt>
                <c:pt idx="16">
                  <c:v>Feb 26</c:v>
                </c:pt>
                <c:pt idx="17">
                  <c:v>Mar 26</c:v>
                </c:pt>
                <c:pt idx="18">
                  <c:v>Apr 26</c:v>
                </c:pt>
                <c:pt idx="19">
                  <c:v>May 26</c:v>
                </c:pt>
                <c:pt idx="20">
                  <c:v>Jun 26</c:v>
                </c:pt>
                <c:pt idx="21">
                  <c:v>Jul 26</c:v>
                </c:pt>
                <c:pt idx="22">
                  <c:v>Aug 26</c:v>
                </c:pt>
                <c:pt idx="23">
                  <c:v>Sep 26</c:v>
                </c:pt>
              </c:strCache>
            </c:strRef>
          </c:cat>
          <c:val>
            <c:numRef>
              <c:f>Sheet1!$B$2:$B$25</c:f>
              <c:numCache>
                <c:formatCode>$#,##0;[Red]($#,##0);"-"</c:formatCode>
                <c:ptCount val="24"/>
                <c:pt idx="0">
                  <c:v>9700</c:v>
                </c:pt>
                <c:pt idx="1">
                  <c:v>5100</c:v>
                </c:pt>
                <c:pt idx="2">
                  <c:v>5700</c:v>
                </c:pt>
                <c:pt idx="3">
                  <c:v>7000</c:v>
                </c:pt>
                <c:pt idx="4">
                  <c:v>12700</c:v>
                </c:pt>
                <c:pt idx="5">
                  <c:v>7000</c:v>
                </c:pt>
                <c:pt idx="6">
                  <c:v>5100</c:v>
                </c:pt>
                <c:pt idx="7">
                  <c:v>15400</c:v>
                </c:pt>
                <c:pt idx="8">
                  <c:v>4300</c:v>
                </c:pt>
                <c:pt idx="9">
                  <c:v>5700</c:v>
                </c:pt>
                <c:pt idx="10">
                  <c:v>7000</c:v>
                </c:pt>
                <c:pt idx="11">
                  <c:v>5700</c:v>
                </c:pt>
                <c:pt idx="12">
                  <c:v>10000</c:v>
                </c:pt>
                <c:pt idx="13">
                  <c:v>9700</c:v>
                </c:pt>
                <c:pt idx="14">
                  <c:v>12700</c:v>
                </c:pt>
                <c:pt idx="15">
                  <c:v>4300</c:v>
                </c:pt>
                <c:pt idx="16">
                  <c:v>9700</c:v>
                </c:pt>
                <c:pt idx="17">
                  <c:v>7000</c:v>
                </c:pt>
                <c:pt idx="18">
                  <c:v>5700</c:v>
                </c:pt>
                <c:pt idx="19">
                  <c:v>5700</c:v>
                </c:pt>
                <c:pt idx="20">
                  <c:v>7000</c:v>
                </c:pt>
                <c:pt idx="21">
                  <c:v>9700</c:v>
                </c:pt>
                <c:pt idx="22">
                  <c:v>7000</c:v>
                </c:pt>
                <c:pt idx="23">
                  <c:v>14800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-2101159928"/>
        <c:axId val="-2100718248"/>
      </c:areaChart>
      <c:catAx>
        <c:axId val="-2101159928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1000"/>
            </a:pPr>
          </a:p>
        </c:txPr>
        <c:crossAx val="-2100718248"/>
        <c:crosses val="autoZero"/>
        <c:auto val="1"/>
        <c:lblAlgn val="ctr"/>
        <c:lblOffset val="100"/>
        <c:tickLblSkip val="3"/>
        <c:noMultiLvlLbl val="0"/>
      </c:catAx>
      <c:valAx>
        <c:axId val="-2100718248"/>
        <c:scaling>
          <c:orientation val="minMax"/>
          <c:max val="20000.0"/>
          <c:min val="0.0"/>
        </c:scaling>
        <c:delete val="0"/>
        <c:axPos val="l"/>
        <c:majorGridlines>
          <c:spPr>
            <a:ln>
              <a:solidFill>
                <a:srgbClr val="E6EAE7"/>
              </a:solidFill>
            </a:ln>
          </c:spPr>
        </c:majorGridlines>
        <c:numFmt formatCode="$#,##0;[Red]($#,##0);&quot;-&quot;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000"/>
            </a:pPr>
          </a:p>
        </c:txPr>
        <c:crossAx val="-2101159928"/>
        <c:crosses val="autoZero"/>
        <c:crossBetween val="midCat"/>
        <c:majorUnit val="5000.0"/>
      </c:valAx>
    </c:plotArea>
    <c:plotVisOnly val="1"/>
    <c:dispBlanksAs val="zero"/>
    <c:showDLblsOverMax val="0"/>
  </c:chart>
  <c:txPr>
    <a:bodyPr/>
    <a:lstStyle/>
    <a:p>
      <a:pPr>
        <a:defRPr sz="1800">
          <a:latin typeface="Roboto"/>
        </a:defRPr>
      </a:pPr>
      <a:endParaRPr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Which products and services are growing?. Sample Advisory Pty Ltd. Period: September 2026. Revenue, gross margin and growth (year on year) by product or service line over 24 months. Pick a line and every number, chart and note follows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Services · All. September against September last year: 121.4%; Year to date against the same period last year: 77.6%; Gross margin, year to date: 61.1%. Revenue is 77.6% up on the same period last year, year to date ($405,285 against $228,200). Retainers make the highest gross margin (63.4%); Projects the lowest (60.0%). The business needs 45.8% gross margin just to cover overheads. Projects: 60.0% gross margin, 20.0 points over the 40.0% target ($53,451 ahead on $266,685 this financial year to date). Retainers: 63.4% gross margin, 23.4 points over the 40.0% target ($25,080 ahead on $107,100 this financial year to date).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Services · Projects. September against September last year: 125.5%; Year to date against the same period last year: 70.8%; Gross margin, year to date: 60.0%. Projects brought in $266,685 this financial year to date, 70.8% on the same period last year (slower than the business as a whole, 77.6%), at a 60.0% gross margin (below the 61.1% overall). Projects: 60.0% gross margin, 20.0 points over the 40.0% target ($53,451 ahead on $266,685 this financial year to date).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Services · Retainers. September against September last year: 99.4%; Year to date against the same period last year: 99.4%; Gross margin, year to date: 63.4%. Retainers brought in $107,100 this financial year to date, 99.4% on the same period last year (faster than the business as a whole, 77.6%), at a 63.4% gross margin (above the 61.1% overall). Retainers: 63.4% gross margin, 23.4 points over the 40.0% target ($25,080 ahead on $107,100 this financial year to date).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Services · Training. September against September last year: 159.6%; Year to date against the same period last year: 71.2%; Gross margin, year to date: 61.9%. Training brought in $31,500 this financial year to date, 71.2% on the same period last year (slower than the business as a whole, 77.6%), at a 61.9% gross margin (above the 61.1% overall). Training: 61.9% gross margin, 21.9 points over the 40.0% target ($6,900 ahead on $31,500 this financial year to date).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By type of work: financial year to date (Jul to Sep 2026) against the same period last year · Services. From gross margin to profit: September's client work made $81,890 gross margin (56.3%). Consultant time not charged to client work took $14,352 and overheads $52,140, leaving $15,398 profit before tax (10.6% of revenue). To cover overheads, client work needs a 45.8% gross margin on average.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.xml"/><Relationship Id="rId3" Type="http://schemas.openxmlformats.org/officeDocument/2006/relationships/chart" Target="../charts/char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.xml"/><Relationship Id="rId3" Type="http://schemas.openxmlformats.org/officeDocument/2006/relationships/chart" Target="../charts/char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4.xml"/><Relationship Id="rId3" Type="http://schemas.openxmlformats.org/officeDocument/2006/relationships/chart" Target="../charts/chart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5.xml"/><Relationship Id="rId3" Type="http://schemas.openxmlformats.org/officeDocument/2006/relationships/chart" Target="../charts/chart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1965960"/>
            <a:ext cx="11277295" cy="1097280"/>
          </a:xfrm>
        </p:spPr>
        <p:txBody>
          <a:bodyPr wrap="square"/>
          <a:lstStyle/>
          <a:p>
            <a:pPr algn="l">
              <a:defRPr>
                <a:latin typeface="Roboto"/>
              </a:defRPr>
            </a:pPr>
            <a:r>
              <a:rPr sz="3400" b="1">
                <a:solidFill>
                  <a:srgbClr val="25342A"/>
                </a:solidFill>
                <a:latin typeface="Roboto"/>
              </a:rPr>
              <a:t>Which products and services are growing?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548640"/>
            <a:ext cx="640080" cy="640080"/>
          </a:xfrm>
          <a:prstGeom prst="rect">
            <a:avLst/>
          </a:prstGeom>
          <a:solidFill>
            <a:srgbClr val="2F7A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>
                <a:latin typeface="Roboto"/>
              </a:defRPr>
            </a:pPr>
            <a:r>
              <a:rPr sz="1600" b="1">
                <a:solidFill>
                  <a:srgbClr val="FFFFFF"/>
                </a:solidFill>
                <a:latin typeface="Roboto"/>
              </a:rPr>
              <a:t>4th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34440" y="658368"/>
            <a:ext cx="548640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800" b="1">
                <a:solidFill>
                  <a:srgbClr val="25342A"/>
                </a:solidFill>
                <a:latin typeface="Roboto"/>
              </a:rPr>
              <a:t>The Fourth Sheet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554480"/>
            <a:ext cx="1097280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1">
                <a:solidFill>
                  <a:srgbClr val="8A7A52"/>
                </a:solidFill>
                <a:latin typeface="Roboto"/>
              </a:rPr>
              <a:t>SAMPLE DATA · invented figures for demonstration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154680"/>
            <a:ext cx="11277295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600" b="0">
                <a:solidFill>
                  <a:srgbClr val="5F6F63"/>
                </a:solidFill>
                <a:latin typeface="Roboto"/>
              </a:rPr>
              <a:t>Sample Advisory Pty Ltd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703320"/>
            <a:ext cx="11277295" cy="5359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400" b="0">
                <a:solidFill>
                  <a:srgbClr val="25342A"/>
                </a:solidFill>
                <a:latin typeface="Roboto"/>
              </a:rPr>
              <a:t>Period: September 2026. Revenue, gross margin and growth (year on year) by product or service line over 24 months. Pick a line and every number, chart and note follows it.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4330700"/>
            <a:ext cx="11277295" cy="10972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How final is this data?</a:t>
            </a:r>
          </a:p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September 2026: Locked. September 2026 is locked (closed 2 Oct 2026). These numbers won't change.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492240"/>
            <a:ext cx="292608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growth-services.pptx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108960" y="6492240"/>
            <a:ext cx="59436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Data retrieved 2pm, Tue 6 Oct 2026 · Generated 22 Oct 2026, 4:57pm · Sample data · Made with Python (python-pptx)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03920" y="6492240"/>
            <a:ext cx="3200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Slide 1 of 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84048"/>
            <a:ext cx="11277295" cy="475488"/>
          </a:xfrm>
        </p:spPr>
        <p:txBody>
          <a:bodyPr wrap="square" lIns="45720" rIns="45720" tIns="0" bIns="0" anchor="t"/>
          <a:lstStyle/>
          <a:p>
            <a:pPr algn="l">
              <a:defRPr>
                <a:latin typeface="Roboto"/>
              </a:defRPr>
            </a:pPr>
            <a:r>
              <a:rPr sz="2400" b="1">
                <a:solidFill>
                  <a:srgbClr val="25342A"/>
                </a:solidFill>
                <a:latin typeface="Roboto"/>
              </a:rPr>
              <a:t>Services · All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F7A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4" name="TextBox 3"/>
          <p:cNvSpPr txBox="1"/>
          <p:nvPr/>
        </p:nvSpPr>
        <p:spPr>
          <a:xfrm>
            <a:off x="457200" y="146304"/>
            <a:ext cx="8229600" cy="2560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Sample Advisory Pty Ltd · Which products and services are growing?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14400"/>
            <a:ext cx="11277295" cy="26365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5F6F63"/>
                </a:solidFill>
                <a:latin typeface="Roboto"/>
              </a:rPr>
              <a:t>Revenue, gross margin and growth by type of work, by month · All. Gross margin is not profit.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278636"/>
            <a:ext cx="3606698" cy="1188720"/>
          </a:xfrm>
          <a:prstGeom prst="rect">
            <a:avLst/>
          </a:prstGeom>
          <a:solidFill>
            <a:srgbClr val="F7FAF7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7" name="TextBox 6"/>
          <p:cNvSpPr txBox="1"/>
          <p:nvPr/>
        </p:nvSpPr>
        <p:spPr>
          <a:xfrm>
            <a:off x="594360" y="1351788"/>
            <a:ext cx="3332378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September against September last year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717548"/>
            <a:ext cx="3332378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2200" b="1">
                <a:solidFill>
                  <a:srgbClr val="2F7A5D"/>
                </a:solidFill>
                <a:latin typeface="Roboto"/>
              </a:rPr>
              <a:t>121.4%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083308"/>
            <a:ext cx="3332378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$145,330 against $65,650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92498" y="1278636"/>
            <a:ext cx="3606698" cy="1188720"/>
          </a:xfrm>
          <a:prstGeom prst="rect">
            <a:avLst/>
          </a:prstGeom>
          <a:solidFill>
            <a:srgbClr val="F7FAF7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11" name="TextBox 10"/>
          <p:cNvSpPr txBox="1"/>
          <p:nvPr/>
        </p:nvSpPr>
        <p:spPr>
          <a:xfrm>
            <a:off x="4429658" y="1351788"/>
            <a:ext cx="3332378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Year to date against the same period last year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29658" y="1717548"/>
            <a:ext cx="3332378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2200" b="1">
                <a:solidFill>
                  <a:srgbClr val="2F7A5D"/>
                </a:solidFill>
                <a:latin typeface="Roboto"/>
              </a:rPr>
              <a:t>77.6%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29658" y="2083308"/>
            <a:ext cx="3332378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$405,285 against $228,200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127796" y="1278636"/>
            <a:ext cx="3606698" cy="1188720"/>
          </a:xfrm>
          <a:prstGeom prst="rect">
            <a:avLst/>
          </a:prstGeom>
          <a:solidFill>
            <a:srgbClr val="F7FAF7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15" name="TextBox 14"/>
          <p:cNvSpPr txBox="1"/>
          <p:nvPr/>
        </p:nvSpPr>
        <p:spPr>
          <a:xfrm>
            <a:off x="8264956" y="1351788"/>
            <a:ext cx="3332378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Gross margin, year to date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64956" y="1717548"/>
            <a:ext cx="3332378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2200" b="1">
                <a:solidFill>
                  <a:srgbClr val="2F7A5D"/>
                </a:solidFill>
                <a:latin typeface="Roboto"/>
              </a:rPr>
              <a:t>61.1%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64956" y="2083308"/>
            <a:ext cx="3332378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$247,545 before overheads</a:t>
            </a:r>
          </a:p>
        </p:txBody>
      </p:sp>
      <p:graphicFrame>
        <p:nvGraphicFramePr>
          <p:cNvPr id="18" name="Chart 17"/>
          <p:cNvGraphicFramePr>
            <a:graphicFrameLocks noGrp="1"/>
          </p:cNvGraphicFramePr>
          <p:nvPr/>
        </p:nvGraphicFramePr>
        <p:xfrm>
          <a:off x="457200" y="2604516"/>
          <a:ext cx="11277295" cy="2318004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9" name="Rectangle 18"/>
          <p:cNvSpPr/>
          <p:nvPr/>
        </p:nvSpPr>
        <p:spPr>
          <a:xfrm>
            <a:off x="457200" y="5013960"/>
            <a:ext cx="5501487" cy="1295400"/>
          </a:xfrm>
          <a:prstGeom prst="rect">
            <a:avLst/>
          </a:prstGeom>
          <a:solidFill>
            <a:srgbClr val="FFFFFF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20" name="TextBox 19"/>
          <p:cNvSpPr txBox="1"/>
          <p:nvPr/>
        </p:nvSpPr>
        <p:spPr>
          <a:xfrm>
            <a:off x="594360" y="5068824"/>
            <a:ext cx="5227167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1">
                <a:solidFill>
                  <a:srgbClr val="5F6F63"/>
                </a:solidFill>
                <a:latin typeface="Roboto"/>
              </a:rPr>
              <a:t>WHAT IT SHOWS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4360" y="5343144"/>
            <a:ext cx="5227167" cy="9296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25342A"/>
                </a:solidFill>
                <a:latin typeface="Roboto"/>
              </a:rPr>
              <a:t>Revenue is 77.6% up on the same period last year, year to date ($405,285 against $228,200). Retainers make the highest gross margin (63.4%); Projects the lowest (60.0%). The business needs 45.8% gross margin just to cover overheads.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3007" y="5013960"/>
            <a:ext cx="5501487" cy="1295400"/>
          </a:xfrm>
          <a:prstGeom prst="rect">
            <a:avLst/>
          </a:prstGeom>
          <a:solidFill>
            <a:srgbClr val="EEF5F0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23" name="TextBox 22"/>
          <p:cNvSpPr txBox="1"/>
          <p:nvPr/>
        </p:nvSpPr>
        <p:spPr>
          <a:xfrm>
            <a:off x="6370167" y="5068824"/>
            <a:ext cx="5227167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1">
                <a:solidFill>
                  <a:srgbClr val="5F6F63"/>
                </a:solidFill>
                <a:latin typeface="Roboto"/>
              </a:rPr>
              <a:t>WHAT YOU'D DO ABOUT IT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70167" y="5343144"/>
            <a:ext cx="5227167" cy="9296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25342A"/>
                </a:solidFill>
                <a:latin typeface="Roboto"/>
              </a:rPr>
              <a:t>Projects: 60.0% gross margin, 20.0 points over the 40.0% target ($53,451 ahead on $266,685 this financial year to date). Retainers: 63.4% gross margin, 23.4 points over the 40.0% target ($25,080 ahead on $107,100 this financial year to date).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6492240"/>
            <a:ext cx="292608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growth-services.pptx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108960" y="6492240"/>
            <a:ext cx="59436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Data retrieved 2pm, Tue 6 Oct 2026 · Generated 22 Oct 2026, 4:57pm · Sample data · Made with Python (python-pptx)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503920" y="6492240"/>
            <a:ext cx="3200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Slide 2 of 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84048"/>
            <a:ext cx="11277295" cy="475488"/>
          </a:xfrm>
        </p:spPr>
        <p:txBody>
          <a:bodyPr wrap="square" lIns="45720" rIns="45720" tIns="0" bIns="0" anchor="t"/>
          <a:lstStyle/>
          <a:p>
            <a:pPr algn="l">
              <a:defRPr>
                <a:latin typeface="Roboto"/>
              </a:defRPr>
            </a:pPr>
            <a:r>
              <a:rPr sz="2400" b="1">
                <a:solidFill>
                  <a:srgbClr val="25342A"/>
                </a:solidFill>
                <a:latin typeface="Roboto"/>
              </a:rPr>
              <a:t>Services · Projects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F7A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4" name="TextBox 3"/>
          <p:cNvSpPr txBox="1"/>
          <p:nvPr/>
        </p:nvSpPr>
        <p:spPr>
          <a:xfrm>
            <a:off x="457200" y="146304"/>
            <a:ext cx="8229600" cy="2560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Sample Advisory Pty Ltd · Which products and services are growing?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14400"/>
            <a:ext cx="11277295" cy="26365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5F6F63"/>
                </a:solidFill>
                <a:latin typeface="Roboto"/>
              </a:rPr>
              <a:t>Revenue, gross margin and growth by type of work, by month · Projects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278636"/>
            <a:ext cx="3606698" cy="1188720"/>
          </a:xfrm>
          <a:prstGeom prst="rect">
            <a:avLst/>
          </a:prstGeom>
          <a:solidFill>
            <a:srgbClr val="F7FAF7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7" name="TextBox 6"/>
          <p:cNvSpPr txBox="1"/>
          <p:nvPr/>
        </p:nvSpPr>
        <p:spPr>
          <a:xfrm>
            <a:off x="594360" y="1351788"/>
            <a:ext cx="3332378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September against September last year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717548"/>
            <a:ext cx="3332378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2200" b="1">
                <a:solidFill>
                  <a:srgbClr val="2F7A5D"/>
                </a:solidFill>
                <a:latin typeface="Roboto"/>
              </a:rPr>
              <a:t>125.5%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083308"/>
            <a:ext cx="3332378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$94,830 against $42,050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92498" y="1278636"/>
            <a:ext cx="3606698" cy="1188720"/>
          </a:xfrm>
          <a:prstGeom prst="rect">
            <a:avLst/>
          </a:prstGeom>
          <a:solidFill>
            <a:srgbClr val="F7FAF7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11" name="TextBox 10"/>
          <p:cNvSpPr txBox="1"/>
          <p:nvPr/>
        </p:nvSpPr>
        <p:spPr>
          <a:xfrm>
            <a:off x="4429658" y="1351788"/>
            <a:ext cx="3332378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Year to date against the same period last year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29658" y="1717548"/>
            <a:ext cx="3332378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2200" b="1">
                <a:solidFill>
                  <a:srgbClr val="2F7A5D"/>
                </a:solidFill>
                <a:latin typeface="Roboto"/>
              </a:rPr>
              <a:t>70.8%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29658" y="2083308"/>
            <a:ext cx="3332378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$266,685 against $156,100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127796" y="1278636"/>
            <a:ext cx="3606698" cy="1188720"/>
          </a:xfrm>
          <a:prstGeom prst="rect">
            <a:avLst/>
          </a:prstGeom>
          <a:solidFill>
            <a:srgbClr val="F7FAF7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15" name="TextBox 14"/>
          <p:cNvSpPr txBox="1"/>
          <p:nvPr/>
        </p:nvSpPr>
        <p:spPr>
          <a:xfrm>
            <a:off x="8264956" y="1351788"/>
            <a:ext cx="3332378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Gross margin, year to date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64956" y="1717548"/>
            <a:ext cx="3332378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2200" b="1">
                <a:solidFill>
                  <a:srgbClr val="2F7A5D"/>
                </a:solidFill>
                <a:latin typeface="Roboto"/>
              </a:rPr>
              <a:t>60.0%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64956" y="2083308"/>
            <a:ext cx="3332378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$160,125 before overheads</a:t>
            </a:r>
          </a:p>
        </p:txBody>
      </p:sp>
      <p:graphicFrame>
        <p:nvGraphicFramePr>
          <p:cNvPr id="18" name="Chart 17"/>
          <p:cNvGraphicFramePr>
            <a:graphicFrameLocks noGrp="1"/>
          </p:cNvGraphicFramePr>
          <p:nvPr/>
        </p:nvGraphicFramePr>
        <p:xfrm>
          <a:off x="457200" y="2604516"/>
          <a:ext cx="11277295" cy="2516124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9" name="Rectangle 18"/>
          <p:cNvSpPr/>
          <p:nvPr/>
        </p:nvSpPr>
        <p:spPr>
          <a:xfrm>
            <a:off x="457200" y="5212080"/>
            <a:ext cx="5501487" cy="1097280"/>
          </a:xfrm>
          <a:prstGeom prst="rect">
            <a:avLst/>
          </a:prstGeom>
          <a:solidFill>
            <a:srgbClr val="FFFFFF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20" name="TextBox 19"/>
          <p:cNvSpPr txBox="1"/>
          <p:nvPr/>
        </p:nvSpPr>
        <p:spPr>
          <a:xfrm>
            <a:off x="594360" y="5266944"/>
            <a:ext cx="5227167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1">
                <a:solidFill>
                  <a:srgbClr val="5F6F63"/>
                </a:solidFill>
                <a:latin typeface="Roboto"/>
              </a:rPr>
              <a:t>WHAT IT SHOWS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4360" y="5541264"/>
            <a:ext cx="5227167" cy="7315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25342A"/>
                </a:solidFill>
                <a:latin typeface="Roboto"/>
              </a:rPr>
              <a:t>Projects brought in $266,685 this financial year to date, 70.8% on the same period last year (slower than the business as a whole, 77.6%), at a 60.0% gross margin (below the 61.1% overall).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3007" y="5212080"/>
            <a:ext cx="5501487" cy="1097280"/>
          </a:xfrm>
          <a:prstGeom prst="rect">
            <a:avLst/>
          </a:prstGeom>
          <a:solidFill>
            <a:srgbClr val="EEF5F0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23" name="TextBox 22"/>
          <p:cNvSpPr txBox="1"/>
          <p:nvPr/>
        </p:nvSpPr>
        <p:spPr>
          <a:xfrm>
            <a:off x="6370167" y="5266944"/>
            <a:ext cx="5227167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1">
                <a:solidFill>
                  <a:srgbClr val="5F6F63"/>
                </a:solidFill>
                <a:latin typeface="Roboto"/>
              </a:rPr>
              <a:t>WHAT YOU'D DO ABOUT IT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70167" y="5541264"/>
            <a:ext cx="5227167" cy="7315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25342A"/>
                </a:solidFill>
                <a:latin typeface="Roboto"/>
              </a:rPr>
              <a:t>Projects: 60.0% gross margin, 20.0 points over the 40.0% target ($53,451 ahead on $266,685 this financial year to date).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6492240"/>
            <a:ext cx="292608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growth-services.pptx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108960" y="6492240"/>
            <a:ext cx="59436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Data retrieved 2pm, Tue 6 Oct 2026 · Generated 22 Oct 2026, 4:57pm · Sample data · Made with Python (python-pptx)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503920" y="6492240"/>
            <a:ext cx="3200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Slide 3 of 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84048"/>
            <a:ext cx="11277295" cy="475488"/>
          </a:xfrm>
        </p:spPr>
        <p:txBody>
          <a:bodyPr wrap="square" lIns="45720" rIns="45720" tIns="0" bIns="0" anchor="t"/>
          <a:lstStyle/>
          <a:p>
            <a:pPr algn="l">
              <a:defRPr>
                <a:latin typeface="Roboto"/>
              </a:defRPr>
            </a:pPr>
            <a:r>
              <a:rPr sz="2400" b="1">
                <a:solidFill>
                  <a:srgbClr val="25342A"/>
                </a:solidFill>
                <a:latin typeface="Roboto"/>
              </a:rPr>
              <a:t>Services · Retainers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F7A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4" name="TextBox 3"/>
          <p:cNvSpPr txBox="1"/>
          <p:nvPr/>
        </p:nvSpPr>
        <p:spPr>
          <a:xfrm>
            <a:off x="457200" y="146304"/>
            <a:ext cx="8229600" cy="2560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Sample Advisory Pty Ltd · Which products and services are growing?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14400"/>
            <a:ext cx="11277295" cy="26365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5F6F63"/>
                </a:solidFill>
                <a:latin typeface="Roboto"/>
              </a:rPr>
              <a:t>Revenue, gross margin and growth by type of work, by month · Retainers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278636"/>
            <a:ext cx="3606698" cy="1188720"/>
          </a:xfrm>
          <a:prstGeom prst="rect">
            <a:avLst/>
          </a:prstGeom>
          <a:solidFill>
            <a:srgbClr val="F7FAF7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7" name="TextBox 6"/>
          <p:cNvSpPr txBox="1"/>
          <p:nvPr/>
        </p:nvSpPr>
        <p:spPr>
          <a:xfrm>
            <a:off x="594360" y="1351788"/>
            <a:ext cx="3332378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September against September last year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717548"/>
            <a:ext cx="3332378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2200" b="1">
                <a:solidFill>
                  <a:srgbClr val="2F7A5D"/>
                </a:solidFill>
                <a:latin typeface="Roboto"/>
              </a:rPr>
              <a:t>99.4%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083308"/>
            <a:ext cx="3332378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$35,700 against $17,900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92498" y="1278636"/>
            <a:ext cx="3606698" cy="1188720"/>
          </a:xfrm>
          <a:prstGeom prst="rect">
            <a:avLst/>
          </a:prstGeom>
          <a:solidFill>
            <a:srgbClr val="F7FAF7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11" name="TextBox 10"/>
          <p:cNvSpPr txBox="1"/>
          <p:nvPr/>
        </p:nvSpPr>
        <p:spPr>
          <a:xfrm>
            <a:off x="4429658" y="1351788"/>
            <a:ext cx="3332378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Year to date against the same period last year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29658" y="1717548"/>
            <a:ext cx="3332378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2200" b="1">
                <a:solidFill>
                  <a:srgbClr val="2F7A5D"/>
                </a:solidFill>
                <a:latin typeface="Roboto"/>
              </a:rPr>
              <a:t>99.4%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29658" y="2083308"/>
            <a:ext cx="3332378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$107,100 against $53,700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127796" y="1278636"/>
            <a:ext cx="3606698" cy="1188720"/>
          </a:xfrm>
          <a:prstGeom prst="rect">
            <a:avLst/>
          </a:prstGeom>
          <a:solidFill>
            <a:srgbClr val="F7FAF7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15" name="TextBox 14"/>
          <p:cNvSpPr txBox="1"/>
          <p:nvPr/>
        </p:nvSpPr>
        <p:spPr>
          <a:xfrm>
            <a:off x="8264956" y="1351788"/>
            <a:ext cx="3332378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Gross margin, year to date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64956" y="1717548"/>
            <a:ext cx="3332378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2200" b="1">
                <a:solidFill>
                  <a:srgbClr val="2F7A5D"/>
                </a:solidFill>
                <a:latin typeface="Roboto"/>
              </a:rPr>
              <a:t>63.4%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64956" y="2083308"/>
            <a:ext cx="3332378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$67,920 before overheads</a:t>
            </a:r>
          </a:p>
        </p:txBody>
      </p:sp>
      <p:graphicFrame>
        <p:nvGraphicFramePr>
          <p:cNvPr id="18" name="Chart 17"/>
          <p:cNvGraphicFramePr>
            <a:graphicFrameLocks noGrp="1"/>
          </p:cNvGraphicFramePr>
          <p:nvPr/>
        </p:nvGraphicFramePr>
        <p:xfrm>
          <a:off x="457200" y="2604516"/>
          <a:ext cx="11277295" cy="2516124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9" name="Rectangle 18"/>
          <p:cNvSpPr/>
          <p:nvPr/>
        </p:nvSpPr>
        <p:spPr>
          <a:xfrm>
            <a:off x="457200" y="5212080"/>
            <a:ext cx="5501487" cy="1097280"/>
          </a:xfrm>
          <a:prstGeom prst="rect">
            <a:avLst/>
          </a:prstGeom>
          <a:solidFill>
            <a:srgbClr val="FFFFFF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20" name="TextBox 19"/>
          <p:cNvSpPr txBox="1"/>
          <p:nvPr/>
        </p:nvSpPr>
        <p:spPr>
          <a:xfrm>
            <a:off x="594360" y="5266944"/>
            <a:ext cx="5227167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1">
                <a:solidFill>
                  <a:srgbClr val="5F6F63"/>
                </a:solidFill>
                <a:latin typeface="Roboto"/>
              </a:rPr>
              <a:t>WHAT IT SHOWS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4360" y="5541264"/>
            <a:ext cx="5227167" cy="7315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25342A"/>
                </a:solidFill>
                <a:latin typeface="Roboto"/>
              </a:rPr>
              <a:t>Retainers brought in $107,100 this financial year to date, 99.4% on the same period last year (faster than the business as a whole, 77.6%), at a 63.4% gross margin (above the 61.1% overall).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3007" y="5212080"/>
            <a:ext cx="5501487" cy="1097280"/>
          </a:xfrm>
          <a:prstGeom prst="rect">
            <a:avLst/>
          </a:prstGeom>
          <a:solidFill>
            <a:srgbClr val="EEF5F0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23" name="TextBox 22"/>
          <p:cNvSpPr txBox="1"/>
          <p:nvPr/>
        </p:nvSpPr>
        <p:spPr>
          <a:xfrm>
            <a:off x="6370167" y="5266944"/>
            <a:ext cx="5227167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1">
                <a:solidFill>
                  <a:srgbClr val="5F6F63"/>
                </a:solidFill>
                <a:latin typeface="Roboto"/>
              </a:rPr>
              <a:t>WHAT YOU'D DO ABOUT IT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70167" y="5541264"/>
            <a:ext cx="5227167" cy="7315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25342A"/>
                </a:solidFill>
                <a:latin typeface="Roboto"/>
              </a:rPr>
              <a:t>Retainers: 63.4% gross margin, 23.4 points over the 40.0% target ($25,080 ahead on $107,100 this financial year to date).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6492240"/>
            <a:ext cx="292608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growth-services.pptx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108960" y="6492240"/>
            <a:ext cx="59436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Data retrieved 2pm, Tue 6 Oct 2026 · Generated 22 Oct 2026, 4:57pm · Sample data · Made with Python (python-pptx)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503920" y="6492240"/>
            <a:ext cx="3200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Slide 4 of 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84048"/>
            <a:ext cx="11277295" cy="475488"/>
          </a:xfrm>
        </p:spPr>
        <p:txBody>
          <a:bodyPr wrap="square" lIns="45720" rIns="45720" tIns="0" bIns="0" anchor="t"/>
          <a:lstStyle/>
          <a:p>
            <a:pPr algn="l">
              <a:defRPr>
                <a:latin typeface="Roboto"/>
              </a:defRPr>
            </a:pPr>
            <a:r>
              <a:rPr sz="2400" b="1">
                <a:solidFill>
                  <a:srgbClr val="25342A"/>
                </a:solidFill>
                <a:latin typeface="Roboto"/>
              </a:rPr>
              <a:t>Services · Training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F7A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4" name="TextBox 3"/>
          <p:cNvSpPr txBox="1"/>
          <p:nvPr/>
        </p:nvSpPr>
        <p:spPr>
          <a:xfrm>
            <a:off x="457200" y="146304"/>
            <a:ext cx="8229600" cy="2560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Sample Advisory Pty Ltd · Which products and services are growing?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14400"/>
            <a:ext cx="11277295" cy="26365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5F6F63"/>
                </a:solidFill>
                <a:latin typeface="Roboto"/>
              </a:rPr>
              <a:t>Revenue, gross margin and growth by type of work, by month · Training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278636"/>
            <a:ext cx="3606698" cy="1188720"/>
          </a:xfrm>
          <a:prstGeom prst="rect">
            <a:avLst/>
          </a:prstGeom>
          <a:solidFill>
            <a:srgbClr val="F7FAF7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7" name="TextBox 6"/>
          <p:cNvSpPr txBox="1"/>
          <p:nvPr/>
        </p:nvSpPr>
        <p:spPr>
          <a:xfrm>
            <a:off x="594360" y="1351788"/>
            <a:ext cx="3332378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September against September last year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717548"/>
            <a:ext cx="3332378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2200" b="1">
                <a:solidFill>
                  <a:srgbClr val="2F7A5D"/>
                </a:solidFill>
                <a:latin typeface="Roboto"/>
              </a:rPr>
              <a:t>159.6%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083308"/>
            <a:ext cx="3332378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$14,800 against $5,700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92498" y="1278636"/>
            <a:ext cx="3606698" cy="1188720"/>
          </a:xfrm>
          <a:prstGeom prst="rect">
            <a:avLst/>
          </a:prstGeom>
          <a:solidFill>
            <a:srgbClr val="F7FAF7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11" name="TextBox 10"/>
          <p:cNvSpPr txBox="1"/>
          <p:nvPr/>
        </p:nvSpPr>
        <p:spPr>
          <a:xfrm>
            <a:off x="4429658" y="1351788"/>
            <a:ext cx="3332378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Year to date against the same period last year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29658" y="1717548"/>
            <a:ext cx="3332378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2200" b="1">
                <a:solidFill>
                  <a:srgbClr val="2F7A5D"/>
                </a:solidFill>
                <a:latin typeface="Roboto"/>
              </a:rPr>
              <a:t>71.2%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29658" y="2083308"/>
            <a:ext cx="3332378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$31,500 against $18,400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127796" y="1278636"/>
            <a:ext cx="3606698" cy="1188720"/>
          </a:xfrm>
          <a:prstGeom prst="rect">
            <a:avLst/>
          </a:prstGeom>
          <a:solidFill>
            <a:srgbClr val="F7FAF7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15" name="TextBox 14"/>
          <p:cNvSpPr txBox="1"/>
          <p:nvPr/>
        </p:nvSpPr>
        <p:spPr>
          <a:xfrm>
            <a:off x="8264956" y="1351788"/>
            <a:ext cx="3332378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Gross margin, year to date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64956" y="1717548"/>
            <a:ext cx="3332378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2200" b="1">
                <a:solidFill>
                  <a:srgbClr val="2F7A5D"/>
                </a:solidFill>
                <a:latin typeface="Roboto"/>
              </a:rPr>
              <a:t>61.9%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64956" y="2083308"/>
            <a:ext cx="3332378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$19,500 before overheads</a:t>
            </a:r>
          </a:p>
        </p:txBody>
      </p:sp>
      <p:graphicFrame>
        <p:nvGraphicFramePr>
          <p:cNvPr id="18" name="Chart 17"/>
          <p:cNvGraphicFramePr>
            <a:graphicFrameLocks noGrp="1"/>
          </p:cNvGraphicFramePr>
          <p:nvPr/>
        </p:nvGraphicFramePr>
        <p:xfrm>
          <a:off x="457200" y="2604516"/>
          <a:ext cx="11277295" cy="2516124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9" name="Rectangle 18"/>
          <p:cNvSpPr/>
          <p:nvPr/>
        </p:nvSpPr>
        <p:spPr>
          <a:xfrm>
            <a:off x="457200" y="5212080"/>
            <a:ext cx="5501487" cy="1097280"/>
          </a:xfrm>
          <a:prstGeom prst="rect">
            <a:avLst/>
          </a:prstGeom>
          <a:solidFill>
            <a:srgbClr val="FFFFFF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20" name="TextBox 19"/>
          <p:cNvSpPr txBox="1"/>
          <p:nvPr/>
        </p:nvSpPr>
        <p:spPr>
          <a:xfrm>
            <a:off x="594360" y="5266944"/>
            <a:ext cx="5227167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1">
                <a:solidFill>
                  <a:srgbClr val="5F6F63"/>
                </a:solidFill>
                <a:latin typeface="Roboto"/>
              </a:rPr>
              <a:t>WHAT IT SHOWS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4360" y="5541264"/>
            <a:ext cx="5227167" cy="7315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25342A"/>
                </a:solidFill>
                <a:latin typeface="Roboto"/>
              </a:rPr>
              <a:t>Training brought in $31,500 this financial year to date, 71.2% on the same period last year (slower than the business as a whole, 77.6%), at a 61.9% gross margin (above the 61.1% overall).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3007" y="5212080"/>
            <a:ext cx="5501487" cy="1097280"/>
          </a:xfrm>
          <a:prstGeom prst="rect">
            <a:avLst/>
          </a:prstGeom>
          <a:solidFill>
            <a:srgbClr val="EEF5F0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23" name="TextBox 22"/>
          <p:cNvSpPr txBox="1"/>
          <p:nvPr/>
        </p:nvSpPr>
        <p:spPr>
          <a:xfrm>
            <a:off x="6370167" y="5266944"/>
            <a:ext cx="5227167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1">
                <a:solidFill>
                  <a:srgbClr val="5F6F63"/>
                </a:solidFill>
                <a:latin typeface="Roboto"/>
              </a:rPr>
              <a:t>WHAT YOU'D DO ABOUT IT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70167" y="5541264"/>
            <a:ext cx="5227167" cy="7315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25342A"/>
                </a:solidFill>
                <a:latin typeface="Roboto"/>
              </a:rPr>
              <a:t>Training: 61.9% gross margin, 21.9 points over the 40.0% target ($6,900 ahead on $31,500 this financial year to date).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6492240"/>
            <a:ext cx="292608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growth-services.pptx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108960" y="6492240"/>
            <a:ext cx="59436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Data retrieved 2pm, Tue 6 Oct 2026 · Generated 22 Oct 2026, 4:57pm · Sample data · Made with Python (python-pptx)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503920" y="6492240"/>
            <a:ext cx="3200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Slide 5 of 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84048"/>
            <a:ext cx="11277295" cy="719328"/>
          </a:xfrm>
        </p:spPr>
        <p:txBody>
          <a:bodyPr wrap="square" lIns="45720" rIns="45720" tIns="0" bIns="0" anchor="t"/>
          <a:lstStyle/>
          <a:p>
            <a:pPr algn="l">
              <a:defRPr>
                <a:latin typeface="Roboto"/>
              </a:defRPr>
            </a:pPr>
            <a:r>
              <a:rPr sz="2000" b="1">
                <a:solidFill>
                  <a:srgbClr val="25342A"/>
                </a:solidFill>
                <a:latin typeface="Roboto"/>
              </a:rPr>
              <a:t>By type of work: financial year to date (Jul to Sep 2026) against the same period last year · Services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F7A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4" name="TextBox 3"/>
          <p:cNvSpPr txBox="1"/>
          <p:nvPr/>
        </p:nvSpPr>
        <p:spPr>
          <a:xfrm>
            <a:off x="457200" y="146304"/>
            <a:ext cx="8229600" cy="2560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Sample Advisory Pty Ltd · Which products and services are growing?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58240"/>
            <a:ext cx="11277295" cy="45415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5F6F63"/>
                </a:solidFill>
                <a:latin typeface="Roboto"/>
              </a:rPr>
              <a:t>From gross margin to profit: September's client work made $81,890 gross margin (56.3%). Consultant time not charged to client work took $14,352 and overheads $52,140, leaving $15,398 profit before tax (10.6% of revenue). To cover overheads, client work needs a 45.8% gross margin on average.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712976"/>
          <a:ext cx="11277295" cy="1554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79549"/>
                <a:gridCol w="1879549"/>
                <a:gridCol w="1879549"/>
                <a:gridCol w="1879549"/>
                <a:gridCol w="1879549"/>
                <a:gridCol w="1879550"/>
              </a:tblGrid>
              <a:tr h="310896">
                <a:tc>
                  <a:txBody>
                    <a:bodyPr/>
                    <a:lstStyle/>
                    <a:p>
                      <a:pPr algn="l">
                        <a:defRPr>
                          <a:latin typeface="Roboto"/>
                        </a:defRPr>
                      </a:pPr>
                    </a:p>
                  </a:txBody>
                  <a:tcPr>
                    <a:solidFill>
                      <a:srgbClr val="2F7A5D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Roboto"/>
                        </a:rPr>
                        <a:t>Year to date</a:t>
                      </a:r>
                    </a:p>
                  </a:txBody>
                  <a:tcPr>
                    <a:solidFill>
                      <a:srgbClr val="2F7A5D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Roboto"/>
                        </a:rPr>
                        <a:t>Same period last year</a:t>
                      </a:r>
                    </a:p>
                  </a:txBody>
                  <a:tcPr>
                    <a:solidFill>
                      <a:srgbClr val="2F7A5D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Roboto"/>
                        </a:rPr>
                        <a:t>Growth</a:t>
                      </a:r>
                    </a:p>
                  </a:txBody>
                  <a:tcPr>
                    <a:solidFill>
                      <a:srgbClr val="2F7A5D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Roboto"/>
                        </a:rPr>
                        <a:t>Gross margin $</a:t>
                      </a:r>
                    </a:p>
                  </a:txBody>
                  <a:tcPr>
                    <a:solidFill>
                      <a:srgbClr val="2F7A5D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Roboto"/>
                        </a:rPr>
                        <a:t>Gross margin %</a:t>
                      </a:r>
                    </a:p>
                  </a:txBody>
                  <a:tcPr>
                    <a:solidFill>
                      <a:srgbClr val="2F7A5D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Projects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$266,685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$156,100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70.8%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$160,125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60.0%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Retainers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$107,100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$53,700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99.4%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$67,920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63.4%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Training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$31,500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$18,400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71.2%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$19,500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61.9%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>
                        <a:defRPr>
                          <a:latin typeface="Roboto"/>
                        </a:defRPr>
                      </a:pPr>
                      <a:r>
                        <a:rPr sz="1050" b="1">
                          <a:solidFill>
                            <a:srgbClr val="25342A"/>
                          </a:solidFill>
                          <a:latin typeface="Roboto"/>
                        </a:rPr>
                        <a:t>Total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 b="1">
                          <a:solidFill>
                            <a:srgbClr val="25342A"/>
                          </a:solidFill>
                          <a:latin typeface="Roboto"/>
                        </a:rPr>
                        <a:t>$405,285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 b="1">
                          <a:solidFill>
                            <a:srgbClr val="25342A"/>
                          </a:solidFill>
                          <a:latin typeface="Roboto"/>
                        </a:rPr>
                        <a:t>$228,200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 b="1">
                          <a:solidFill>
                            <a:srgbClr val="25342A"/>
                          </a:solidFill>
                          <a:latin typeface="Roboto"/>
                        </a:rPr>
                        <a:t>77.6%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 b="1">
                          <a:solidFill>
                            <a:srgbClr val="25342A"/>
                          </a:solidFill>
                          <a:latin typeface="Roboto"/>
                        </a:rPr>
                        <a:t>$247,545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 b="1">
                          <a:solidFill>
                            <a:srgbClr val="25342A"/>
                          </a:solidFill>
                          <a:latin typeface="Roboto"/>
                        </a:rPr>
                        <a:t>61.1%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457200" y="6492240"/>
            <a:ext cx="292608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growth-services.pptx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108960" y="6492240"/>
            <a:ext cx="59436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Data retrieved 2pm, Tue 6 Oct 2026 · Generated 22 Oct 2026, 4:57pm · Sample data · Made with Python (python-pptx)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03920" y="6492240"/>
            <a:ext cx="3200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Slide 6 of 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25342A"/>
      </a:dk2>
      <a:lt2>
        <a:srgbClr val="F4F7F2"/>
      </a:lt2>
      <a:accent1>
        <a:srgbClr val="2F7A5D"/>
      </a:accent1>
      <a:accent2>
        <a:srgbClr val="0E9F6E"/>
      </a:accent2>
      <a:accent3>
        <a:srgbClr val="7D8790"/>
      </a:accent3>
      <a:accent4>
        <a:srgbClr val="8A6D3B"/>
      </a:accent4>
      <a:accent5>
        <a:srgbClr val="B42318"/>
      </a:accent5>
      <a:accent6>
        <a:srgbClr val="8E9CAB"/>
      </a:accent6>
      <a:hlink>
        <a:srgbClr val="0000FF"/>
      </a:hlink>
      <a:folHlink>
        <a:srgbClr val="800080"/>
      </a:folHlink>
    </a:clrScheme>
    <a:fontScheme name="Office">
      <a:majorFont>
        <a:latin typeface="Roboto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Roboto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