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Sheet1!$A$2:$A$153</c:f>
              <c:strCache>
                <c:ptCount val="152"/>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pt idx="122">
                  <c:v>1 Dec</c:v>
                </c:pt>
                <c:pt idx="123">
                  <c:v>2 Dec</c:v>
                </c:pt>
                <c:pt idx="124">
                  <c:v>3 Dec</c:v>
                </c:pt>
                <c:pt idx="125">
                  <c:v>4 Dec</c:v>
                </c:pt>
                <c:pt idx="126">
                  <c:v>5 Dec</c:v>
                </c:pt>
                <c:pt idx="127">
                  <c:v>6 Dec</c:v>
                </c:pt>
                <c:pt idx="128">
                  <c:v>7 Dec</c:v>
                </c:pt>
                <c:pt idx="129">
                  <c:v>8 Dec</c:v>
                </c:pt>
                <c:pt idx="130">
                  <c:v>9 Dec</c:v>
                </c:pt>
                <c:pt idx="131">
                  <c:v>10 Dec</c:v>
                </c:pt>
                <c:pt idx="132">
                  <c:v>11 Dec</c:v>
                </c:pt>
                <c:pt idx="133">
                  <c:v>12 Dec</c:v>
                </c:pt>
                <c:pt idx="134">
                  <c:v>13 Dec</c:v>
                </c:pt>
                <c:pt idx="135">
                  <c:v>14 Dec</c:v>
                </c:pt>
                <c:pt idx="136">
                  <c:v>15 Dec</c:v>
                </c:pt>
                <c:pt idx="137">
                  <c:v>16 Dec</c:v>
                </c:pt>
                <c:pt idx="138">
                  <c:v>17 Dec</c:v>
                </c:pt>
                <c:pt idx="139">
                  <c:v>18 Dec</c:v>
                </c:pt>
                <c:pt idx="140">
                  <c:v>19 Dec</c:v>
                </c:pt>
                <c:pt idx="141">
                  <c:v>20 Dec</c:v>
                </c:pt>
                <c:pt idx="142">
                  <c:v>21 Dec</c:v>
                </c:pt>
                <c:pt idx="143">
                  <c:v>22 Dec</c:v>
                </c:pt>
                <c:pt idx="144">
                  <c:v>23 Dec</c:v>
                </c:pt>
                <c:pt idx="145">
                  <c:v>24 Dec</c:v>
                </c:pt>
                <c:pt idx="146">
                  <c:v>25 Dec</c:v>
                </c:pt>
                <c:pt idx="147">
                  <c:v>26 Dec</c:v>
                </c:pt>
                <c:pt idx="148">
                  <c:v>27 Dec</c:v>
                </c:pt>
                <c:pt idx="149">
                  <c:v>28 Dec</c:v>
                </c:pt>
                <c:pt idx="150">
                  <c:v>29 Dec</c:v>
                </c:pt>
                <c:pt idx="151">
                  <c:v>30 Dec</c:v>
                </c:pt>
              </c:strCache>
            </c:strRef>
          </c:cat>
          <c:val>
            <c:numRef>
              <c:f>Sheet1!$B$2:$B$153</c:f>
              <c:numCache>
                <c:formatCode>$#,##0;[Red]($#,##0);"-"</c:formatCode>
                <c:ptCount val="152"/>
                <c:pt idx="0">
                  <c:v>88000</c:v>
                </c:pt>
                <c:pt idx="1">
                  <c:v>88000</c:v>
                </c:pt>
                <c:pt idx="2">
                  <c:v>132701</c:v>
                </c:pt>
                <c:pt idx="3">
                  <c:v>151542</c:v>
                </c:pt>
                <c:pt idx="4">
                  <c:v>152596</c:v>
                </c:pt>
                <c:pt idx="5">
                  <c:v>155460</c:v>
                </c:pt>
                <c:pt idx="6">
                  <c:v>155919</c:v>
                </c:pt>
                <c:pt idx="7">
                  <c:v>155919</c:v>
                </c:pt>
                <c:pt idx="8">
                  <c:v>155919</c:v>
                </c:pt>
                <c:pt idx="9">
                  <c:v>185269</c:v>
                </c:pt>
                <c:pt idx="10">
                  <c:v>187001</c:v>
                </c:pt>
                <c:pt idx="11">
                  <c:v>187001</c:v>
                </c:pt>
                <c:pt idx="12">
                  <c:v>188241</c:v>
                </c:pt>
                <c:pt idx="13">
                  <c:v>189402</c:v>
                </c:pt>
                <c:pt idx="14">
                  <c:v>189402</c:v>
                </c:pt>
                <c:pt idx="15">
                  <c:v>189402</c:v>
                </c:pt>
                <c:pt idx="16">
                  <c:v>139498</c:v>
                </c:pt>
                <c:pt idx="17">
                  <c:v>141308</c:v>
                </c:pt>
                <c:pt idx="18">
                  <c:v>142555</c:v>
                </c:pt>
                <c:pt idx="19">
                  <c:v>106665</c:v>
                </c:pt>
                <c:pt idx="20">
                  <c:v>106665</c:v>
                </c:pt>
                <c:pt idx="21">
                  <c:v>106665</c:v>
                </c:pt>
                <c:pt idx="22">
                  <c:v>106665</c:v>
                </c:pt>
                <c:pt idx="23">
                  <c:v>112651</c:v>
                </c:pt>
                <c:pt idx="24">
                  <c:v>113267</c:v>
                </c:pt>
                <c:pt idx="25">
                  <c:v>134548</c:v>
                </c:pt>
                <c:pt idx="26">
                  <c:v>135343</c:v>
                </c:pt>
                <c:pt idx="27">
                  <c:v>132018</c:v>
                </c:pt>
                <c:pt idx="28">
                  <c:v>132018</c:v>
                </c:pt>
                <c:pt idx="29">
                  <c:v>132018</c:v>
                </c:pt>
                <c:pt idx="30">
                  <c:v>92859</c:v>
                </c:pt>
                <c:pt idx="31">
                  <c:v>93905</c:v>
                </c:pt>
                <c:pt idx="32">
                  <c:v>95545</c:v>
                </c:pt>
                <c:pt idx="33">
                  <c:v>72037</c:v>
                </c:pt>
                <c:pt idx="34">
                  <c:v>74714</c:v>
                </c:pt>
                <c:pt idx="35">
                  <c:v>74714</c:v>
                </c:pt>
                <c:pt idx="36">
                  <c:v>74714</c:v>
                </c:pt>
                <c:pt idx="37">
                  <c:v>149281</c:v>
                </c:pt>
                <c:pt idx="38">
                  <c:v>156941</c:v>
                </c:pt>
                <c:pt idx="39">
                  <c:v>178156</c:v>
                </c:pt>
                <c:pt idx="40">
                  <c:v>165845</c:v>
                </c:pt>
                <c:pt idx="41">
                  <c:v>167171</c:v>
                </c:pt>
                <c:pt idx="42">
                  <c:v>167171</c:v>
                </c:pt>
                <c:pt idx="43">
                  <c:v>167171</c:v>
                </c:pt>
                <c:pt idx="44">
                  <c:v>196325</c:v>
                </c:pt>
                <c:pt idx="45">
                  <c:v>146575</c:v>
                </c:pt>
                <c:pt idx="46">
                  <c:v>146973</c:v>
                </c:pt>
                <c:pt idx="47">
                  <c:v>111700</c:v>
                </c:pt>
                <c:pt idx="48">
                  <c:v>112080</c:v>
                </c:pt>
                <c:pt idx="49">
                  <c:v>112080</c:v>
                </c:pt>
                <c:pt idx="50">
                  <c:v>112080</c:v>
                </c:pt>
                <c:pt idx="51">
                  <c:v>114578</c:v>
                </c:pt>
                <c:pt idx="52">
                  <c:v>116248</c:v>
                </c:pt>
                <c:pt idx="53">
                  <c:v>117244</c:v>
                </c:pt>
                <c:pt idx="54">
                  <c:v>118893</c:v>
                </c:pt>
                <c:pt idx="55">
                  <c:v>119230</c:v>
                </c:pt>
                <c:pt idx="56">
                  <c:v>119230</c:v>
                </c:pt>
                <c:pt idx="57">
                  <c:v>119230</c:v>
                </c:pt>
                <c:pt idx="58">
                  <c:v>136867</c:v>
                </c:pt>
                <c:pt idx="59">
                  <c:v>172419</c:v>
                </c:pt>
                <c:pt idx="60">
                  <c:v>120228</c:v>
                </c:pt>
                <c:pt idx="61">
                  <c:v>132057</c:v>
                </c:pt>
                <c:pt idx="62">
                  <c:v>133401</c:v>
                </c:pt>
                <c:pt idx="63">
                  <c:v>133401</c:v>
                </c:pt>
                <c:pt idx="64">
                  <c:v>133401</c:v>
                </c:pt>
                <c:pt idx="65">
                  <c:v>133401</c:v>
                </c:pt>
                <c:pt idx="66">
                  <c:v>194170</c:v>
                </c:pt>
                <c:pt idx="67">
                  <c:v>202904</c:v>
                </c:pt>
                <c:pt idx="68">
                  <c:v>202904</c:v>
                </c:pt>
                <c:pt idx="69">
                  <c:v>225784</c:v>
                </c:pt>
                <c:pt idx="70">
                  <c:v>225784</c:v>
                </c:pt>
                <c:pt idx="71">
                  <c:v>225784</c:v>
                </c:pt>
                <c:pt idx="72">
                  <c:v>230478</c:v>
                </c:pt>
                <c:pt idx="73">
                  <c:v>232043</c:v>
                </c:pt>
                <c:pt idx="74">
                  <c:v>232043</c:v>
                </c:pt>
                <c:pt idx="75">
                  <c:v>134844</c:v>
                </c:pt>
                <c:pt idx="76">
                  <c:v>136409</c:v>
                </c:pt>
                <c:pt idx="77">
                  <c:v>136409</c:v>
                </c:pt>
                <c:pt idx="78">
                  <c:v>136409</c:v>
                </c:pt>
                <c:pt idx="79">
                  <c:v>156943</c:v>
                </c:pt>
                <c:pt idx="80">
                  <c:v>158508</c:v>
                </c:pt>
                <c:pt idx="81">
                  <c:v>158508</c:v>
                </c:pt>
                <c:pt idx="82">
                  <c:v>158508</c:v>
                </c:pt>
                <c:pt idx="83">
                  <c:v>172172</c:v>
                </c:pt>
                <c:pt idx="84">
                  <c:v>172172</c:v>
                </c:pt>
                <c:pt idx="85">
                  <c:v>172172</c:v>
                </c:pt>
                <c:pt idx="86">
                  <c:v>176866</c:v>
                </c:pt>
                <c:pt idx="87">
                  <c:v>178431</c:v>
                </c:pt>
                <c:pt idx="88">
                  <c:v>87178</c:v>
                </c:pt>
                <c:pt idx="89">
                  <c:v>69267</c:v>
                </c:pt>
                <c:pt idx="90">
                  <c:v>70832</c:v>
                </c:pt>
                <c:pt idx="91">
                  <c:v>70832</c:v>
                </c:pt>
                <c:pt idx="92">
                  <c:v>70832</c:v>
                </c:pt>
                <c:pt idx="93">
                  <c:v>77691</c:v>
                </c:pt>
                <c:pt idx="94">
                  <c:v>79256</c:v>
                </c:pt>
                <c:pt idx="95">
                  <c:v>79256</c:v>
                </c:pt>
                <c:pt idx="96">
                  <c:v>86230</c:v>
                </c:pt>
                <c:pt idx="97">
                  <c:v>94768</c:v>
                </c:pt>
                <c:pt idx="98">
                  <c:v>94768</c:v>
                </c:pt>
                <c:pt idx="99">
                  <c:v>94768</c:v>
                </c:pt>
                <c:pt idx="100">
                  <c:v>113410</c:v>
                </c:pt>
                <c:pt idx="101">
                  <c:v>114975</c:v>
                </c:pt>
                <c:pt idx="102">
                  <c:v>121949</c:v>
                </c:pt>
                <c:pt idx="103">
                  <c:v>92312</c:v>
                </c:pt>
                <c:pt idx="104">
                  <c:v>100851</c:v>
                </c:pt>
                <c:pt idx="105">
                  <c:v>100851</c:v>
                </c:pt>
                <c:pt idx="106">
                  <c:v>100851</c:v>
                </c:pt>
                <c:pt idx="107">
                  <c:v>58905</c:v>
                </c:pt>
                <c:pt idx="108">
                  <c:v>60469</c:v>
                </c:pt>
                <c:pt idx="109">
                  <c:v>67443</c:v>
                </c:pt>
                <c:pt idx="110">
                  <c:v>74417</c:v>
                </c:pt>
                <c:pt idx="111">
                  <c:v>82956</c:v>
                </c:pt>
                <c:pt idx="112">
                  <c:v>82956</c:v>
                </c:pt>
                <c:pt idx="113">
                  <c:v>82956</c:v>
                </c:pt>
                <c:pt idx="114">
                  <c:v>101598</c:v>
                </c:pt>
                <c:pt idx="115">
                  <c:v>103163</c:v>
                </c:pt>
                <c:pt idx="116">
                  <c:v>110137</c:v>
                </c:pt>
                <c:pt idx="117">
                  <c:v>80500</c:v>
                </c:pt>
                <c:pt idx="118">
                  <c:v>89039</c:v>
                </c:pt>
                <c:pt idx="119">
                  <c:v>89039</c:v>
                </c:pt>
                <c:pt idx="120">
                  <c:v>89039</c:v>
                </c:pt>
                <c:pt idx="121">
                  <c:v>41013</c:v>
                </c:pt>
                <c:pt idx="122">
                  <c:v>92462</c:v>
                </c:pt>
                <c:pt idx="123">
                  <c:v>99436</c:v>
                </c:pt>
                <c:pt idx="124">
                  <c:v>106410</c:v>
                </c:pt>
                <c:pt idx="125">
                  <c:v>114949</c:v>
                </c:pt>
                <c:pt idx="126">
                  <c:v>114949</c:v>
                </c:pt>
                <c:pt idx="127">
                  <c:v>114949</c:v>
                </c:pt>
                <c:pt idx="128">
                  <c:v>133591</c:v>
                </c:pt>
                <c:pt idx="129">
                  <c:v>135156</c:v>
                </c:pt>
                <c:pt idx="130">
                  <c:v>142130</c:v>
                </c:pt>
                <c:pt idx="131">
                  <c:v>112493</c:v>
                </c:pt>
                <c:pt idx="132">
                  <c:v>121032</c:v>
                </c:pt>
                <c:pt idx="133">
                  <c:v>121032</c:v>
                </c:pt>
                <c:pt idx="134">
                  <c:v>121032</c:v>
                </c:pt>
                <c:pt idx="135">
                  <c:v>139674</c:v>
                </c:pt>
                <c:pt idx="136">
                  <c:v>80650</c:v>
                </c:pt>
                <c:pt idx="137">
                  <c:v>87624</c:v>
                </c:pt>
                <c:pt idx="138">
                  <c:v>94598</c:v>
                </c:pt>
                <c:pt idx="139">
                  <c:v>103137</c:v>
                </c:pt>
                <c:pt idx="140">
                  <c:v>103137</c:v>
                </c:pt>
                <c:pt idx="141">
                  <c:v>103137</c:v>
                </c:pt>
                <c:pt idx="142">
                  <c:v>121779</c:v>
                </c:pt>
                <c:pt idx="143">
                  <c:v>123344</c:v>
                </c:pt>
                <c:pt idx="144">
                  <c:v>130318</c:v>
                </c:pt>
                <c:pt idx="145">
                  <c:v>100681</c:v>
                </c:pt>
                <c:pt idx="146">
                  <c:v>100681</c:v>
                </c:pt>
                <c:pt idx="147">
                  <c:v>100681</c:v>
                </c:pt>
                <c:pt idx="148">
                  <c:v>100681</c:v>
                </c:pt>
                <c:pt idx="149">
                  <c:v>100681</c:v>
                </c:pt>
                <c:pt idx="150">
                  <c:v>122862</c:v>
                </c:pt>
                <c:pt idx="151">
                  <c:v>129836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7"/>
        <c:noMultiLvlLbl val="0"/>
      </c:catAx>
      <c:valAx>
        <c:axId val="-2100718248"/>
        <c:scaling>
          <c:orientation val="minMax"/>
          <c:max val="25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October: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B42318"/>
              </a:solidFill>
            </c:spPr>
          </c:dPt>
          <c:dPt>
            <c:idx val="4"/>
            <c:spPr>
              <a:solidFill>
                <a:srgbClr val="0E9F6E"/>
              </a:solidFill>
            </c:spPr>
          </c:dPt>
          <c:dPt>
            <c:idx val="5"/>
            <c:spPr>
              <a:solidFill>
                <a:srgbClr val="0E9F6E"/>
              </a:solidFill>
            </c:spPr>
          </c:dPt>
          <c:cat>
            <c:strRef>
              <c:f>Sheet1!$A$2:$A$7</c:f>
              <c:strCache>
                <c:ptCount val="6"/>
                <c:pt idx="0">
                  <c:v>Pay runs (3)</c:v>
                </c:pt>
                <c:pt idx="1">
                  <c:v>BAS (GST and PAYG)</c:v>
                </c:pt>
                <c:pt idx="2">
                  <c:v>Suppliers and overheads</c:v>
                </c:pt>
                <c:pt idx="3">
                  <c:v>Interest and equipment finance</c:v>
                </c:pt>
                <c:pt idx="4">
                  <c:v>New work collected</c:v>
                </c:pt>
                <c:pt idx="5">
                  <c:v>Unpaid invoices collected</c:v>
                </c:pt>
              </c:strCache>
            </c:strRef>
          </c:cat>
          <c:val>
            <c:numRef>
              <c:f>Sheet1!$B$2:$B$7</c:f>
              <c:numCache>
                <c:formatCode>$#,##0;[Red]($#,##0);"-"</c:formatCode>
                <c:ptCount val="6"/>
                <c:pt idx="0">
                  <c:v>-109833</c:v>
                </c:pt>
                <c:pt idx="1">
                  <c:v>-86253</c:v>
                </c:pt>
                <c:pt idx="2">
                  <c:v>-60588</c:v>
                </c:pt>
                <c:pt idx="3">
                  <c:v>-5000</c:v>
                </c:pt>
                <c:pt idx="4">
                  <c:v>26600</c:v>
                </c:pt>
                <c:pt idx="5">
                  <c:v>185678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213529.69999999998"/>
          <c:min val="-126307.95"/>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September 2026. In short: Yes: $69,267 forecast in the bank after the 29 October pay run, the tightest in October, and at least one pay run in reserve for all 13 weeks. A 13-week cash forecast from 30 September: cash at bank, plus what customers owe on their usual payment dates and new work at its recent rate, less pay runs, supplier bills, the BAS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30 Sep: $120,228; Paid to employees in October: $109,833; After the tightest pay run, 29 Oct: $69,267; Lowest point, next 13 weeks: $41,013. Cash at bank was $120,228 at 30 September. October has 3 pay runs ($109,833). The tightest is 29 October: $69,267 left after paying wages, $32,656 more than a pay run in reserve. The lowest point in the 13 weeks is $41,013 on 30 November. 15 invoices ($8,734) are already past the customer's usual payment date; the forecast assumes they arrive within a week. Without them, the lowest point would be $32,279. October is one of the two months a year with three pay runs: $36,611 more than a usual month. The July to September BAS ($86,253) is due 28 October: GST $32,817, PAYG withheld $47,754 and the PAYG instalment $5,682.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where the cash comes from and goes (forecast). Money in, and money out in brackets. Includes GST.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($36,611), red below zero. Amounts include GST.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($8,734): the forecast assumes these arrive within a week (1 of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($8,734): the forecast assumes these arrive within a week (2 of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sp>
        <p:nvSpPr>
          <p:cNvPr id="3" name="Rectangle 2"/>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98044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September 2026. In short: Yes: $69,267 forecast in the bank after the 29 October pay run, the tightest in October, and at least one pay run in reserve for all 13 weeks. A 13-week cash forecast from 30 September: cash at bank, plus what customers owe on their usual payment dates and new work at its recent rate, less pay runs, supplier bills, the BAS and finance on their due dates. Every day opens its workings.</a:t>
            </a:r>
          </a:p>
        </p:txBody>
      </p:sp>
      <p:sp>
        <p:nvSpPr>
          <p:cNvPr id="8" name="TextBox 7"/>
          <p:cNvSpPr txBox="1"/>
          <p:nvPr/>
        </p:nvSpPr>
        <p:spPr>
          <a:xfrm>
            <a:off x="457200" y="477520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September 2026: Locked. September 2026 is locked (closed 2 Oct 2026). These numbers won't change.</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30 Sep, then forecast to 30 Dec</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30 Sep</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$120,228</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end of the day</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Paid to employees in October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$109,833</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 fortnightly pay runs, net pay + super</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29 Oct</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$69,267</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$36,611</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$41,013</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30 November</a:t>
            </a:r>
          </a:p>
        </p:txBody>
      </p:sp>
      <p:graphicFrame>
        <p:nvGraphicFramePr>
          <p:cNvPr id="22" name="Chart 21"/>
          <p:cNvGraphicFramePr>
            <a:graphicFrameLocks noGrp="1"/>
          </p:cNvGraphicFramePr>
          <p:nvPr/>
        </p:nvGraphicFramePr>
        <p:xfrm>
          <a:off x="457200" y="2604516"/>
          <a:ext cx="11277295" cy="192176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012870"/>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738550"/>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$36,611</a:t>
            </a:r>
          </a:p>
        </p:txBody>
      </p:sp>
      <p:sp>
        <p:nvSpPr>
          <p:cNvPr id="25" name="Rectangle 24"/>
          <p:cNvSpPr/>
          <p:nvPr/>
        </p:nvSpPr>
        <p:spPr>
          <a:xfrm>
            <a:off x="457200" y="4617720"/>
            <a:ext cx="5501487" cy="169164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467258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4946904"/>
            <a:ext cx="5227167" cy="132588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$120,228 at 30 September. October has 3 pay runs ($109,833). The tightest is 29 October: $69,267 left after paying wages, $32,656 more than a pay run in reserve. The lowest point in the 13 weeks is $41,013 on 30 November.</a:t>
            </a:r>
          </a:p>
        </p:txBody>
      </p:sp>
      <p:sp>
        <p:nvSpPr>
          <p:cNvPr id="28" name="Rectangle 27"/>
          <p:cNvSpPr/>
          <p:nvPr/>
        </p:nvSpPr>
        <p:spPr>
          <a:xfrm>
            <a:off x="6233007" y="4617720"/>
            <a:ext cx="5501487" cy="169164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467258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4946904"/>
            <a:ext cx="5227167" cy="1325880"/>
          </a:xfrm>
          <a:prstGeom prst="rect">
            <a:avLst/>
          </a:prstGeom>
          <a:noFill/>
        </p:spPr>
        <p:txBody>
          <a:bodyPr wrap="square" lIns="45720" rIns="45720">
            <a:spAutoFit/>
          </a:bodyPr>
          <a:lstStyle/>
          <a:p>
            <a:pPr>
              <a:defRPr>
                <a:latin typeface="Roboto"/>
              </a:defRPr>
            </a:pPr>
            <a:r>
              <a:rPr sz="1200" b="0">
                <a:solidFill>
                  <a:srgbClr val="25342A"/>
                </a:solidFill>
                <a:latin typeface="Roboto"/>
              </a:rPr>
              <a:t>15 invoices ($8,734) are already past the customer's usual payment date; the forecast assumes they arrive within a week. Without them, the lowest point would be $32,279. October is one of the two months a year with three pay runs: $36,611 more than a usual month. The July to September BAS ($86,253) is due 28 October: GST $32,817, PAYG withheld $47,754 and the PAYG instalment $5,682.</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October: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 Includes GST.</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($36,611), red below zero. Amounts include GST.</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127729"/>
                <a:gridCol w="1127729"/>
                <a:gridCol w="1127729"/>
                <a:gridCol w="1127729"/>
                <a:gridCol w="1127729"/>
                <a:gridCol w="1127729"/>
                <a:gridCol w="1127729"/>
                <a:gridCol w="1127729"/>
                <a:gridCol w="1127729"/>
                <a:gridCol w="1127734"/>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Pay runs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BAS (GST and PAYG)</a:t>
                      </a:r>
                    </a:p>
                  </a:txBody>
                  <a:tcPr>
                    <a:solidFill>
                      <a:srgbClr val="2F7A5D"/>
                    </a:solidFill>
                  </a:tcPr>
                </a:tc>
                <a:tc>
                  <a:txBody>
                    <a:bodyPr/>
                    <a:lstStyle/>
                    <a:p>
                      <a:pPr algn="r">
                        <a:defRPr>
                          <a:latin typeface="Roboto"/>
                        </a:defRPr>
                      </a:pPr>
                      <a:r>
                        <a:rPr sz="1100" b="1">
                          <a:solidFill>
                            <a:srgbClr val="FFFFFF"/>
                          </a:solidFill>
                          <a:latin typeface="Roboto"/>
                        </a:rPr>
                        <a:t>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7 Oct</a:t>
                      </a:r>
                    </a:p>
                  </a:txBody>
                  <a:tcPr>
                    <a:solidFill>
                      <a:srgbClr val="FFFFFF"/>
                    </a:solidFill>
                  </a:tcPr>
                </a:tc>
                <a:tc>
                  <a:txBody>
                    <a:bodyPr/>
                    <a:lstStyle/>
                    <a:p>
                      <a:pPr algn="r">
                        <a:defRPr>
                          <a:latin typeface="Roboto"/>
                        </a:defRPr>
                      </a:pPr>
                      <a:r>
                        <a:rPr sz="1050">
                          <a:solidFill>
                            <a:srgbClr val="25342A"/>
                          </a:solidFill>
                          <a:latin typeface="Roboto"/>
                        </a:rPr>
                        <a:t>$120,228</a:t>
                      </a:r>
                    </a:p>
                  </a:txBody>
                  <a:tcPr>
                    <a:solidFill>
                      <a:srgbClr val="FFFFFF"/>
                    </a:solidFill>
                  </a:tcPr>
                </a:tc>
                <a:tc>
                  <a:txBody>
                    <a:bodyPr/>
                    <a:lstStyle/>
                    <a:p>
                      <a:pPr algn="r">
                        <a:defRPr>
                          <a:latin typeface="Roboto"/>
                        </a:defRPr>
                      </a:pPr>
                      <a:r>
                        <a:rPr sz="1050">
                          <a:solidFill>
                            <a:srgbClr val="25342A"/>
                          </a:solidFill>
                          <a:latin typeface="Roboto"/>
                        </a:rPr>
                        <a:t>$116,158</a:t>
                      </a:r>
                    </a:p>
                  </a:txBody>
                  <a:tcPr>
                    <a:solidFill>
                      <a:srgbClr val="FFFFFF"/>
                    </a:solidFill>
                  </a:tcPr>
                </a:tc>
                <a:tc>
                  <a:txBody>
                    <a:bodyPr/>
                    <a:lstStyle/>
                    <a:p>
                      <a:pPr algn="r">
                        <a:defRPr>
                          <a:latin typeface="Roboto"/>
                        </a:defRPr>
                      </a:pPr>
                      <a:r>
                        <a:rPr sz="1050">
                          <a:solidFill>
                            <a:srgbClr val="25342A"/>
                          </a:solidFill>
                          <a:latin typeface="Roboto"/>
                        </a:rPr>
                        <a:t>$3,129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$202,904</a:t>
                      </a:r>
                    </a:p>
                  </a:txBody>
                  <a:tcPr>
                    <a:solidFill>
                      <a:srgbClr val="FFFFFF"/>
                    </a:solidFill>
                  </a:tcPr>
                </a:tc>
                <a:tc>
                  <a:txBody>
                    <a:bodyPr/>
                    <a:lstStyle/>
                    <a:p>
                      <a:pPr algn="r">
                        <a:defRPr>
                          <a:latin typeface="Roboto"/>
                        </a:defRPr>
                      </a:pPr>
                      <a:r>
                        <a:rPr sz="1050">
                          <a:solidFill>
                            <a:srgbClr val="25342A"/>
                          </a:solidFill>
                          <a:latin typeface="Roboto"/>
                        </a:rPr>
                        <a:t>$132,057</a:t>
                      </a:r>
                    </a:p>
                  </a:txBody>
                  <a:tcPr>
                    <a:solidFill>
                      <a:srgbClr val="FFFFFF"/>
                    </a:solidFill>
                  </a:tcPr>
                </a:tc>
              </a:tr>
              <a:tr h="310896">
                <a:tc>
                  <a:txBody>
                    <a:bodyPr/>
                    <a:lstStyle/>
                    <a:p>
                      <a:pPr algn="l">
                        <a:defRPr>
                          <a:latin typeface="Roboto"/>
                        </a:defRPr>
                      </a:pPr>
                      <a:r>
                        <a:rPr sz="1050">
                          <a:solidFill>
                            <a:srgbClr val="25342A"/>
                          </a:solidFill>
                          <a:latin typeface="Roboto"/>
                        </a:rPr>
                        <a:t>14 Oct</a:t>
                      </a:r>
                    </a:p>
                  </a:txBody>
                  <a:tcPr>
                    <a:solidFill>
                      <a:srgbClr val="F7FAF7"/>
                    </a:solidFill>
                  </a:tcPr>
                </a:tc>
                <a:tc>
                  <a:txBody>
                    <a:bodyPr/>
                    <a:lstStyle/>
                    <a:p>
                      <a:pPr algn="r">
                        <a:defRPr>
                          <a:latin typeface="Roboto"/>
                        </a:defRPr>
                      </a:pPr>
                      <a:r>
                        <a:rPr sz="1050">
                          <a:solidFill>
                            <a:srgbClr val="25342A"/>
                          </a:solidFill>
                          <a:latin typeface="Roboto"/>
                        </a:rPr>
                        <a:t>$202,904</a:t>
                      </a:r>
                    </a:p>
                  </a:txBody>
                  <a:tcPr>
                    <a:solidFill>
                      <a:srgbClr val="F7FAF7"/>
                    </a:solidFill>
                  </a:tcPr>
                </a:tc>
                <a:tc>
                  <a:txBody>
                    <a:bodyPr/>
                    <a:lstStyle/>
                    <a:p>
                      <a:pPr algn="r">
                        <a:defRPr>
                          <a:latin typeface="Roboto"/>
                        </a:defRPr>
                      </a:pPr>
                      <a:r>
                        <a:rPr sz="1050">
                          <a:solidFill>
                            <a:srgbClr val="25342A"/>
                          </a:solidFill>
                          <a:latin typeface="Roboto"/>
                        </a:rPr>
                        <a:t>$22,880</a:t>
                      </a:r>
                    </a:p>
                  </a:txBody>
                  <a:tcPr>
                    <a:solidFill>
                      <a:srgbClr val="F7FAF7"/>
                    </a:solidFill>
                  </a:tcPr>
                </a:tc>
                <a:tc>
                  <a:txBody>
                    <a:bodyPr/>
                    <a:lstStyle/>
                    <a:p>
                      <a:pPr algn="r">
                        <a:defRPr>
                          <a:latin typeface="Roboto"/>
                        </a:defRPr>
                      </a:pPr>
                      <a:r>
                        <a:rPr sz="1050">
                          <a:solidFill>
                            <a:srgbClr val="25342A"/>
                          </a:solidFill>
                          <a:latin typeface="Roboto"/>
                        </a:rPr>
                        <a:t>$6,259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$232,043</a:t>
                      </a:r>
                    </a:p>
                  </a:txBody>
                  <a:tcPr>
                    <a:solidFill>
                      <a:srgbClr val="F7FAF7"/>
                    </a:solidFill>
                  </a:tcPr>
                </a:tc>
                <a:tc>
                  <a:txBody>
                    <a:bodyPr/>
                    <a:lstStyle/>
                    <a:p>
                      <a:pPr algn="r">
                        <a:defRPr>
                          <a:latin typeface="Roboto"/>
                        </a:defRPr>
                      </a:pPr>
                      <a:r>
                        <a:rPr sz="1050">
                          <a:solidFill>
                            <a:srgbClr val="25342A"/>
                          </a:solidFill>
                          <a:latin typeface="Roboto"/>
                        </a:rPr>
                        <a:t>$202,904</a:t>
                      </a:r>
                    </a:p>
                  </a:txBody>
                  <a:tcPr>
                    <a:solidFill>
                      <a:srgbClr val="F7FAF7"/>
                    </a:solidFill>
                  </a:tcPr>
                </a:tc>
              </a:tr>
              <a:tr h="310896">
                <a:tc>
                  <a:txBody>
                    <a:bodyPr/>
                    <a:lstStyle/>
                    <a:p>
                      <a:pPr algn="l">
                        <a:defRPr>
                          <a:latin typeface="Roboto"/>
                        </a:defRPr>
                      </a:pPr>
                      <a:r>
                        <a:rPr sz="1050">
                          <a:solidFill>
                            <a:srgbClr val="25342A"/>
                          </a:solidFill>
                          <a:latin typeface="Roboto"/>
                        </a:rPr>
                        <a:t>21 Oct</a:t>
                      </a:r>
                    </a:p>
                  </a:txBody>
                  <a:tcPr>
                    <a:solidFill>
                      <a:srgbClr val="FFFFFF"/>
                    </a:solidFill>
                  </a:tcPr>
                </a:tc>
                <a:tc>
                  <a:txBody>
                    <a:bodyPr/>
                    <a:lstStyle/>
                    <a:p>
                      <a:pPr algn="r">
                        <a:defRPr>
                          <a:latin typeface="Roboto"/>
                        </a:defRPr>
                      </a:pPr>
                      <a:r>
                        <a:rPr sz="1050">
                          <a:solidFill>
                            <a:srgbClr val="25342A"/>
                          </a:solidFill>
                          <a:latin typeface="Roboto"/>
                        </a:rPr>
                        <a:t>$232,043</a:t>
                      </a:r>
                    </a:p>
                  </a:txBody>
                  <a:tcPr>
                    <a:solidFill>
                      <a:srgbClr val="FFFFFF"/>
                    </a:solidFill>
                  </a:tcPr>
                </a:tc>
                <a:tc>
                  <a:txBody>
                    <a:bodyPr/>
                    <a:lstStyle/>
                    <a:p>
                      <a:pPr algn="r">
                        <a:defRPr>
                          <a:latin typeface="Roboto"/>
                        </a:defRPr>
                      </a:pPr>
                      <a:r>
                        <a:rPr sz="1050">
                          <a:solidFill>
                            <a:srgbClr val="25342A"/>
                          </a:solidFill>
                          <a:latin typeface="Roboto"/>
                        </a:rPr>
                        <a:t>$15,840</a:t>
                      </a:r>
                    </a:p>
                  </a:txBody>
                  <a:tcPr>
                    <a:solidFill>
                      <a:srgbClr val="FFFFFF"/>
                    </a:solidFill>
                  </a:tcPr>
                </a:tc>
                <a:tc>
                  <a:txBody>
                    <a:bodyPr/>
                    <a:lstStyle/>
                    <a:p>
                      <a:pPr algn="r">
                        <a:defRPr>
                          <a:latin typeface="Roboto"/>
                        </a:defRPr>
                      </a:pPr>
                      <a:r>
                        <a:rPr sz="1050">
                          <a:solidFill>
                            <a:srgbClr val="25342A"/>
                          </a:solidFill>
                          <a:latin typeface="Roboto"/>
                        </a:rPr>
                        <a:t>$7,824</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$158,508</a:t>
                      </a:r>
                    </a:p>
                  </a:txBody>
                  <a:tcPr>
                    <a:solidFill>
                      <a:srgbClr val="FFFFFF"/>
                    </a:solidFill>
                  </a:tcPr>
                </a:tc>
                <a:tc>
                  <a:txBody>
                    <a:bodyPr/>
                    <a:lstStyle/>
                    <a:p>
                      <a:pPr algn="r">
                        <a:defRPr>
                          <a:latin typeface="Roboto"/>
                        </a:defRPr>
                      </a:pPr>
                      <a:r>
                        <a:rPr sz="1050">
                          <a:solidFill>
                            <a:srgbClr val="25342A"/>
                          </a:solidFill>
                          <a:latin typeface="Roboto"/>
                        </a:rPr>
                        <a:t>$134,844</a:t>
                      </a:r>
                    </a:p>
                  </a:txBody>
                  <a:tcPr>
                    <a:solidFill>
                      <a:srgbClr val="FFFFFF"/>
                    </a:solidFill>
                  </a:tcPr>
                </a:tc>
              </a:tr>
              <a:tr h="310896">
                <a:tc>
                  <a:txBody>
                    <a:bodyPr/>
                    <a:lstStyle/>
                    <a:p>
                      <a:pPr algn="l">
                        <a:defRPr>
                          <a:latin typeface="Roboto"/>
                        </a:defRPr>
                      </a:pPr>
                      <a:r>
                        <a:rPr sz="1050">
                          <a:solidFill>
                            <a:srgbClr val="25342A"/>
                          </a:solidFill>
                          <a:latin typeface="Roboto"/>
                        </a:rPr>
                        <a:t>28 Oct</a:t>
                      </a:r>
                    </a:p>
                  </a:txBody>
                  <a:tcPr>
                    <a:solidFill>
                      <a:srgbClr val="F7FAF7"/>
                    </a:solidFill>
                  </a:tcPr>
                </a:tc>
                <a:tc>
                  <a:txBody>
                    <a:bodyPr/>
                    <a:lstStyle/>
                    <a:p>
                      <a:pPr algn="r">
                        <a:defRPr>
                          <a:latin typeface="Roboto"/>
                        </a:defRPr>
                      </a:pPr>
                      <a:r>
                        <a:rPr sz="1050">
                          <a:solidFill>
                            <a:srgbClr val="25342A"/>
                          </a:solidFill>
                          <a:latin typeface="Roboto"/>
                        </a:rPr>
                        <a:t>$158,508</a:t>
                      </a:r>
                    </a:p>
                  </a:txBody>
                  <a:tcPr>
                    <a:solidFill>
                      <a:srgbClr val="F7FAF7"/>
                    </a:solidFill>
                  </a:tcPr>
                </a:tc>
                <a:tc>
                  <a:txBody>
                    <a:bodyPr/>
                    <a:lstStyle/>
                    <a:p>
                      <a:pPr algn="r">
                        <a:defRPr>
                          <a:latin typeface="Roboto"/>
                        </a:defRPr>
                      </a:pPr>
                      <a:r>
                        <a:rPr sz="1050">
                          <a:solidFill>
                            <a:srgbClr val="25342A"/>
                          </a:solidFill>
                          <a:latin typeface="Roboto"/>
                        </a:rPr>
                        <a:t>$12,100</a:t>
                      </a:r>
                    </a:p>
                  </a:txBody>
                  <a:tcPr>
                    <a:solidFill>
                      <a:srgbClr val="F7FAF7"/>
                    </a:solidFill>
                  </a:tcPr>
                </a:tc>
                <a:tc>
                  <a:txBody>
                    <a:bodyPr/>
                    <a:lstStyle/>
                    <a:p>
                      <a:pPr algn="r">
                        <a:defRPr>
                          <a:latin typeface="Roboto"/>
                        </a:defRPr>
                      </a:pPr>
                      <a:r>
                        <a:rPr sz="1050">
                          <a:solidFill>
                            <a:srgbClr val="25342A"/>
                          </a:solidFill>
                          <a:latin typeface="Roboto"/>
                        </a:rPr>
                        <a:t>$7,823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($86,253)</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$87,178</a:t>
                      </a:r>
                    </a:p>
                  </a:txBody>
                  <a:tcPr>
                    <a:solidFill>
                      <a:srgbClr val="F7FAF7"/>
                    </a:solidFill>
                  </a:tcPr>
                </a:tc>
                <a:tc>
                  <a:txBody>
                    <a:bodyPr/>
                    <a:lstStyle/>
                    <a:p>
                      <a:pPr algn="r">
                        <a:defRPr>
                          <a:latin typeface="Roboto"/>
                        </a:defRPr>
                      </a:pPr>
                      <a:r>
                        <a:rPr sz="1050">
                          <a:solidFill>
                            <a:srgbClr val="25342A"/>
                          </a:solidFill>
                          <a:latin typeface="Roboto"/>
                        </a:rPr>
                        <a:t>$87,178</a:t>
                      </a:r>
                    </a:p>
                  </a:txBody>
                  <a:tcPr>
                    <a:solidFill>
                      <a:srgbClr val="F7FAF7"/>
                    </a:solidFill>
                  </a:tcPr>
                </a:tc>
              </a:tr>
              <a:tr h="310896">
                <a:tc>
                  <a:txBody>
                    <a:bodyPr/>
                    <a:lstStyle/>
                    <a:p>
                      <a:pPr algn="l">
                        <a:defRPr>
                          <a:latin typeface="Roboto"/>
                        </a:defRPr>
                      </a:pPr>
                      <a:r>
                        <a:rPr sz="1050">
                          <a:solidFill>
                            <a:srgbClr val="25342A"/>
                          </a:solidFill>
                          <a:latin typeface="Roboto"/>
                        </a:rPr>
                        <a:t>4 Nov</a:t>
                      </a:r>
                    </a:p>
                  </a:txBody>
                  <a:tcPr>
                    <a:solidFill>
                      <a:srgbClr val="FFFFFF"/>
                    </a:solidFill>
                  </a:tcPr>
                </a:tc>
                <a:tc>
                  <a:txBody>
                    <a:bodyPr/>
                    <a:lstStyle/>
                    <a:p>
                      <a:pPr algn="r">
                        <a:defRPr>
                          <a:latin typeface="Roboto"/>
                        </a:defRPr>
                      </a:pPr>
                      <a:r>
                        <a:rPr sz="1050">
                          <a:solidFill>
                            <a:srgbClr val="25342A"/>
                          </a:solidFill>
                          <a:latin typeface="Roboto"/>
                        </a:rPr>
                        <a:t>$87,178</a:t>
                      </a:r>
                    </a:p>
                  </a:txBody>
                  <a:tcPr>
                    <a:solidFill>
                      <a:srgbClr val="FFFFFF"/>
                    </a:solidFill>
                  </a:tcPr>
                </a:tc>
                <a:tc>
                  <a:txBody>
                    <a:bodyPr/>
                    <a:lstStyle/>
                    <a:p>
                      <a:pPr algn="r">
                        <a:defRPr>
                          <a:latin typeface="Roboto"/>
                        </a:defRPr>
                      </a:pPr>
                      <a:r>
                        <a:rPr sz="1050">
                          <a:solidFill>
                            <a:srgbClr val="25342A"/>
                          </a:solidFill>
                          <a:latin typeface="Roboto"/>
                        </a:rPr>
                        <a:t>$18,700</a:t>
                      </a:r>
                    </a:p>
                  </a:txBody>
                  <a:tcPr>
                    <a:solidFill>
                      <a:srgbClr val="FFFFFF"/>
                    </a:solidFill>
                  </a:tcPr>
                </a:tc>
                <a:tc>
                  <a:txBody>
                    <a:bodyPr/>
                    <a:lstStyle/>
                    <a:p>
                      <a:pPr algn="r">
                        <a:defRPr>
                          <a:latin typeface="Roboto"/>
                        </a:defRPr>
                      </a:pPr>
                      <a:r>
                        <a:rPr sz="1050">
                          <a:solidFill>
                            <a:srgbClr val="25342A"/>
                          </a:solidFill>
                          <a:latin typeface="Roboto"/>
                        </a:rPr>
                        <a:t>$71,657</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($1,080)</a:t>
                      </a:r>
                    </a:p>
                  </a:txBody>
                  <a:tcPr>
                    <a:solidFill>
                      <a:srgbClr val="FFFFFF"/>
                    </a:solidFill>
                  </a:tcPr>
                </a:tc>
                <a:tc>
                  <a:txBody>
                    <a:bodyPr/>
                    <a:lstStyle/>
                    <a:p>
                      <a:pPr algn="r">
                        <a:defRPr>
                          <a:latin typeface="Roboto"/>
                        </a:defRPr>
                      </a:pPr>
                      <a:r>
                        <a:rPr sz="1050">
                          <a:solidFill>
                            <a:srgbClr val="25342A"/>
                          </a:solidFill>
                          <a:latin typeface="Roboto"/>
                        </a:rPr>
                        <a:t>$79,256</a:t>
                      </a:r>
                    </a:p>
                  </a:txBody>
                  <a:tcPr>
                    <a:solidFill>
                      <a:srgbClr val="FFFFFF"/>
                    </a:solidFill>
                  </a:tcPr>
                </a:tc>
                <a:tc>
                  <a:txBody>
                    <a:bodyPr/>
                    <a:lstStyle/>
                    <a:p>
                      <a:pPr algn="r">
                        <a:defRPr>
                          <a:latin typeface="Roboto"/>
                        </a:defRPr>
                      </a:pPr>
                      <a:r>
                        <a:rPr sz="1050">
                          <a:solidFill>
                            <a:srgbClr val="25342A"/>
                          </a:solidFill>
                          <a:latin typeface="Roboto"/>
                        </a:rPr>
                        <a:t>$69,267</a:t>
                      </a:r>
                    </a:p>
                  </a:txBody>
                  <a:tcPr>
                    <a:solidFill>
                      <a:srgbClr val="FFFFFF"/>
                    </a:solidFill>
                  </a:tcPr>
                </a:tc>
              </a:tr>
              <a:tr h="310896">
                <a:tc>
                  <a:txBody>
                    <a:bodyPr/>
                    <a:lstStyle/>
                    <a:p>
                      <a:pPr algn="l">
                        <a:defRPr>
                          <a:latin typeface="Roboto"/>
                        </a:defRPr>
                      </a:pPr>
                      <a:r>
                        <a:rPr sz="1050">
                          <a:solidFill>
                            <a:srgbClr val="25342A"/>
                          </a:solidFill>
                          <a:latin typeface="Roboto"/>
                        </a:rPr>
                        <a:t>11 Nov</a:t>
                      </a:r>
                    </a:p>
                  </a:txBody>
                  <a:tcPr>
                    <a:solidFill>
                      <a:srgbClr val="F7FAF7"/>
                    </a:solidFill>
                  </a:tcPr>
                </a:tc>
                <a:tc>
                  <a:txBody>
                    <a:bodyPr/>
                    <a:lstStyle/>
                    <a:p>
                      <a:pPr algn="r">
                        <a:defRPr>
                          <a:latin typeface="Roboto"/>
                        </a:defRPr>
                      </a:pPr>
                      <a:r>
                        <a:rPr sz="1050">
                          <a:solidFill>
                            <a:srgbClr val="25342A"/>
                          </a:solidFill>
                          <a:latin typeface="Roboto"/>
                        </a:rPr>
                        <a:t>$79,256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$121,949</a:t>
                      </a:r>
                    </a:p>
                  </a:txBody>
                  <a:tcPr>
                    <a:solidFill>
                      <a:srgbClr val="F7FAF7"/>
                    </a:solidFill>
                  </a:tcPr>
                </a:tc>
                <a:tc>
                  <a:txBody>
                    <a:bodyPr/>
                    <a:lstStyle/>
                    <a:p>
                      <a:pPr algn="r">
                        <a:defRPr>
                          <a:latin typeface="Roboto"/>
                        </a:defRPr>
                      </a:pPr>
                      <a:r>
                        <a:rPr sz="1050">
                          <a:solidFill>
                            <a:srgbClr val="25342A"/>
                          </a:solidFill>
                          <a:latin typeface="Roboto"/>
                        </a:rPr>
                        <a:t>$86,230</a:t>
                      </a:r>
                    </a:p>
                  </a:txBody>
                  <a:tcPr>
                    <a:solidFill>
                      <a:srgbClr val="F7FAF7"/>
                    </a:solidFill>
                  </a:tcPr>
                </a:tc>
              </a:tr>
              <a:tr h="310896">
                <a:tc>
                  <a:txBody>
                    <a:bodyPr/>
                    <a:lstStyle/>
                    <a:p>
                      <a:pPr algn="l">
                        <a:defRPr>
                          <a:latin typeface="Roboto"/>
                        </a:defRPr>
                      </a:pPr>
                      <a:r>
                        <a:rPr sz="1050">
                          <a:solidFill>
                            <a:srgbClr val="25342A"/>
                          </a:solidFill>
                          <a:latin typeface="Roboto"/>
                        </a:rPr>
                        <a:t>18 Nov</a:t>
                      </a:r>
                    </a:p>
                  </a:txBody>
                  <a:tcPr>
                    <a:solidFill>
                      <a:srgbClr val="FFFFFF"/>
                    </a:solidFill>
                  </a:tcPr>
                </a:tc>
                <a:tc>
                  <a:txBody>
                    <a:bodyPr/>
                    <a:lstStyle/>
                    <a:p>
                      <a:pPr algn="r">
                        <a:defRPr>
                          <a:latin typeface="Roboto"/>
                        </a:defRPr>
                      </a:pPr>
                      <a:r>
                        <a:rPr sz="1050">
                          <a:solidFill>
                            <a:srgbClr val="25342A"/>
                          </a:solidFill>
                          <a:latin typeface="Roboto"/>
                        </a:rPr>
                        <a:t>$121,949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$42,693</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$67,443</a:t>
                      </a:r>
                    </a:p>
                  </a:txBody>
                  <a:tcPr>
                    <a:solidFill>
                      <a:srgbClr val="FFFFFF"/>
                    </a:solidFill>
                  </a:tcPr>
                </a:tc>
                <a:tc>
                  <a:txBody>
                    <a:bodyPr/>
                    <a:lstStyle/>
                    <a:p>
                      <a:pPr algn="r">
                        <a:defRPr>
                          <a:latin typeface="Roboto"/>
                        </a:defRPr>
                      </a:pPr>
                      <a:r>
                        <a:rPr sz="1050">
                          <a:solidFill>
                            <a:srgbClr val="25342A"/>
                          </a:solidFill>
                          <a:latin typeface="Roboto"/>
                        </a:rPr>
                        <a:t>$58,905</a:t>
                      </a:r>
                    </a:p>
                  </a:txBody>
                  <a:tcPr>
                    <a:solidFill>
                      <a:srgbClr val="FFFFFF"/>
                    </a:solidFill>
                  </a:tcPr>
                </a:tc>
              </a:tr>
              <a:tr h="310896">
                <a:tc>
                  <a:txBody>
                    <a:bodyPr/>
                    <a:lstStyle/>
                    <a:p>
                      <a:pPr algn="l">
                        <a:defRPr>
                          <a:latin typeface="Roboto"/>
                        </a:defRPr>
                      </a:pPr>
                      <a:r>
                        <a:rPr sz="1050">
                          <a:solidFill>
                            <a:srgbClr val="25342A"/>
                          </a:solidFill>
                          <a:latin typeface="Roboto"/>
                        </a:rPr>
                        <a:t>25 Nov</a:t>
                      </a:r>
                    </a:p>
                  </a:txBody>
                  <a:tcPr>
                    <a:solidFill>
                      <a:srgbClr val="F7FAF7"/>
                    </a:solidFill>
                  </a:tcPr>
                </a:tc>
                <a:tc>
                  <a:txBody>
                    <a:bodyPr/>
                    <a:lstStyle/>
                    <a:p>
                      <a:pPr algn="r">
                        <a:defRPr>
                          <a:latin typeface="Roboto"/>
                        </a:defRPr>
                      </a:pPr>
                      <a:r>
                        <a:rPr sz="1050">
                          <a:solidFill>
                            <a:srgbClr val="25342A"/>
                          </a:solidFill>
                          <a:latin typeface="Roboto"/>
                        </a:rPr>
                        <a:t>$67,443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$110,137</a:t>
                      </a:r>
                    </a:p>
                  </a:txBody>
                  <a:tcPr>
                    <a:solidFill>
                      <a:srgbClr val="F7FAF7"/>
                    </a:solidFill>
                  </a:tcPr>
                </a:tc>
                <a:tc>
                  <a:txBody>
                    <a:bodyPr/>
                    <a:lstStyle/>
                    <a:p>
                      <a:pPr algn="r">
                        <a:defRPr>
                          <a:latin typeface="Roboto"/>
                        </a:defRPr>
                      </a:pPr>
                      <a:r>
                        <a:rPr sz="1050">
                          <a:solidFill>
                            <a:srgbClr val="25342A"/>
                          </a:solidFill>
                          <a:latin typeface="Roboto"/>
                        </a:rPr>
                        <a:t>$74,417</a:t>
                      </a:r>
                    </a:p>
                  </a:txBody>
                  <a:tcPr>
                    <a:solidFill>
                      <a:srgbClr val="F7FAF7"/>
                    </a:solidFill>
                  </a:tcPr>
                </a:tc>
              </a:tr>
              <a:tr h="310896">
                <a:tc>
                  <a:txBody>
                    <a:bodyPr/>
                    <a:lstStyle/>
                    <a:p>
                      <a:pPr algn="l">
                        <a:defRPr>
                          <a:latin typeface="Roboto"/>
                        </a:defRPr>
                      </a:pPr>
                      <a:r>
                        <a:rPr sz="1050">
                          <a:solidFill>
                            <a:srgbClr val="25342A"/>
                          </a:solidFill>
                          <a:latin typeface="Roboto"/>
                        </a:rPr>
                        <a:t>2 Dec</a:t>
                      </a:r>
                    </a:p>
                  </a:txBody>
                  <a:tcPr>
                    <a:solidFill>
                      <a:srgbClr val="FFFFFF"/>
                    </a:solidFill>
                  </a:tcPr>
                </a:tc>
                <a:tc>
                  <a:txBody>
                    <a:bodyPr/>
                    <a:lstStyle/>
                    <a:p>
                      <a:pPr algn="r">
                        <a:defRPr>
                          <a:latin typeface="Roboto"/>
                        </a:defRPr>
                      </a:pPr>
                      <a:r>
                        <a:rPr sz="1050">
                          <a:solidFill>
                            <a:srgbClr val="25342A"/>
                          </a:solidFill>
                          <a:latin typeface="Roboto"/>
                        </a:rPr>
                        <a:t>$110,137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$92,578</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($6,080)</a:t>
                      </a:r>
                    </a:p>
                  </a:txBody>
                  <a:tcPr>
                    <a:solidFill>
                      <a:srgbClr val="FFFFFF"/>
                    </a:solidFill>
                  </a:tcPr>
                </a:tc>
                <a:tc>
                  <a:txBody>
                    <a:bodyPr/>
                    <a:lstStyle/>
                    <a:p>
                      <a:pPr algn="r">
                        <a:defRPr>
                          <a:latin typeface="Roboto"/>
                        </a:defRPr>
                      </a:pPr>
                      <a:r>
                        <a:rPr sz="1050">
                          <a:solidFill>
                            <a:srgbClr val="25342A"/>
                          </a:solidFill>
                          <a:latin typeface="Roboto"/>
                        </a:rPr>
                        <a:t>$99,436</a:t>
                      </a:r>
                    </a:p>
                  </a:txBody>
                  <a:tcPr>
                    <a:solidFill>
                      <a:srgbClr val="FFFFFF"/>
                    </a:solidFill>
                  </a:tcPr>
                </a:tc>
                <a:tc>
                  <a:txBody>
                    <a:bodyPr/>
                    <a:lstStyle/>
                    <a:p>
                      <a:pPr algn="r">
                        <a:defRPr>
                          <a:latin typeface="Roboto"/>
                        </a:defRPr>
                      </a:pPr>
                      <a:r>
                        <a:rPr sz="1050">
                          <a:solidFill>
                            <a:srgbClr val="25342A"/>
                          </a:solidFill>
                          <a:latin typeface="Roboto"/>
                        </a:rPr>
                        <a:t>$41,013</a:t>
                      </a:r>
                    </a:p>
                  </a:txBody>
                  <a:tcPr>
                    <a:solidFill>
                      <a:srgbClr val="FFFFFF"/>
                    </a:solidFill>
                  </a:tcPr>
                </a:tc>
              </a:tr>
              <a:tr h="310896">
                <a:tc>
                  <a:txBody>
                    <a:bodyPr/>
                    <a:lstStyle/>
                    <a:p>
                      <a:pPr algn="l">
                        <a:defRPr>
                          <a:latin typeface="Roboto"/>
                        </a:defRPr>
                      </a:pPr>
                      <a:r>
                        <a:rPr sz="1050">
                          <a:solidFill>
                            <a:srgbClr val="25342A"/>
                          </a:solidFill>
                          <a:latin typeface="Roboto"/>
                        </a:rPr>
                        <a:t>9 Dec</a:t>
                      </a:r>
                    </a:p>
                  </a:txBody>
                  <a:tcPr>
                    <a:solidFill>
                      <a:srgbClr val="F7FAF7"/>
                    </a:solidFill>
                  </a:tcPr>
                </a:tc>
                <a:tc>
                  <a:txBody>
                    <a:bodyPr/>
                    <a:lstStyle/>
                    <a:p>
                      <a:pPr algn="r">
                        <a:defRPr>
                          <a:latin typeface="Roboto"/>
                        </a:defRPr>
                      </a:pPr>
                      <a:r>
                        <a:rPr sz="1050">
                          <a:solidFill>
                            <a:srgbClr val="25342A"/>
                          </a:solidFill>
                          <a:latin typeface="Roboto"/>
                        </a:rPr>
                        <a:t>$99,436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$142,130</a:t>
                      </a:r>
                    </a:p>
                  </a:txBody>
                  <a:tcPr>
                    <a:solidFill>
                      <a:srgbClr val="F7FAF7"/>
                    </a:solidFill>
                  </a:tcPr>
                </a:tc>
                <a:tc>
                  <a:txBody>
                    <a:bodyPr/>
                    <a:lstStyle/>
                    <a:p>
                      <a:pPr algn="r">
                        <a:defRPr>
                          <a:latin typeface="Roboto"/>
                        </a:defRPr>
                      </a:pPr>
                      <a:r>
                        <a:rPr sz="1050">
                          <a:solidFill>
                            <a:srgbClr val="25342A"/>
                          </a:solidFill>
                          <a:latin typeface="Roboto"/>
                        </a:rPr>
                        <a:t>$106,410</a:t>
                      </a:r>
                    </a:p>
                  </a:txBody>
                  <a:tcPr>
                    <a:solidFill>
                      <a:srgbClr val="F7FAF7"/>
                    </a:solidFill>
                  </a:tcPr>
                </a:tc>
              </a:tr>
              <a:tr h="310896">
                <a:tc>
                  <a:txBody>
                    <a:bodyPr/>
                    <a:lstStyle/>
                    <a:p>
                      <a:pPr algn="l">
                        <a:defRPr>
                          <a:latin typeface="Roboto"/>
                        </a:defRPr>
                      </a:pPr>
                      <a:r>
                        <a:rPr sz="1050">
                          <a:solidFill>
                            <a:srgbClr val="25342A"/>
                          </a:solidFill>
                          <a:latin typeface="Roboto"/>
                        </a:rPr>
                        <a:t>16 Dec</a:t>
                      </a:r>
                    </a:p>
                  </a:txBody>
                  <a:tcPr>
                    <a:solidFill>
                      <a:srgbClr val="FFFFFF"/>
                    </a:solidFill>
                  </a:tcPr>
                </a:tc>
                <a:tc>
                  <a:txBody>
                    <a:bodyPr/>
                    <a:lstStyle/>
                    <a:p>
                      <a:pPr algn="r">
                        <a:defRPr>
                          <a:latin typeface="Roboto"/>
                        </a:defRPr>
                      </a:pPr>
                      <a:r>
                        <a:rPr sz="1050">
                          <a:solidFill>
                            <a:srgbClr val="25342A"/>
                          </a:solidFill>
                          <a:latin typeface="Roboto"/>
                        </a:rPr>
                        <a:t>$142,130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$42,693</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$87,624</a:t>
                      </a:r>
                    </a:p>
                  </a:txBody>
                  <a:tcPr>
                    <a:solidFill>
                      <a:srgbClr val="FFFFFF"/>
                    </a:solidFill>
                  </a:tcPr>
                </a:tc>
                <a:tc>
                  <a:txBody>
                    <a:bodyPr/>
                    <a:lstStyle/>
                    <a:p>
                      <a:pPr algn="r">
                        <a:defRPr>
                          <a:latin typeface="Roboto"/>
                        </a:defRPr>
                      </a:pPr>
                      <a:r>
                        <a:rPr sz="1050">
                          <a:solidFill>
                            <a:srgbClr val="25342A"/>
                          </a:solidFill>
                          <a:latin typeface="Roboto"/>
                        </a:rPr>
                        <a:t>$80,650</a:t>
                      </a:r>
                    </a:p>
                  </a:txBody>
                  <a:tcPr>
                    <a:solidFill>
                      <a:srgbClr val="FFFFFF"/>
                    </a:solidFill>
                  </a:tcPr>
                </a:tc>
              </a:tr>
              <a:tr h="310896">
                <a:tc>
                  <a:txBody>
                    <a:bodyPr/>
                    <a:lstStyle/>
                    <a:p>
                      <a:pPr algn="l">
                        <a:defRPr>
                          <a:latin typeface="Roboto"/>
                        </a:defRPr>
                      </a:pPr>
                      <a:r>
                        <a:rPr sz="1050">
                          <a:solidFill>
                            <a:srgbClr val="25342A"/>
                          </a:solidFill>
                          <a:latin typeface="Roboto"/>
                        </a:rPr>
                        <a:t>23 Dec</a:t>
                      </a:r>
                    </a:p>
                  </a:txBody>
                  <a:tcPr>
                    <a:solidFill>
                      <a:srgbClr val="F7FAF7"/>
                    </a:solidFill>
                  </a:tcPr>
                </a:tc>
                <a:tc>
                  <a:txBody>
                    <a:bodyPr/>
                    <a:lstStyle/>
                    <a:p>
                      <a:pPr algn="r">
                        <a:defRPr>
                          <a:latin typeface="Roboto"/>
                        </a:defRPr>
                      </a:pPr>
                      <a:r>
                        <a:rPr sz="1050">
                          <a:solidFill>
                            <a:srgbClr val="25342A"/>
                          </a:solidFill>
                          <a:latin typeface="Roboto"/>
                        </a:rPr>
                        <a:t>$87,624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$130,318</a:t>
                      </a:r>
                    </a:p>
                  </a:txBody>
                  <a:tcPr>
                    <a:solidFill>
                      <a:srgbClr val="F7FAF7"/>
                    </a:solidFill>
                  </a:tcPr>
                </a:tc>
                <a:tc>
                  <a:txBody>
                    <a:bodyPr/>
                    <a:lstStyle/>
                    <a:p>
                      <a:pPr algn="r">
                        <a:defRPr>
                          <a:latin typeface="Roboto"/>
                        </a:defRPr>
                      </a:pPr>
                      <a:r>
                        <a:rPr sz="1050">
                          <a:solidFill>
                            <a:srgbClr val="25342A"/>
                          </a:solidFill>
                          <a:latin typeface="Roboto"/>
                        </a:rPr>
                        <a:t>$94,598</a:t>
                      </a:r>
                    </a:p>
                  </a:txBody>
                  <a:tcPr>
                    <a:solidFill>
                      <a:srgbClr val="F7FAF7"/>
                    </a:solidFill>
                  </a:tcPr>
                </a:tc>
              </a:tr>
              <a:tr h="310896">
                <a:tc>
                  <a:txBody>
                    <a:bodyPr/>
                    <a:lstStyle/>
                    <a:p>
                      <a:pPr algn="l">
                        <a:defRPr>
                          <a:latin typeface="Roboto"/>
                        </a:defRPr>
                      </a:pPr>
                      <a:r>
                        <a:rPr sz="1050">
                          <a:solidFill>
                            <a:srgbClr val="25342A"/>
                          </a:solidFill>
                          <a:latin typeface="Roboto"/>
                        </a:rPr>
                        <a:t>30 Dec</a:t>
                      </a:r>
                    </a:p>
                  </a:txBody>
                  <a:tcPr>
                    <a:solidFill>
                      <a:srgbClr val="FFFFFF"/>
                    </a:solidFill>
                  </a:tcPr>
                </a:tc>
                <a:tc>
                  <a:txBody>
                    <a:bodyPr/>
                    <a:lstStyle/>
                    <a:p>
                      <a:pPr algn="r">
                        <a:defRPr>
                          <a:latin typeface="Roboto"/>
                        </a:defRPr>
                      </a:pPr>
                      <a:r>
                        <a:rPr sz="1050">
                          <a:solidFill>
                            <a:srgbClr val="25342A"/>
                          </a:solidFill>
                          <a:latin typeface="Roboto"/>
                        </a:rPr>
                        <a:t>$130,318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$41,129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($5,000)</a:t>
                      </a:r>
                    </a:p>
                  </a:txBody>
                  <a:tcPr>
                    <a:solidFill>
                      <a:srgbClr val="FFFFFF"/>
                    </a:solidFill>
                  </a:tcPr>
                </a:tc>
                <a:tc>
                  <a:txBody>
                    <a:bodyPr/>
                    <a:lstStyle/>
                    <a:p>
                      <a:pPr algn="r">
                        <a:defRPr>
                          <a:latin typeface="Roboto"/>
                        </a:defRPr>
                      </a:pPr>
                      <a:r>
                        <a:rPr sz="1050">
                          <a:solidFill>
                            <a:srgbClr val="25342A"/>
                          </a:solidFill>
                          <a:latin typeface="Roboto"/>
                        </a:rPr>
                        <a:t>$129,836</a:t>
                      </a:r>
                    </a:p>
                  </a:txBody>
                  <a:tcPr>
                    <a:solidFill>
                      <a:srgbClr val="FFFFFF"/>
                    </a:solidFill>
                  </a:tcPr>
                </a:tc>
                <a:tc>
                  <a:txBody>
                    <a:bodyPr/>
                    <a:lstStyle/>
                    <a:p>
                      <a:pPr algn="r">
                        <a:defRPr>
                          <a:latin typeface="Roboto"/>
                        </a:defRPr>
                      </a:pPr>
                      <a:r>
                        <a:rPr sz="1050">
                          <a:solidFill>
                            <a:srgbClr val="25342A"/>
                          </a:solidFill>
                          <a:latin typeface="Roboto"/>
                        </a:rPr>
                        <a:t>$100,681</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($8,734): the forecast assumes these arrive within a week (1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466344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CO-49240</a:t>
                      </a:r>
                    </a:p>
                  </a:txBody>
                  <a:tcPr>
                    <a:solidFill>
                      <a:srgbClr val="FFFFFF"/>
                    </a:solidFill>
                  </a:tcPr>
                </a:tc>
                <a:tc>
                  <a:txBody>
                    <a:bodyPr/>
                    <a:lstStyle/>
                    <a:p>
                      <a:pPr algn="l">
                        <a:defRPr>
                          <a:latin typeface="Roboto"/>
                        </a:defRPr>
                      </a:pPr>
                      <a:r>
                        <a:rPr sz="1050">
                          <a:solidFill>
                            <a:srgbClr val="25342A"/>
                          </a:solidFill>
                          <a:latin typeface="Roboto"/>
                        </a:rPr>
                        <a:t>15 Sep</a:t>
                      </a:r>
                    </a:p>
                  </a:txBody>
                  <a:tcPr>
                    <a:solidFill>
                      <a:srgbClr val="FFFFFF"/>
                    </a:solidFill>
                  </a:tcPr>
                </a:tc>
                <a:tc>
                  <a:txBody>
                    <a:bodyPr/>
                    <a:lstStyle/>
                    <a:p>
                      <a:pPr algn="r">
                        <a:defRPr>
                          <a:latin typeface="Roboto"/>
                        </a:defRPr>
                      </a:pPr>
                      <a:r>
                        <a:rPr sz="1050">
                          <a:solidFill>
                            <a:srgbClr val="25342A"/>
                          </a:solidFill>
                          <a:latin typeface="Roboto"/>
                        </a:rPr>
                        <a:t>$932</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15</a:t>
                      </a:r>
                    </a:p>
                  </a:txBody>
                  <a:tcPr>
                    <a:solidFill>
                      <a:srgbClr val="FFFFFF"/>
                    </a:solidFill>
                  </a:tcPr>
                </a:tc>
              </a:tr>
              <a:tr h="310896">
                <a:tc>
                  <a:txBody>
                    <a:bodyPr/>
                    <a:lstStyle/>
                    <a:p>
                      <a:pPr algn="l">
                        <a:defRPr>
                          <a:latin typeface="Roboto"/>
                        </a:defRPr>
                      </a:pPr>
                      <a:r>
                        <a:rPr sz="1050">
                          <a:solidFill>
                            <a:srgbClr val="25342A"/>
                          </a:solidFill>
                          <a:latin typeface="Roboto"/>
                        </a:rPr>
                        <a:t>Call-out CO-49233</a:t>
                      </a:r>
                    </a:p>
                  </a:txBody>
                  <a:tcPr>
                    <a:solidFill>
                      <a:srgbClr val="F7FAF7"/>
                    </a:solidFill>
                  </a:tcPr>
                </a:tc>
                <a:tc>
                  <a:txBody>
                    <a:bodyPr/>
                    <a:lstStyle/>
                    <a:p>
                      <a:pPr algn="l">
                        <a:defRPr>
                          <a:latin typeface="Roboto"/>
                        </a:defRPr>
                      </a:pPr>
                      <a:r>
                        <a:rPr sz="1050">
                          <a:solidFill>
                            <a:srgbClr val="25342A"/>
                          </a:solidFill>
                          <a:latin typeface="Roboto"/>
                        </a:rPr>
                        <a:t>22 Sep</a:t>
                      </a:r>
                    </a:p>
                  </a:txBody>
                  <a:tcPr>
                    <a:solidFill>
                      <a:srgbClr val="F7FAF7"/>
                    </a:solidFill>
                  </a:tcPr>
                </a:tc>
                <a:tc>
                  <a:txBody>
                    <a:bodyPr/>
                    <a:lstStyle/>
                    <a:p>
                      <a:pPr algn="r">
                        <a:defRPr>
                          <a:latin typeface="Roboto"/>
                        </a:defRPr>
                      </a:pPr>
                      <a:r>
                        <a:rPr sz="1050">
                          <a:solidFill>
                            <a:srgbClr val="25342A"/>
                          </a:solidFill>
                          <a:latin typeface="Roboto"/>
                        </a:rPr>
                        <a:t>$917</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8</a:t>
                      </a:r>
                    </a:p>
                  </a:txBody>
                  <a:tcPr>
                    <a:solidFill>
                      <a:srgbClr val="F7FAF7"/>
                    </a:solidFill>
                  </a:tcPr>
                </a:tc>
              </a:tr>
              <a:tr h="310896">
                <a:tc>
                  <a:txBody>
                    <a:bodyPr/>
                    <a:lstStyle/>
                    <a:p>
                      <a:pPr algn="l">
                        <a:defRPr>
                          <a:latin typeface="Roboto"/>
                        </a:defRPr>
                      </a:pPr>
                      <a:r>
                        <a:rPr sz="1050">
                          <a:solidFill>
                            <a:srgbClr val="25342A"/>
                          </a:solidFill>
                          <a:latin typeface="Roboto"/>
                        </a:rPr>
                        <a:t>Call-out CO-49269</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$735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29</a:t>
                      </a:r>
                    </a:p>
                  </a:txBody>
                  <a:tcPr>
                    <a:solidFill>
                      <a:srgbClr val="FFFFFF"/>
                    </a:solidFill>
                  </a:tcPr>
                </a:tc>
              </a:tr>
              <a:tr h="310896">
                <a:tc>
                  <a:txBody>
                    <a:bodyPr/>
                    <a:lstStyle/>
                    <a:p>
                      <a:pPr algn="l">
                        <a:defRPr>
                          <a:latin typeface="Roboto"/>
                        </a:defRPr>
                      </a:pPr>
                      <a:r>
                        <a:rPr sz="1050">
                          <a:solidFill>
                            <a:srgbClr val="25342A"/>
                          </a:solidFill>
                          <a:latin typeface="Roboto"/>
                        </a:rPr>
                        <a:t>Call-out CO-49260</a:t>
                      </a:r>
                    </a:p>
                  </a:txBody>
                  <a:tcPr>
                    <a:solidFill>
                      <a:srgbClr val="F7FAF7"/>
                    </a:solidFill>
                  </a:tcPr>
                </a:tc>
                <a:tc>
                  <a:txBody>
                    <a:bodyPr/>
                    <a:lstStyle/>
                    <a:p>
                      <a:pPr algn="l">
                        <a:defRPr>
                          <a:latin typeface="Roboto"/>
                        </a:defRPr>
                      </a:pPr>
                      <a:r>
                        <a:rPr sz="1050">
                          <a:solidFill>
                            <a:srgbClr val="25342A"/>
                          </a:solidFill>
                          <a:latin typeface="Roboto"/>
                        </a:rPr>
                        <a:t>21 Sep</a:t>
                      </a:r>
                    </a:p>
                  </a:txBody>
                  <a:tcPr>
                    <a:solidFill>
                      <a:srgbClr val="F7FAF7"/>
                    </a:solidFill>
                  </a:tcPr>
                </a:tc>
                <a:tc>
                  <a:txBody>
                    <a:bodyPr/>
                    <a:lstStyle/>
                    <a:p>
                      <a:pPr algn="r">
                        <a:defRPr>
                          <a:latin typeface="Roboto"/>
                        </a:defRPr>
                      </a:pPr>
                      <a:r>
                        <a:rPr sz="1050">
                          <a:solidFill>
                            <a:srgbClr val="25342A"/>
                          </a:solidFill>
                          <a:latin typeface="Roboto"/>
                        </a:rPr>
                        <a:t>$706</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9</a:t>
                      </a:r>
                    </a:p>
                  </a:txBody>
                  <a:tcPr>
                    <a:solidFill>
                      <a:srgbClr val="F7FAF7"/>
                    </a:solidFill>
                  </a:tcPr>
                </a:tc>
              </a:tr>
              <a:tr h="310896">
                <a:tc>
                  <a:txBody>
                    <a:bodyPr/>
                    <a:lstStyle/>
                    <a:p>
                      <a:pPr algn="l">
                        <a:defRPr>
                          <a:latin typeface="Roboto"/>
                        </a:defRPr>
                      </a:pPr>
                      <a:r>
                        <a:rPr sz="1050">
                          <a:solidFill>
                            <a:srgbClr val="25342A"/>
                          </a:solidFill>
                          <a:latin typeface="Roboto"/>
                        </a:rPr>
                        <a:t>Call-out CO-49255</a:t>
                      </a:r>
                    </a:p>
                  </a:txBody>
                  <a:tcPr>
                    <a:solidFill>
                      <a:srgbClr val="FFFFFF"/>
                    </a:solidFill>
                  </a:tcPr>
                </a:tc>
                <a:tc>
                  <a:txBody>
                    <a:bodyPr/>
                    <a:lstStyle/>
                    <a:p>
                      <a:pPr algn="l">
                        <a:defRPr>
                          <a:latin typeface="Roboto"/>
                        </a:defRPr>
                      </a:pPr>
                      <a:r>
                        <a:rPr sz="1050">
                          <a:solidFill>
                            <a:srgbClr val="25342A"/>
                          </a:solidFill>
                          <a:latin typeface="Roboto"/>
                        </a:rPr>
                        <a:t>25 Sep</a:t>
                      </a:r>
                    </a:p>
                  </a:txBody>
                  <a:tcPr>
                    <a:solidFill>
                      <a:srgbClr val="FFFFFF"/>
                    </a:solidFill>
                  </a:tcPr>
                </a:tc>
                <a:tc>
                  <a:txBody>
                    <a:bodyPr/>
                    <a:lstStyle/>
                    <a:p>
                      <a:pPr algn="r">
                        <a:defRPr>
                          <a:latin typeface="Roboto"/>
                        </a:defRPr>
                      </a:pPr>
                      <a:r>
                        <a:rPr sz="1050">
                          <a:solidFill>
                            <a:srgbClr val="25342A"/>
                          </a:solidFill>
                          <a:latin typeface="Roboto"/>
                        </a:rPr>
                        <a:t>$659</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5</a:t>
                      </a:r>
                    </a:p>
                  </a:txBody>
                  <a:tcPr>
                    <a:solidFill>
                      <a:srgbClr val="FFFFFF"/>
                    </a:solidFill>
                  </a:tcPr>
                </a:tc>
              </a:tr>
              <a:tr h="310896">
                <a:tc>
                  <a:txBody>
                    <a:bodyPr/>
                    <a:lstStyle/>
                    <a:p>
                      <a:pPr algn="l">
                        <a:defRPr>
                          <a:latin typeface="Roboto"/>
                        </a:defRPr>
                      </a:pPr>
                      <a:r>
                        <a:rPr sz="1050">
                          <a:solidFill>
                            <a:srgbClr val="25342A"/>
                          </a:solidFill>
                          <a:latin typeface="Roboto"/>
                        </a:rPr>
                        <a:t>Call-out CO-49235</a:t>
                      </a:r>
                    </a:p>
                  </a:txBody>
                  <a:tcPr>
                    <a:solidFill>
                      <a:srgbClr val="F7FAF7"/>
                    </a:solidFill>
                  </a:tcPr>
                </a:tc>
                <a:tc>
                  <a:txBody>
                    <a:bodyPr/>
                    <a:lstStyle/>
                    <a:p>
                      <a:pPr algn="l">
                        <a:defRPr>
                          <a:latin typeface="Roboto"/>
                        </a:defRPr>
                      </a:pPr>
                      <a:r>
                        <a:rPr sz="1050">
                          <a:solidFill>
                            <a:srgbClr val="25342A"/>
                          </a:solidFill>
                          <a:latin typeface="Roboto"/>
                        </a:rPr>
                        <a:t>24 Sep</a:t>
                      </a:r>
                    </a:p>
                  </a:txBody>
                  <a:tcPr>
                    <a:solidFill>
                      <a:srgbClr val="F7FAF7"/>
                    </a:solidFill>
                  </a:tcPr>
                </a:tc>
                <a:tc>
                  <a:txBody>
                    <a:bodyPr/>
                    <a:lstStyle/>
                    <a:p>
                      <a:pPr algn="r">
                        <a:defRPr>
                          <a:latin typeface="Roboto"/>
                        </a:defRPr>
                      </a:pPr>
                      <a:r>
                        <a:rPr sz="1050">
                          <a:solidFill>
                            <a:srgbClr val="25342A"/>
                          </a:solidFill>
                          <a:latin typeface="Roboto"/>
                        </a:rPr>
                        <a:t>$638</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CO-49296</a:t>
                      </a:r>
                    </a:p>
                  </a:txBody>
                  <a:tcPr>
                    <a:solidFill>
                      <a:srgbClr val="FFFFFF"/>
                    </a:solidFill>
                  </a:tcPr>
                </a:tc>
                <a:tc>
                  <a:txBody>
                    <a:bodyPr/>
                    <a:lstStyle/>
                    <a:p>
                      <a:pPr algn="l">
                        <a:defRPr>
                          <a:latin typeface="Roboto"/>
                        </a:defRPr>
                      </a:pPr>
                      <a:r>
                        <a:rPr sz="1050">
                          <a:solidFill>
                            <a:srgbClr val="25342A"/>
                          </a:solidFill>
                          <a:latin typeface="Roboto"/>
                        </a:rPr>
                        <a:t>15 Sep</a:t>
                      </a:r>
                    </a:p>
                  </a:txBody>
                  <a:tcPr>
                    <a:solidFill>
                      <a:srgbClr val="FFFFFF"/>
                    </a:solidFill>
                  </a:tcPr>
                </a:tc>
                <a:tc>
                  <a:txBody>
                    <a:bodyPr/>
                    <a:lstStyle/>
                    <a:p>
                      <a:pPr algn="r">
                        <a:defRPr>
                          <a:latin typeface="Roboto"/>
                        </a:defRPr>
                      </a:pPr>
                      <a:r>
                        <a:rPr sz="1050">
                          <a:solidFill>
                            <a:srgbClr val="25342A"/>
                          </a:solidFill>
                          <a:latin typeface="Roboto"/>
                        </a:rPr>
                        <a:t>$635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15</a:t>
                      </a:r>
                    </a:p>
                  </a:txBody>
                  <a:tcPr>
                    <a:solidFill>
                      <a:srgbClr val="FFFFFF"/>
                    </a:solidFill>
                  </a:tcPr>
                </a:tc>
              </a:tr>
              <a:tr h="310896">
                <a:tc>
                  <a:txBody>
                    <a:bodyPr/>
                    <a:lstStyle/>
                    <a:p>
                      <a:pPr algn="l">
                        <a:defRPr>
                          <a:latin typeface="Roboto"/>
                        </a:defRPr>
                      </a:pPr>
                      <a:r>
                        <a:rPr sz="1050">
                          <a:solidFill>
                            <a:srgbClr val="25342A"/>
                          </a:solidFill>
                          <a:latin typeface="Roboto"/>
                        </a:rPr>
                        <a:t>Call-out CO-49247</a:t>
                      </a:r>
                    </a:p>
                  </a:txBody>
                  <a:tcPr>
                    <a:solidFill>
                      <a:srgbClr val="F7FAF7"/>
                    </a:solidFill>
                  </a:tcPr>
                </a:tc>
                <a:tc>
                  <a:txBody>
                    <a:bodyPr/>
                    <a:lstStyle/>
                    <a:p>
                      <a:pPr algn="l">
                        <a:defRPr>
                          <a:latin typeface="Roboto"/>
                        </a:defRPr>
                      </a:pPr>
                      <a:r>
                        <a:rPr sz="1050">
                          <a:solidFill>
                            <a:srgbClr val="25342A"/>
                          </a:solidFill>
                          <a:latin typeface="Roboto"/>
                        </a:rPr>
                        <a:t>25 Sep</a:t>
                      </a:r>
                    </a:p>
                  </a:txBody>
                  <a:tcPr>
                    <a:solidFill>
                      <a:srgbClr val="F7FAF7"/>
                    </a:solidFill>
                  </a:tcPr>
                </a:tc>
                <a:tc>
                  <a:txBody>
                    <a:bodyPr/>
                    <a:lstStyle/>
                    <a:p>
                      <a:pPr algn="r">
                        <a:defRPr>
                          <a:latin typeface="Roboto"/>
                        </a:defRPr>
                      </a:pPr>
                      <a:r>
                        <a:rPr sz="1050">
                          <a:solidFill>
                            <a:srgbClr val="25342A"/>
                          </a:solidFill>
                          <a:latin typeface="Roboto"/>
                        </a:rPr>
                        <a:t>$567</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5</a:t>
                      </a:r>
                    </a:p>
                  </a:txBody>
                  <a:tcPr>
                    <a:solidFill>
                      <a:srgbClr val="F7FAF7"/>
                    </a:solidFill>
                  </a:tcPr>
                </a:tc>
              </a:tr>
              <a:tr h="310896">
                <a:tc>
                  <a:txBody>
                    <a:bodyPr/>
                    <a:lstStyle/>
                    <a:p>
                      <a:pPr algn="l">
                        <a:defRPr>
                          <a:latin typeface="Roboto"/>
                        </a:defRPr>
                      </a:pPr>
                      <a:r>
                        <a:rPr sz="1050">
                          <a:solidFill>
                            <a:srgbClr val="25342A"/>
                          </a:solidFill>
                          <a:latin typeface="Roboto"/>
                        </a:rPr>
                        <a:t>Call-out CO-49248</a:t>
                      </a:r>
                    </a:p>
                  </a:txBody>
                  <a:tcPr>
                    <a:solidFill>
                      <a:srgbClr val="FFFFFF"/>
                    </a:solidFill>
                  </a:tcPr>
                </a:tc>
                <a:tc>
                  <a:txBody>
                    <a:bodyPr/>
                    <a:lstStyle/>
                    <a:p>
                      <a:pPr algn="l">
                        <a:defRPr>
                          <a:latin typeface="Roboto"/>
                        </a:defRPr>
                      </a:pPr>
                      <a:r>
                        <a:rPr sz="1050">
                          <a:solidFill>
                            <a:srgbClr val="25342A"/>
                          </a:solidFill>
                          <a:latin typeface="Roboto"/>
                        </a:rPr>
                        <a:t>17 Sep</a:t>
                      </a:r>
                    </a:p>
                  </a:txBody>
                  <a:tcPr>
                    <a:solidFill>
                      <a:srgbClr val="FFFFFF"/>
                    </a:solidFill>
                  </a:tcPr>
                </a:tc>
                <a:tc>
                  <a:txBody>
                    <a:bodyPr/>
                    <a:lstStyle/>
                    <a:p>
                      <a:pPr algn="r">
                        <a:defRPr>
                          <a:latin typeface="Roboto"/>
                        </a:defRPr>
                      </a:pPr>
                      <a:r>
                        <a:rPr sz="1050">
                          <a:solidFill>
                            <a:srgbClr val="25342A"/>
                          </a:solidFill>
                          <a:latin typeface="Roboto"/>
                        </a:rPr>
                        <a:t>$535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13</a:t>
                      </a:r>
                    </a:p>
                  </a:txBody>
                  <a:tcPr>
                    <a:solidFill>
                      <a:srgbClr val="FFFFFF"/>
                    </a:solidFill>
                  </a:tcPr>
                </a:tc>
              </a:tr>
              <a:tr h="310896">
                <a:tc>
                  <a:txBody>
                    <a:bodyPr/>
                    <a:lstStyle/>
                    <a:p>
                      <a:pPr algn="l">
                        <a:defRPr>
                          <a:latin typeface="Roboto"/>
                        </a:defRPr>
                      </a:pPr>
                      <a:r>
                        <a:rPr sz="1050">
                          <a:solidFill>
                            <a:srgbClr val="25342A"/>
                          </a:solidFill>
                          <a:latin typeface="Roboto"/>
                        </a:rPr>
                        <a:t>Call-out CO-49267</a:t>
                      </a:r>
                    </a:p>
                  </a:txBody>
                  <a:tcPr>
                    <a:solidFill>
                      <a:srgbClr val="F7FAF7"/>
                    </a:solidFill>
                  </a:tcPr>
                </a:tc>
                <a:tc>
                  <a:txBody>
                    <a:bodyPr/>
                    <a:lstStyle/>
                    <a:p>
                      <a:pPr algn="l">
                        <a:defRPr>
                          <a:latin typeface="Roboto"/>
                        </a:defRPr>
                      </a:pPr>
                      <a:r>
                        <a:rPr sz="1050">
                          <a:solidFill>
                            <a:srgbClr val="25342A"/>
                          </a:solidFill>
                          <a:latin typeface="Roboto"/>
                        </a:rPr>
                        <a:t>23 Sep</a:t>
                      </a:r>
                    </a:p>
                  </a:txBody>
                  <a:tcPr>
                    <a:solidFill>
                      <a:srgbClr val="F7FAF7"/>
                    </a:solidFill>
                  </a:tcPr>
                </a:tc>
                <a:tc>
                  <a:txBody>
                    <a:bodyPr/>
                    <a:lstStyle/>
                    <a:p>
                      <a:pPr algn="r">
                        <a:defRPr>
                          <a:latin typeface="Roboto"/>
                        </a:defRPr>
                      </a:pPr>
                      <a:r>
                        <a:rPr sz="1050">
                          <a:solidFill>
                            <a:srgbClr val="25342A"/>
                          </a:solidFill>
                          <a:latin typeface="Roboto"/>
                        </a:rPr>
                        <a:t>$459</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r>
              <a:tr h="310896">
                <a:tc>
                  <a:txBody>
                    <a:bodyPr/>
                    <a:lstStyle/>
                    <a:p>
                      <a:pPr algn="l">
                        <a:defRPr>
                          <a:latin typeface="Roboto"/>
                        </a:defRPr>
                      </a:pPr>
                      <a:r>
                        <a:rPr sz="1050">
                          <a:solidFill>
                            <a:srgbClr val="25342A"/>
                          </a:solidFill>
                          <a:latin typeface="Roboto"/>
                        </a:rPr>
                        <a:t>Call-out CO-49253</a:t>
                      </a:r>
                    </a:p>
                  </a:txBody>
                  <a:tcPr>
                    <a:solidFill>
                      <a:srgbClr val="FFFFFF"/>
                    </a:solidFill>
                  </a:tcPr>
                </a:tc>
                <a:tc>
                  <a:txBody>
                    <a:bodyPr/>
                    <a:lstStyle/>
                    <a:p>
                      <a:pPr algn="l">
                        <a:defRPr>
                          <a:latin typeface="Roboto"/>
                        </a:defRPr>
                      </a:pPr>
                      <a:r>
                        <a:rPr sz="1050">
                          <a:solidFill>
                            <a:srgbClr val="25342A"/>
                          </a:solidFill>
                          <a:latin typeface="Roboto"/>
                        </a:rPr>
                        <a:t>26 Sep</a:t>
                      </a:r>
                    </a:p>
                  </a:txBody>
                  <a:tcPr>
                    <a:solidFill>
                      <a:srgbClr val="FFFFFF"/>
                    </a:solidFill>
                  </a:tcPr>
                </a:tc>
                <a:tc>
                  <a:txBody>
                    <a:bodyPr/>
                    <a:lstStyle/>
                    <a:p>
                      <a:pPr algn="r">
                        <a:defRPr>
                          <a:latin typeface="Roboto"/>
                        </a:defRPr>
                      </a:pPr>
                      <a:r>
                        <a:rPr sz="1050">
                          <a:solidFill>
                            <a:srgbClr val="25342A"/>
                          </a:solidFill>
                          <a:latin typeface="Roboto"/>
                        </a:rPr>
                        <a:t>$441</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r>
              <a:tr h="310896">
                <a:tc>
                  <a:txBody>
                    <a:bodyPr/>
                    <a:lstStyle/>
                    <a:p>
                      <a:pPr algn="l">
                        <a:defRPr>
                          <a:latin typeface="Roboto"/>
                        </a:defRPr>
                      </a:pPr>
                      <a:r>
                        <a:rPr sz="1050">
                          <a:solidFill>
                            <a:srgbClr val="25342A"/>
                          </a:solidFill>
                          <a:latin typeface="Roboto"/>
                        </a:rPr>
                        <a:t>Call-out CO-49246</a:t>
                      </a:r>
                    </a:p>
                  </a:txBody>
                  <a:tcPr>
                    <a:solidFill>
                      <a:srgbClr val="F7FAF7"/>
                    </a:solidFill>
                  </a:tcPr>
                </a:tc>
                <a:tc>
                  <a:txBody>
                    <a:bodyPr/>
                    <a:lstStyle/>
                    <a:p>
                      <a:pPr algn="l">
                        <a:defRPr>
                          <a:latin typeface="Roboto"/>
                        </a:defRPr>
                      </a:pPr>
                      <a:r>
                        <a:rPr sz="1050">
                          <a:solidFill>
                            <a:srgbClr val="25342A"/>
                          </a:solidFill>
                          <a:latin typeface="Roboto"/>
                        </a:rPr>
                        <a:t>24 Sep</a:t>
                      </a:r>
                    </a:p>
                  </a:txBody>
                  <a:tcPr>
                    <a:solidFill>
                      <a:srgbClr val="F7FAF7"/>
                    </a:solidFill>
                  </a:tcPr>
                </a:tc>
                <a:tc>
                  <a:txBody>
                    <a:bodyPr/>
                    <a:lstStyle/>
                    <a:p>
                      <a:pPr algn="r">
                        <a:defRPr>
                          <a:latin typeface="Roboto"/>
                        </a:defRPr>
                      </a:pPr>
                      <a:r>
                        <a:rPr sz="1050">
                          <a:solidFill>
                            <a:srgbClr val="25342A"/>
                          </a:solidFill>
                          <a:latin typeface="Roboto"/>
                        </a:rPr>
                        <a:t>$416</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CO-49259</a:t>
                      </a:r>
                    </a:p>
                  </a:txBody>
                  <a:tcPr>
                    <a:solidFill>
                      <a:srgbClr val="FFFFFF"/>
                    </a:solidFill>
                  </a:tcPr>
                </a:tc>
                <a:tc>
                  <a:txBody>
                    <a:bodyPr/>
                    <a:lstStyle/>
                    <a:p>
                      <a:pPr algn="l">
                        <a:defRPr>
                          <a:latin typeface="Roboto"/>
                        </a:defRPr>
                      </a:pPr>
                      <a:r>
                        <a:rPr sz="1050">
                          <a:solidFill>
                            <a:srgbClr val="25342A"/>
                          </a:solidFill>
                          <a:latin typeface="Roboto"/>
                        </a:rPr>
                        <a:t>13 Sep</a:t>
                      </a:r>
                    </a:p>
                  </a:txBody>
                  <a:tcPr>
                    <a:solidFill>
                      <a:srgbClr val="FFFFFF"/>
                    </a:solidFill>
                  </a:tcPr>
                </a:tc>
                <a:tc>
                  <a:txBody>
                    <a:bodyPr/>
                    <a:lstStyle/>
                    <a:p>
                      <a:pPr algn="r">
                        <a:defRPr>
                          <a:latin typeface="Roboto"/>
                        </a:defRPr>
                      </a:pPr>
                      <a:r>
                        <a:rPr sz="1050">
                          <a:solidFill>
                            <a:srgbClr val="25342A"/>
                          </a:solidFill>
                          <a:latin typeface="Roboto"/>
                        </a:rPr>
                        <a:t>$416</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17</a:t>
                      </a:r>
                    </a:p>
                  </a:txBody>
                  <a:tcPr>
                    <a:solidFill>
                      <a:srgbClr val="FFFFFF"/>
                    </a:solidFill>
                  </a:tcPr>
                </a:tc>
              </a:tr>
              <a:tr h="310896">
                <a:tc>
                  <a:txBody>
                    <a:bodyPr/>
                    <a:lstStyle/>
                    <a:p>
                      <a:pPr algn="l">
                        <a:defRPr>
                          <a:latin typeface="Roboto"/>
                        </a:defRPr>
                      </a:pPr>
                      <a:r>
                        <a:rPr sz="1050">
                          <a:solidFill>
                            <a:srgbClr val="25342A"/>
                          </a:solidFill>
                          <a:latin typeface="Roboto"/>
                        </a:rPr>
                        <a:t>Call-out CO-49294</a:t>
                      </a:r>
                    </a:p>
                  </a:txBody>
                  <a:tcPr>
                    <a:solidFill>
                      <a:srgbClr val="F7FAF7"/>
                    </a:solidFill>
                  </a:tcPr>
                </a:tc>
                <a:tc>
                  <a:txBody>
                    <a:bodyPr/>
                    <a:lstStyle/>
                    <a:p>
                      <a:pPr algn="l">
                        <a:defRPr>
                          <a:latin typeface="Roboto"/>
                        </a:defRPr>
                      </a:pPr>
                      <a:r>
                        <a:rPr sz="1050">
                          <a:solidFill>
                            <a:srgbClr val="25342A"/>
                          </a:solidFill>
                          <a:latin typeface="Roboto"/>
                        </a:rPr>
                        <a:t>19 Sep</a:t>
                      </a:r>
                    </a:p>
                  </a:txBody>
                  <a:tcPr>
                    <a:solidFill>
                      <a:srgbClr val="F7FAF7"/>
                    </a:solidFill>
                  </a:tcPr>
                </a:tc>
                <a:tc>
                  <a:txBody>
                    <a:bodyPr/>
                    <a:lstStyle/>
                    <a:p>
                      <a:pPr algn="r">
                        <a:defRPr>
                          <a:latin typeface="Roboto"/>
                        </a:defRPr>
                      </a:pPr>
                      <a:r>
                        <a:rPr sz="1050">
                          <a:solidFill>
                            <a:srgbClr val="25342A"/>
                          </a:solidFill>
                          <a:latin typeface="Roboto"/>
                        </a:rPr>
                        <a:t>$351</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11</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($8,734): the forecast assumes these arrive within a week (2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621792"/>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CO-49273</a:t>
                      </a:r>
                    </a:p>
                  </a:txBody>
                  <a:tcPr>
                    <a:solidFill>
                      <a:srgbClr val="FFFFFF"/>
                    </a:solidFill>
                  </a:tcPr>
                </a:tc>
                <a:tc>
                  <a:txBody>
                    <a:bodyPr/>
                    <a:lstStyle/>
                    <a:p>
                      <a:pPr algn="l">
                        <a:defRPr>
                          <a:latin typeface="Roboto"/>
                        </a:defRPr>
                      </a:pPr>
                      <a:r>
                        <a:rPr sz="1050">
                          <a:solidFill>
                            <a:srgbClr val="25342A"/>
                          </a:solidFill>
                          <a:latin typeface="Roboto"/>
                        </a:rPr>
                        <a:t>16 Sep</a:t>
                      </a:r>
                    </a:p>
                  </a:txBody>
                  <a:tcPr>
                    <a:solidFill>
                      <a:srgbClr val="FFFFFF"/>
                    </a:solidFill>
                  </a:tcPr>
                </a:tc>
                <a:tc>
                  <a:txBody>
                    <a:bodyPr/>
                    <a:lstStyle/>
                    <a:p>
                      <a:pPr algn="r">
                        <a:defRPr>
                          <a:latin typeface="Roboto"/>
                        </a:defRPr>
                      </a:pPr>
                      <a:r>
                        <a:rPr sz="1050">
                          <a:solidFill>
                            <a:srgbClr val="25342A"/>
                          </a:solidFill>
                          <a:latin typeface="Roboto"/>
                        </a:rPr>
                        <a:t>$327</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14</a:t>
                      </a:r>
                    </a:p>
                  </a:txBody>
                  <a:tcPr>
                    <a:solidFill>
                      <a:srgbClr val="FFFFFF"/>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22 Oct 2026, 4:57pm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