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103550</c:v>
                </c:pt>
                <c:pt idx="1">
                  <c:v>118390</c:v>
                </c:pt>
                <c:pt idx="2">
                  <c:v>125715</c:v>
                </c:pt>
                <c:pt idx="3">
                  <c:v>96560</c:v>
                </c:pt>
                <c:pt idx="4">
                  <c:v>121275</c:v>
                </c:pt>
                <c:pt idx="5">
                  <c:v>84340</c:v>
                </c:pt>
                <c:pt idx="6">
                  <c:v>69985</c:v>
                </c:pt>
                <c:pt idx="7">
                  <c:v>104970</c:v>
                </c:pt>
                <c:pt idx="8">
                  <c:v>99060</c:v>
                </c:pt>
                <c:pt idx="9">
                  <c:v>94805</c:v>
                </c:pt>
                <c:pt idx="10">
                  <c:v>67745</c:v>
                </c:pt>
                <c:pt idx="11">
                  <c:v>65650</c:v>
                </c:pt>
                <c:pt idx="12">
                  <c:v>78550</c:v>
                </c:pt>
                <c:pt idx="13">
                  <c:v>92575</c:v>
                </c:pt>
                <c:pt idx="14">
                  <c:v>76600</c:v>
                </c:pt>
                <c:pt idx="15">
                  <c:v>102350</c:v>
                </c:pt>
                <c:pt idx="16">
                  <c:v>110835</c:v>
                </c:pt>
                <c:pt idx="17">
                  <c:v>121215</c:v>
                </c:pt>
                <c:pt idx="18">
                  <c:v>88665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77350</c:v>
                </c:pt>
                <c:pt idx="1">
                  <c:v>96790</c:v>
                </c:pt>
                <c:pt idx="2">
                  <c:v>103515</c:v>
                </c:pt>
                <c:pt idx="3">
                  <c:v>73060</c:v>
                </c:pt>
                <c:pt idx="4">
                  <c:v>92075</c:v>
                </c:pt>
                <c:pt idx="5">
                  <c:v>53340</c:v>
                </c:pt>
                <c:pt idx="6">
                  <c:v>40885</c:v>
                </c:pt>
                <c:pt idx="7">
                  <c:v>65570</c:v>
                </c:pt>
                <c:pt idx="8">
                  <c:v>70760</c:v>
                </c:pt>
                <c:pt idx="9">
                  <c:v>71205</c:v>
                </c:pt>
                <c:pt idx="10">
                  <c:v>42845</c:v>
                </c:pt>
                <c:pt idx="11">
                  <c:v>42050</c:v>
                </c:pt>
                <c:pt idx="12">
                  <c:v>50650</c:v>
                </c:pt>
                <c:pt idx="13">
                  <c:v>51775</c:v>
                </c:pt>
                <c:pt idx="14">
                  <c:v>32800</c:v>
                </c:pt>
                <c:pt idx="15">
                  <c:v>66950</c:v>
                </c:pt>
                <c:pt idx="16">
                  <c:v>70035</c:v>
                </c:pt>
                <c:pt idx="17">
                  <c:v>83115</c:v>
                </c:pt>
                <c:pt idx="18">
                  <c:v>51865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25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16500</c:v>
                </c:pt>
                <c:pt idx="1">
                  <c:v>16500</c:v>
                </c:pt>
                <c:pt idx="2">
                  <c:v>16500</c:v>
                </c:pt>
                <c:pt idx="3">
                  <c:v>16500</c:v>
                </c:pt>
                <c:pt idx="4">
                  <c:v>16500</c:v>
                </c:pt>
                <c:pt idx="5">
                  <c:v>24000</c:v>
                </c:pt>
                <c:pt idx="6">
                  <c:v>24000</c:v>
                </c:pt>
                <c:pt idx="7">
                  <c:v>24000</c:v>
                </c:pt>
                <c:pt idx="8">
                  <c:v>24000</c:v>
                </c:pt>
                <c:pt idx="9">
                  <c:v>17900</c:v>
                </c:pt>
                <c:pt idx="10">
                  <c:v>17900</c:v>
                </c:pt>
                <c:pt idx="11">
                  <c:v>17900</c:v>
                </c:pt>
                <c:pt idx="12">
                  <c:v>17900</c:v>
                </c:pt>
                <c:pt idx="13">
                  <c:v>31100</c:v>
                </c:pt>
                <c:pt idx="14">
                  <c:v>31100</c:v>
                </c:pt>
                <c:pt idx="15">
                  <c:v>31100</c:v>
                </c:pt>
                <c:pt idx="16">
                  <c:v>31100</c:v>
                </c:pt>
                <c:pt idx="17">
                  <c:v>31100</c:v>
                </c:pt>
                <c:pt idx="18">
                  <c:v>31100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Sheet1!$A$2:$A$20</c:f>
              <c:strCache>
                <c:ptCount val="19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</c:strCache>
            </c:strRef>
          </c:cat>
          <c:val>
            <c:numRef>
              <c:f>Sheet1!$B$2:$B$20</c:f>
              <c:numCache>
                <c:formatCode>$#,##0;[Red]($#,##0);"-"</c:formatCode>
                <c:ptCount val="19"/>
                <c:pt idx="0">
                  <c:v>9700</c:v>
                </c:pt>
                <c:pt idx="1">
                  <c:v>5100</c:v>
                </c:pt>
                <c:pt idx="2">
                  <c:v>5700</c:v>
                </c:pt>
                <c:pt idx="3">
                  <c:v>7000</c:v>
                </c:pt>
                <c:pt idx="4">
                  <c:v>12700</c:v>
                </c:pt>
                <c:pt idx="5">
                  <c:v>7000</c:v>
                </c:pt>
                <c:pt idx="6">
                  <c:v>5100</c:v>
                </c:pt>
                <c:pt idx="7">
                  <c:v>15400</c:v>
                </c:pt>
                <c:pt idx="8">
                  <c:v>4300</c:v>
                </c:pt>
                <c:pt idx="9">
                  <c:v>5700</c:v>
                </c:pt>
                <c:pt idx="10">
                  <c:v>7000</c:v>
                </c:pt>
                <c:pt idx="11">
                  <c:v>5700</c:v>
                </c:pt>
                <c:pt idx="12">
                  <c:v>10000</c:v>
                </c:pt>
                <c:pt idx="13">
                  <c:v>9700</c:v>
                </c:pt>
                <c:pt idx="14">
                  <c:v>12700</c:v>
                </c:pt>
                <c:pt idx="15">
                  <c:v>4300</c:v>
                </c:pt>
                <c:pt idx="16">
                  <c:v>9700</c:v>
                </c:pt>
                <c:pt idx="17">
                  <c:v>7000</c:v>
                </c:pt>
                <c:pt idx="18">
                  <c:v>5700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Advisory Pty Ltd. 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All. April against April last year: 26.7%; Year to date (Jul to Apr 2026): $898,990; Gross margin, year to date: 67.4%. Revenue is $898,990 this financial year to date (Jul to Apr 2026). Training makes the highest gross margin (76.9%); Projects the lowest (65.3%). The business needs 89.8% gross margin just to cover overheads. Projects: 65.3% gross margin, 25.3 points over the 40.0% target ($142,374 ahead on $563,290 this financial year to date). Training: 76.9% gross margin, 36.9 points over the 40.0% target ($28,560 ahead on $77,500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Projects. April against April last year: 26.9%; Year to date (Jul to Apr 2026): $563,290; Gross margin, year to date: 65.3%. Projects brought in $563,290 this financial year to date, at a 65.3% gross margin (below the 67.4% overall). Projects: 65.3% gross margin, 25.3 points over the 40.0% target ($142,374 ahead on $563,290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Retainers. April against April last year: 29.6%; Year to date (Jul to Apr 2026): $258,200; Gross margin, year to date: 69.1%. Retainers brought in $258,200 this financial year to date, at a 69.1% gross margin (above the 67.4% overall). Retainers: 69.1% gross margin, 29.1 points over the 40.0% target ($75,120 ahead on $258,200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Services · Training. April against April last year: 11.8%; Year to date (Jul to Apr 2026): $77,500; Gross margin, year to date: 76.9%. Training brought in $77,500 this financial year to date, at a 76.9% gross margin (above the 67.4% overall). Training: 76.9% gross margin, 36.9 points over the 40.0% target ($28,560 ahead on $77,500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type of work: financial year to date (Jul to Apr 2026) against the same period last year · Services. Same period last year: Not available: the data starts October 2024. From gross margin to profit: April's client work made $60,805 gross margin (68.6%). Consultant time not charged to client work took $27,960 and overheads $51,660, leaving ($18,815) profit before tax ((21.2%) of revenue). To cover overheads, client work needs a 89.8%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Advisory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April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26.7%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$88,665 against $69,985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$898,990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$605,650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$898,990 this financial year to date (Jul to Apr 2026). Training makes the highest gross margin (76.9%); Projects the lowest (65.3%). The business needs 89.8%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65.3% gross margin, 25.3 points over the 40.0% target ($142,374 ahead on $563,290 this financial year to date). Training: 76.9% gross margin, 36.9 points over the 40.0% target ($28,560 ahead on $77,500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Projects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Projects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26.9%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$51,865 against $40,885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$563,290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65.3%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$367,690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 brought in $563,290 this financial year to date, at a 65.3% gross margin (below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Projects: 65.3% gross margin, 25.3 points over the 40.0% target ($142,374 ahead on $563,290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Retainers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Retainers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$31,100 against $24,000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$258,200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$178,400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 brought in $258,200 this financial year to date, at a 69.1%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Retainers: 69.1% gross margin, 29.1 points over the 40.0% target ($75,120 ahead on $258,200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Services ·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type of work, by month ·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against April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$5,700 against $5,100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Apr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$77,500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76.9%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$59,560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 brought in $77,500 this financial year to date, at a 76.9% gross margin (above the 67.4%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Training: 76.9% gross margin, 36.9 points over the 40.0% target ($28,560 ahead on $77,500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type of work: financial year to date (Jul to Apr 2026) against the same period last year ·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Advisory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April's client work made $60,805 gross margin (68.6%). Consultant time not charged to client work took $27,960 and overheads $51,660, leaving ($18,815) profit before tax ((21.2%) of revenue). To cover overheads, client work needs a 89.8%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$563,290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$367,690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Retainers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$258,200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$178,400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69.1%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$77,500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$59,560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76.9%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$898,990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$605,650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67.4%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growth-services.pptx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