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ayout>
        <c:manualLayout>
          <c:layoutTarget val="inner"/>
          <c:xMode val="edge"/>
          <c:yMode val="edge"/>
          <c:x val="0.3"/>
          <c:y val="0.03"/>
          <c:w val="0.58"/>
          <c:h val="0.88"/>
        </c:manualLayout>
      </c:layout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Volunteer hours by program</c:v>
                </c:pt>
              </c:strCache>
            </c:strRef>
          </c:tx>
          <c:dPt>
            <c:idx val="0"/>
            <c:spPr>
              <a:solidFill>
                <a:srgbClr val="0E9F6E"/>
              </a:solidFill>
            </c:spPr>
          </c:dPt>
          <c:dPt>
            <c:idx val="1"/>
            <c:spPr>
              <a:solidFill>
                <a:srgbClr val="0E9F6E"/>
              </a:solidFill>
            </c:spPr>
          </c:dPt>
          <c:dPt>
            <c:idx val="2"/>
            <c:spPr>
              <a:solidFill>
                <a:srgbClr val="0E9F6E"/>
              </a:solidFill>
            </c:spPr>
          </c:dPt>
          <c:dPt>
            <c:idx val="3"/>
            <c:spPr>
              <a:solidFill>
                <a:srgbClr val="0E9F6E"/>
              </a:solidFill>
            </c:spPr>
          </c:dPt>
          <c:dPt>
            <c:idx val="4"/>
            <c:spPr>
              <a:solidFill>
                <a:srgbClr val="0E9F6E"/>
              </a:solidFill>
            </c:spPr>
          </c:dPt>
          <c:dPt>
            <c:idx val="5"/>
            <c:spPr>
              <a:solidFill>
                <a:srgbClr val="0E9F6E"/>
              </a:solidFill>
            </c:spPr>
          </c:dPt>
          <c:cat>
            <c:strRef>
              <c:f>Sheet1!$A$2:$A$7</c:f>
              <c:strCache>
                <c:ptCount val="6"/>
                <c:pt idx="0">
                  <c:v>Volunteer coordinator</c:v>
                </c:pt>
                <c:pt idx="1">
                  <c:v>Digital literacy</c:v>
                </c:pt>
                <c:pt idx="2">
                  <c:v>Housing support</c:v>
                </c:pt>
                <c:pt idx="3">
                  <c:v>Youth outreach</c:v>
                </c:pt>
                <c:pt idx="4">
                  <c:v>Community meals</c:v>
                </c:pt>
                <c:pt idx="5">
                  <c:v>Mental health first aid</c:v>
                </c:pt>
              </c:strCache>
            </c:strRef>
          </c:cat>
          <c:val>
            <c:numRef>
              <c:f>Sheet1!$B$2:$B$7</c:f>
              <c:numCache>
                <c:formatCode>#,##0;[Red](#,##0)</c:formatCode>
                <c:ptCount val="6"/>
                <c:pt idx="0">
                  <c:v>43.5</c:v>
                </c:pt>
                <c:pt idx="1">
                  <c:v>107.0</c:v>
                </c:pt>
                <c:pt idx="2">
                  <c:v>136.0</c:v>
                </c:pt>
                <c:pt idx="3">
                  <c:v>136.5</c:v>
                </c:pt>
                <c:pt idx="4">
                  <c:v>155.0</c:v>
                </c:pt>
                <c:pt idx="5">
                  <c:v>202.5</c:v>
                </c:pt>
              </c:numCache>
            </c:numRef>
          </c:val>
        </c:ser>
        <c:dLbls>
          <c:numFmt formatCode="#,##0;[Red](#,##0)" sourceLinked="0"/>
          <c:txPr>
            <a:bodyPr/>
            <a:lstStyle/>
            <a:p>
              <a:pPr>
                <a:defRPr sz="1000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1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232.87499999999997"/>
          <c:min val="0.0"/>
        </c:scaling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>
          <a:latin typeface="Roboto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>
        <c:manualLayout>
          <c:layoutTarget val="inner"/>
          <c:xMode val="edge"/>
          <c:yMode val="edge"/>
          <c:x val="0.11"/>
          <c:y val="0.05"/>
          <c:w val="0.86"/>
          <c:h val="0.8"/>
        </c:manualLayout>
      </c:layout>
      <c:area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Volunteer hours</c:v>
                </c:pt>
              </c:strCache>
            </c:strRef>
          </c:tx>
          <c:spPr>
            <a:solidFill>
              <a:srgbClr val="0E9F6E">
                <a:alpha val="25000"/>
              </a:srgbClr>
            </a:solidFill>
            <a:ln w="31750">
              <a:solidFill>
                <a:srgbClr val="0E9F6E"/>
              </a:solidFill>
            </a:ln>
          </c:spPr>
          <c:cat>
            <c:strRef>
              <c:f>Sheet1!$A$2:$A$15</c:f>
              <c:strCache>
                <c:ptCount val="14"/>
                <c:pt idx="0">
                  <c:v>Oct 24</c:v>
                </c:pt>
                <c:pt idx="1">
                  <c:v>Nov 24</c:v>
                </c:pt>
                <c:pt idx="2">
                  <c:v>Dec 24</c:v>
                </c:pt>
                <c:pt idx="3">
                  <c:v>Jan 25</c:v>
                </c:pt>
                <c:pt idx="4">
                  <c:v>Feb 25</c:v>
                </c:pt>
                <c:pt idx="5">
                  <c:v>Mar 25</c:v>
                </c:pt>
                <c:pt idx="6">
                  <c:v>Apr 25</c:v>
                </c:pt>
                <c:pt idx="7">
                  <c:v>May 25</c:v>
                </c:pt>
                <c:pt idx="8">
                  <c:v>Jun 25</c:v>
                </c:pt>
                <c:pt idx="9">
                  <c:v>Jul 25</c:v>
                </c:pt>
                <c:pt idx="10">
                  <c:v>Aug 25</c:v>
                </c:pt>
                <c:pt idx="11">
                  <c:v>Sep 25</c:v>
                </c:pt>
                <c:pt idx="12">
                  <c:v>Oct 25</c:v>
                </c:pt>
                <c:pt idx="13">
                  <c:v>Nov 25</c:v>
                </c:pt>
              </c:strCache>
            </c:strRef>
          </c:cat>
          <c:val>
            <c:numRef>
              <c:f>Sheet1!$B$2:$B$15</c:f>
              <c:numCache>
                <c:formatCode>#,##0;[Red](#,##0)</c:formatCode>
                <c:ptCount val="14"/>
                <c:pt idx="0">
                  <c:v>381.0</c:v>
                </c:pt>
                <c:pt idx="1">
                  <c:v>373.5</c:v>
                </c:pt>
                <c:pt idx="2">
                  <c:v>383.5</c:v>
                </c:pt>
                <c:pt idx="3">
                  <c:v>387.5</c:v>
                </c:pt>
                <c:pt idx="4">
                  <c:v>376.5</c:v>
                </c:pt>
                <c:pt idx="5">
                  <c:v>444.0</c:v>
                </c:pt>
                <c:pt idx="6">
                  <c:v>422.5</c:v>
                </c:pt>
                <c:pt idx="7">
                  <c:v>562.0</c:v>
                </c:pt>
                <c:pt idx="8">
                  <c:v>568.0</c:v>
                </c:pt>
                <c:pt idx="9">
                  <c:v>609.5</c:v>
                </c:pt>
                <c:pt idx="10">
                  <c:v>627.0</c:v>
                </c:pt>
                <c:pt idx="11">
                  <c:v>708.5</c:v>
                </c:pt>
                <c:pt idx="12">
                  <c:v>817.0</c:v>
                </c:pt>
                <c:pt idx="13">
                  <c:v>780.5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-2101159928"/>
        <c:axId val="-2100718248"/>
      </c:areaChart>
      <c:catAx>
        <c:axId val="-2101159928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-2100718248"/>
        <c:crosses val="autoZero"/>
        <c:auto val="1"/>
        <c:lblAlgn val="ctr"/>
        <c:lblOffset val="100"/>
        <c:tickLblSkip val="2"/>
        <c:noMultiLvlLbl val="0"/>
      </c:catAx>
      <c:valAx>
        <c:axId val="-2100718248"/>
        <c:scaling>
          <c:orientation val="minMax"/>
          <c:max val="1000.0"/>
          <c:min val="0.0"/>
        </c:scaling>
        <c:delete val="0"/>
        <c:axPos val="l"/>
        <c:majorGridlines>
          <c:spPr>
            <a:ln>
              <a:solidFill>
                <a:srgbClr val="E6EAE7"/>
              </a:solidFill>
            </a:ln>
          </c:spPr>
        </c:majorGridlines>
        <c:numFmt formatCode="#,##0;[Red](#,##0)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000"/>
            </a:pPr>
          </a:p>
        </c:txPr>
        <c:crossAx val="-2101159928"/>
        <c:crosses val="autoZero"/>
        <c:crossBetween val="midCat"/>
        <c:majorUnit val="200.0"/>
      </c:valAx>
    </c:plotArea>
    <c:plotVisOnly val="1"/>
    <c:dispBlanksAs val="zero"/>
    <c:showDLblsOverMax val="0"/>
  </c:chart>
  <c:txPr>
    <a:bodyPr/>
    <a:lstStyle/>
    <a:p>
      <a:pPr>
        <a:defRPr sz="1800">
          <a:latin typeface="Roboto"/>
        </a:defRPr>
      </a:pPr>
      <a:endParaRPr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How many volunteer hours go into each program?. Sample Community Services Ltd. Period: November 2025. In short: 780.5 h of volunteer time in November, from 56 volunteers; most went to Mental health first aid. Every volunteer shift: who (a code, not a name), which program, and how many hours.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How many volunteer hours go into each program?. Volunteer hours, November: 780.5 h; Volunteers who did a shift, November: 56; Hours per volunteer, November: 13.9 h; November last year: 373.5 h. 56 volunteers gave 780.5 h in November, against 817.0 h in October. Mental health first aid drew the most (202.5 h, 25.9%). Volunteer coordinator had the fewest volunteer hours (43.5 h). Hours are up 109.0% on November last year.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Volunteer hours by month. Tap a month for its workings.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.xml"/><Relationship Id="rId3" Type="http://schemas.openxmlformats.org/officeDocument/2006/relationships/chart" Target="../charts/char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.xml"/><Relationship Id="rId3" Type="http://schemas.openxmlformats.org/officeDocument/2006/relationships/chart" Target="../charts/char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1965960"/>
            <a:ext cx="11277295" cy="1097280"/>
          </a:xfrm>
        </p:spPr>
        <p:txBody>
          <a:bodyPr wrap="square"/>
          <a:lstStyle/>
          <a:p>
            <a:pPr algn="l">
              <a:defRPr>
                <a:latin typeface="Roboto"/>
              </a:defRPr>
            </a:pPr>
            <a:r>
              <a:rPr sz="3400" b="1">
                <a:solidFill>
                  <a:srgbClr val="25342A"/>
                </a:solidFill>
                <a:latin typeface="Roboto"/>
              </a:rPr>
              <a:t>How many volunteer hours go into each program?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548640"/>
            <a:ext cx="640080" cy="640080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>
                <a:latin typeface="Roboto"/>
              </a:defRPr>
            </a:pPr>
            <a:r>
              <a:rPr sz="1600" b="1">
                <a:solidFill>
                  <a:srgbClr val="FFFFFF"/>
                </a:solidFill>
                <a:latin typeface="Roboto"/>
              </a:rPr>
              <a:t>4th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34440" y="658368"/>
            <a:ext cx="54864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800" b="1">
                <a:solidFill>
                  <a:srgbClr val="25342A"/>
                </a:solidFill>
                <a:latin typeface="Roboto"/>
              </a:rPr>
              <a:t>The Fourth Sheet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554480"/>
            <a:ext cx="109728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1">
                <a:solidFill>
                  <a:srgbClr val="8A7A52"/>
                </a:solidFill>
                <a:latin typeface="Roboto"/>
              </a:rPr>
              <a:t>SAMPLE DATA · invented figures for demonstration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154680"/>
            <a:ext cx="11277295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600" b="0">
                <a:solidFill>
                  <a:srgbClr val="5F6F63"/>
                </a:solidFill>
                <a:latin typeface="Roboto"/>
              </a:rPr>
              <a:t>Sample Community Services Ltd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703320"/>
            <a:ext cx="11277295" cy="5359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400" b="0">
                <a:solidFill>
                  <a:srgbClr val="25342A"/>
                </a:solidFill>
                <a:latin typeface="Roboto"/>
              </a:rPr>
              <a:t>Period: November 2025. In short: 780.5 h of volunteer time in November, from 56 volunteers; most went to Mental health first aid. Every volunteer shift: who (a code, not a name), which program, and how many hours.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330700"/>
            <a:ext cx="11277295" cy="10972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How final is this data?</a:t>
            </a:r>
          </a:p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November 2025: Locked. November 2025 is locked (closed 2 Dec 2025). These numbers won't change.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volunteers.pptx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22 Oct 2026, 4:57pm · Sample data · Made with Python (python-pptx)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1 of 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4048"/>
            <a:ext cx="11277295" cy="475488"/>
          </a:xfrm>
        </p:spPr>
        <p:txBody>
          <a:bodyPr wrap="square" lIns="45720" rIns="45720" tIns="0" bIns="0" anchor="t"/>
          <a:lstStyle/>
          <a:p>
            <a:pPr algn="l">
              <a:defRPr>
                <a:latin typeface="Roboto"/>
              </a:defRPr>
            </a:pPr>
            <a:r>
              <a:rPr sz="2400" b="1">
                <a:solidFill>
                  <a:srgbClr val="25342A"/>
                </a:solidFill>
                <a:latin typeface="Roboto"/>
              </a:rPr>
              <a:t>How many volunteer hours go into each program?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822960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Sample Community Services Ltd · How many volunteer hours go into each program?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1277295" cy="26365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5F6F63"/>
                </a:solidFill>
                <a:latin typeface="Roboto"/>
              </a:rPr>
              <a:t>Volunteer hours by program, November 2025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78636"/>
            <a:ext cx="2647873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7" name="TextBox 6"/>
          <p:cNvSpPr txBox="1"/>
          <p:nvPr/>
        </p:nvSpPr>
        <p:spPr>
          <a:xfrm>
            <a:off x="594360" y="1351788"/>
            <a:ext cx="2373553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Volunteer hours, November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717548"/>
            <a:ext cx="2373553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780.5 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083308"/>
            <a:ext cx="2373553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October 817.0 h</a:t>
            </a:r>
          </a:p>
        </p:txBody>
      </p:sp>
      <p:sp>
        <p:nvSpPr>
          <p:cNvPr id="10" name="Rectangle 9"/>
          <p:cNvSpPr/>
          <p:nvPr/>
        </p:nvSpPr>
        <p:spPr>
          <a:xfrm>
            <a:off x="3333673" y="1278636"/>
            <a:ext cx="2647873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3470833" y="1351788"/>
            <a:ext cx="2373553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Volunteers who did a shift, November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70833" y="1717548"/>
            <a:ext cx="2373553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56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70833" y="2083308"/>
            <a:ext cx="2373553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October 54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10147" y="1278636"/>
            <a:ext cx="2647873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5" name="TextBox 14"/>
          <p:cNvSpPr txBox="1"/>
          <p:nvPr/>
        </p:nvSpPr>
        <p:spPr>
          <a:xfrm>
            <a:off x="6347307" y="1351788"/>
            <a:ext cx="2373553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Hours per volunteer, November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47307" y="1717548"/>
            <a:ext cx="2373553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13.9 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47307" y="2083308"/>
            <a:ext cx="2373553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average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086621" y="1278636"/>
            <a:ext cx="2647873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9" name="TextBox 18"/>
          <p:cNvSpPr txBox="1"/>
          <p:nvPr/>
        </p:nvSpPr>
        <p:spPr>
          <a:xfrm>
            <a:off x="9223781" y="1351788"/>
            <a:ext cx="2373553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November last year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23781" y="1717548"/>
            <a:ext cx="2373553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373.5 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223781" y="2083308"/>
            <a:ext cx="2373553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27 volunteers</a:t>
            </a:r>
          </a:p>
        </p:txBody>
      </p:sp>
      <p:graphicFrame>
        <p:nvGraphicFramePr>
          <p:cNvPr id="22" name="Chart 21"/>
          <p:cNvGraphicFramePr>
            <a:graphicFrameLocks noGrp="1"/>
          </p:cNvGraphicFramePr>
          <p:nvPr/>
        </p:nvGraphicFramePr>
        <p:xfrm>
          <a:off x="457200" y="2604516"/>
          <a:ext cx="11277295" cy="2714244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23" name="Rectangle 22"/>
          <p:cNvSpPr/>
          <p:nvPr/>
        </p:nvSpPr>
        <p:spPr>
          <a:xfrm>
            <a:off x="457200" y="5410200"/>
            <a:ext cx="5501487" cy="899160"/>
          </a:xfrm>
          <a:prstGeom prst="rect">
            <a:avLst/>
          </a:prstGeom>
          <a:solidFill>
            <a:srgbClr val="FFFFFF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24" name="TextBox 23"/>
          <p:cNvSpPr txBox="1"/>
          <p:nvPr/>
        </p:nvSpPr>
        <p:spPr>
          <a:xfrm>
            <a:off x="594360" y="5465064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IT SHOWS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94360" y="5739384"/>
            <a:ext cx="5227167" cy="5334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56 volunteers gave 780.5 h in November, against 817.0 h in October. Mental health first aid drew the most (202.5 h, 25.9%).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233007" y="5410200"/>
            <a:ext cx="5501487" cy="899160"/>
          </a:xfrm>
          <a:prstGeom prst="rect">
            <a:avLst/>
          </a:prstGeom>
          <a:solidFill>
            <a:srgbClr val="EEF5F0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27" name="TextBox 26"/>
          <p:cNvSpPr txBox="1"/>
          <p:nvPr/>
        </p:nvSpPr>
        <p:spPr>
          <a:xfrm>
            <a:off x="6370167" y="5465064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YOU'D DO ABOUT IT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70167" y="5739384"/>
            <a:ext cx="5227167" cy="5334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Volunteer coordinator had the fewest volunteer hours (43.5 h). Hours are up 109.0% on November last year.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volunteers.pptx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22 Oct 2026, 4:57pm · Sample data · Made with Python (python-pptx)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2 of 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4048"/>
            <a:ext cx="11277295" cy="475488"/>
          </a:xfrm>
        </p:spPr>
        <p:txBody>
          <a:bodyPr wrap="square" lIns="45720" rIns="45720" tIns="0" bIns="0" anchor="t"/>
          <a:lstStyle/>
          <a:p>
            <a:pPr algn="l">
              <a:defRPr>
                <a:latin typeface="Roboto"/>
              </a:defRPr>
            </a:pPr>
            <a:r>
              <a:rPr sz="2400" b="1">
                <a:solidFill>
                  <a:srgbClr val="25342A"/>
                </a:solidFill>
                <a:latin typeface="Roboto"/>
              </a:rPr>
              <a:t>Volunteer hours by month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822960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Sample Community Services Ltd · How many volunteer hours go into each program?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1277295" cy="26365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5F6F63"/>
                </a:solidFill>
                <a:latin typeface="Roboto"/>
              </a:rPr>
              <a:t>Tap a month for its workings.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457200" y="1278636"/>
          <a:ext cx="11277295" cy="4802124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volunteers.pptx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22 Oct 2026, 4:57pm · Sample data · Made with Python (python-pptx)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3 of 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25342A"/>
      </a:dk2>
      <a:lt2>
        <a:srgbClr val="F4F7F2"/>
      </a:lt2>
      <a:accent1>
        <a:srgbClr val="2F7A5D"/>
      </a:accent1>
      <a:accent2>
        <a:srgbClr val="0E9F6E"/>
      </a:accent2>
      <a:accent3>
        <a:srgbClr val="7D8790"/>
      </a:accent3>
      <a:accent4>
        <a:srgbClr val="8A6D3B"/>
      </a:accent4>
      <a:accent5>
        <a:srgbClr val="B42318"/>
      </a:accent5>
      <a:accent6>
        <a:srgbClr val="8E9CAB"/>
      </a:accent6>
      <a:hlink>
        <a:srgbClr val="0000FF"/>
      </a:hlink>
      <a:folHlink>
        <a:srgbClr val="800080"/>
      </a:folHlink>
    </a:clrScheme>
    <a:fontScheme name="Office">
      <a:majorFont>
        <a:latin typeface="Roboto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Roboto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