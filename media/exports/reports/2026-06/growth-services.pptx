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charts/chart4.xml" ContentType="application/vnd.openxmlformats-officedocument.drawingml.chart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_rels/chart3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3.xlsx"/></Relationships>
</file>

<file path=ppt/charts/_rels/chart4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4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1"/>
    <c:plotArea>
      <c:layout>
        <c:manualLayout>
          <c:layoutTarget val="inner"/>
          <c:xMode val="edge"/>
          <c:yMode val="edge"/>
          <c:x val="0.11"/>
          <c:y val="0.05"/>
          <c:w val="0.86"/>
          <c:h val="0.8"/>
        </c:manualLayout>
      </c:layout>
      <c:area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Revenue $</c:v>
                </c:pt>
              </c:strCache>
            </c:strRef>
          </c:tx>
          <c:spPr>
            <a:solidFill>
              <a:srgbClr val="0E9F6E">
                <a:alpha val="25000"/>
              </a:srgbClr>
            </a:solidFill>
            <a:ln w="31750">
              <a:solidFill>
                <a:srgbClr val="0E9F6E"/>
              </a:solidFill>
            </a:ln>
          </c:spPr>
          <c:cat>
            <c:strRef>
              <c:f>Sheet1!$A$2:$A$22</c:f>
              <c:strCache>
                <c:ptCount val="21"/>
                <c:pt idx="0">
                  <c:v>Oct 24</c:v>
                </c:pt>
                <c:pt idx="1">
                  <c:v>Nov 24</c:v>
                </c:pt>
                <c:pt idx="2">
                  <c:v>Dec 24</c:v>
                </c:pt>
                <c:pt idx="3">
                  <c:v>Jan 25</c:v>
                </c:pt>
                <c:pt idx="4">
                  <c:v>Feb 25</c:v>
                </c:pt>
                <c:pt idx="5">
                  <c:v>Mar 25</c:v>
                </c:pt>
                <c:pt idx="6">
                  <c:v>Apr 25</c:v>
                </c:pt>
                <c:pt idx="7">
                  <c:v>May 25</c:v>
                </c:pt>
                <c:pt idx="8">
                  <c:v>Jun 25</c:v>
                </c:pt>
                <c:pt idx="9">
                  <c:v>Jul 25</c:v>
                </c:pt>
                <c:pt idx="10">
                  <c:v>Aug 25</c:v>
                </c:pt>
                <c:pt idx="11">
                  <c:v>Sep 25</c:v>
                </c:pt>
                <c:pt idx="12">
                  <c:v>Oct 25</c:v>
                </c:pt>
                <c:pt idx="13">
                  <c:v>Nov 25</c:v>
                </c:pt>
                <c:pt idx="14">
                  <c:v>Dec 25</c:v>
                </c:pt>
                <c:pt idx="15">
                  <c:v>Jan 26</c:v>
                </c:pt>
                <c:pt idx="16">
                  <c:v>Feb 26</c:v>
                </c:pt>
                <c:pt idx="17">
                  <c:v>Mar 26</c:v>
                </c:pt>
                <c:pt idx="18">
                  <c:v>Apr 26</c:v>
                </c:pt>
                <c:pt idx="19">
                  <c:v>May 26</c:v>
                </c:pt>
                <c:pt idx="20">
                  <c:v>Jun 26</c:v>
                </c:pt>
              </c:strCache>
            </c:strRef>
          </c:cat>
          <c:val>
            <c:numRef>
              <c:f>Sheet1!$B$2:$B$22</c:f>
              <c:numCache>
                <c:formatCode>$#,##0;[Red]($#,##0);"-"</c:formatCode>
                <c:ptCount val="21"/>
                <c:pt idx="0">
                  <c:v>103550</c:v>
                </c:pt>
                <c:pt idx="1">
                  <c:v>118390</c:v>
                </c:pt>
                <c:pt idx="2">
                  <c:v>125715</c:v>
                </c:pt>
                <c:pt idx="3">
                  <c:v>96560</c:v>
                </c:pt>
                <c:pt idx="4">
                  <c:v>121275</c:v>
                </c:pt>
                <c:pt idx="5">
                  <c:v>84340</c:v>
                </c:pt>
                <c:pt idx="6">
                  <c:v>69985</c:v>
                </c:pt>
                <c:pt idx="7">
                  <c:v>104970</c:v>
                </c:pt>
                <c:pt idx="8">
                  <c:v>99060</c:v>
                </c:pt>
                <c:pt idx="9">
                  <c:v>94805</c:v>
                </c:pt>
                <c:pt idx="10">
                  <c:v>67745</c:v>
                </c:pt>
                <c:pt idx="11">
                  <c:v>65650</c:v>
                </c:pt>
                <c:pt idx="12">
                  <c:v>78550</c:v>
                </c:pt>
                <c:pt idx="13">
                  <c:v>92575</c:v>
                </c:pt>
                <c:pt idx="14">
                  <c:v>76600</c:v>
                </c:pt>
                <c:pt idx="15">
                  <c:v>102350</c:v>
                </c:pt>
                <c:pt idx="16">
                  <c:v>110835</c:v>
                </c:pt>
                <c:pt idx="17">
                  <c:v>121215</c:v>
                </c:pt>
                <c:pt idx="18">
                  <c:v>88665</c:v>
                </c:pt>
                <c:pt idx="19">
                  <c:v>84920</c:v>
                </c:pt>
                <c:pt idx="20">
                  <c:v>127580</c:v>
                </c:pt>
              </c:numCache>
            </c:numRef>
          </c:val>
        </c:ser>
        <c:dLbls>
          <c:showLegendKey val="0"/>
          <c:showVal val="0"/>
          <c:showCatName val="0"/>
          <c:showSerName val="0"/>
          <c:showPercent val="0"/>
          <c:showBubbleSize val="0"/>
        </c:dLbls>
        <c:axId val="-2101159928"/>
        <c:axId val="-2100718248"/>
      </c:areaChart>
      <c:catAx>
        <c:axId val="-2101159928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nextTo"/>
        <c:txPr>
          <a:bodyPr/>
          <a:lstStyle/>
          <a:p>
            <a:pPr>
              <a:defRPr sz="1000"/>
            </a:pPr>
          </a:p>
        </c:txPr>
        <c:crossAx val="-2100718248"/>
        <c:crosses val="autoZero"/>
        <c:auto val="1"/>
        <c:lblAlgn val="ctr"/>
        <c:lblOffset val="100"/>
        <c:tickLblSkip val="3"/>
        <c:noMultiLvlLbl val="0"/>
      </c:catAx>
      <c:valAx>
        <c:axId val="-2100718248"/>
        <c:scaling>
          <c:orientation val="minMax"/>
          <c:max val="150000.0"/>
          <c:min val="0.0"/>
        </c:scaling>
        <c:delete val="0"/>
        <c:axPos val="l"/>
        <c:majorGridlines>
          <c:spPr>
            <a:ln>
              <a:solidFill>
                <a:srgbClr val="E6EAE7"/>
              </a:solidFill>
            </a:ln>
          </c:spPr>
        </c:majorGridlines>
        <c:numFmt formatCode="$#,##0;[Red]($#,##0);&quot;-&quot;" sourceLinked="0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000"/>
            </a:pPr>
          </a:p>
        </c:txPr>
        <c:crossAx val="-2101159928"/>
        <c:crosses val="autoZero"/>
        <c:crossBetween val="midCat"/>
        <c:majorUnit val="50000.0"/>
      </c:valAx>
    </c:plotArea>
    <c:plotVisOnly val="1"/>
    <c:dispBlanksAs val="zero"/>
    <c:showDLblsOverMax val="0"/>
  </c:chart>
  <c:txPr>
    <a:bodyPr/>
    <a:lstStyle/>
    <a:p>
      <a:pPr>
        <a:defRPr sz="1800">
          <a:latin typeface="Roboto"/>
        </a:defRPr>
      </a:pPr>
      <a:endParaRPr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1"/>
    <c:plotArea>
      <c:layout>
        <c:manualLayout>
          <c:layoutTarget val="inner"/>
          <c:xMode val="edge"/>
          <c:yMode val="edge"/>
          <c:x val="0.11"/>
          <c:y val="0.05"/>
          <c:w val="0.86"/>
          <c:h val="0.8"/>
        </c:manualLayout>
      </c:layout>
      <c:area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Revenue $</c:v>
                </c:pt>
              </c:strCache>
            </c:strRef>
          </c:tx>
          <c:spPr>
            <a:solidFill>
              <a:srgbClr val="0E9F6E">
                <a:alpha val="25000"/>
              </a:srgbClr>
            </a:solidFill>
            <a:ln w="31750">
              <a:solidFill>
                <a:srgbClr val="0E9F6E"/>
              </a:solidFill>
            </a:ln>
          </c:spPr>
          <c:cat>
            <c:strRef>
              <c:f>Sheet1!$A$2:$A$22</c:f>
              <c:strCache>
                <c:ptCount val="21"/>
                <c:pt idx="0">
                  <c:v>Oct 24</c:v>
                </c:pt>
                <c:pt idx="1">
                  <c:v>Nov 24</c:v>
                </c:pt>
                <c:pt idx="2">
                  <c:v>Dec 24</c:v>
                </c:pt>
                <c:pt idx="3">
                  <c:v>Jan 25</c:v>
                </c:pt>
                <c:pt idx="4">
                  <c:v>Feb 25</c:v>
                </c:pt>
                <c:pt idx="5">
                  <c:v>Mar 25</c:v>
                </c:pt>
                <c:pt idx="6">
                  <c:v>Apr 25</c:v>
                </c:pt>
                <c:pt idx="7">
                  <c:v>May 25</c:v>
                </c:pt>
                <c:pt idx="8">
                  <c:v>Jun 25</c:v>
                </c:pt>
                <c:pt idx="9">
                  <c:v>Jul 25</c:v>
                </c:pt>
                <c:pt idx="10">
                  <c:v>Aug 25</c:v>
                </c:pt>
                <c:pt idx="11">
                  <c:v>Sep 25</c:v>
                </c:pt>
                <c:pt idx="12">
                  <c:v>Oct 25</c:v>
                </c:pt>
                <c:pt idx="13">
                  <c:v>Nov 25</c:v>
                </c:pt>
                <c:pt idx="14">
                  <c:v>Dec 25</c:v>
                </c:pt>
                <c:pt idx="15">
                  <c:v>Jan 26</c:v>
                </c:pt>
                <c:pt idx="16">
                  <c:v>Feb 26</c:v>
                </c:pt>
                <c:pt idx="17">
                  <c:v>Mar 26</c:v>
                </c:pt>
                <c:pt idx="18">
                  <c:v>Apr 26</c:v>
                </c:pt>
                <c:pt idx="19">
                  <c:v>May 26</c:v>
                </c:pt>
                <c:pt idx="20">
                  <c:v>Jun 26</c:v>
                </c:pt>
              </c:strCache>
            </c:strRef>
          </c:cat>
          <c:val>
            <c:numRef>
              <c:f>Sheet1!$B$2:$B$22</c:f>
              <c:numCache>
                <c:formatCode>$#,##0;[Red]($#,##0);"-"</c:formatCode>
                <c:ptCount val="21"/>
                <c:pt idx="0">
                  <c:v>77350</c:v>
                </c:pt>
                <c:pt idx="1">
                  <c:v>96790</c:v>
                </c:pt>
                <c:pt idx="2">
                  <c:v>103515</c:v>
                </c:pt>
                <c:pt idx="3">
                  <c:v>73060</c:v>
                </c:pt>
                <c:pt idx="4">
                  <c:v>92075</c:v>
                </c:pt>
                <c:pt idx="5">
                  <c:v>53340</c:v>
                </c:pt>
                <c:pt idx="6">
                  <c:v>40885</c:v>
                </c:pt>
                <c:pt idx="7">
                  <c:v>65570</c:v>
                </c:pt>
                <c:pt idx="8">
                  <c:v>70760</c:v>
                </c:pt>
                <c:pt idx="9">
                  <c:v>71205</c:v>
                </c:pt>
                <c:pt idx="10">
                  <c:v>42845</c:v>
                </c:pt>
                <c:pt idx="11">
                  <c:v>42050</c:v>
                </c:pt>
                <c:pt idx="12">
                  <c:v>50650</c:v>
                </c:pt>
                <c:pt idx="13">
                  <c:v>51775</c:v>
                </c:pt>
                <c:pt idx="14">
                  <c:v>32800</c:v>
                </c:pt>
                <c:pt idx="15">
                  <c:v>66950</c:v>
                </c:pt>
                <c:pt idx="16">
                  <c:v>70035</c:v>
                </c:pt>
                <c:pt idx="17">
                  <c:v>83115</c:v>
                </c:pt>
                <c:pt idx="18">
                  <c:v>51865</c:v>
                </c:pt>
                <c:pt idx="19">
                  <c:v>48120</c:v>
                </c:pt>
                <c:pt idx="20">
                  <c:v>84880</c:v>
                </c:pt>
              </c:numCache>
            </c:numRef>
          </c:val>
        </c:ser>
        <c:dLbls>
          <c:showLegendKey val="0"/>
          <c:showVal val="0"/>
          <c:showCatName val="0"/>
          <c:showSerName val="0"/>
          <c:showPercent val="0"/>
          <c:showBubbleSize val="0"/>
        </c:dLbls>
        <c:axId val="-2101159928"/>
        <c:axId val="-2100718248"/>
      </c:areaChart>
      <c:catAx>
        <c:axId val="-2101159928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nextTo"/>
        <c:txPr>
          <a:bodyPr/>
          <a:lstStyle/>
          <a:p>
            <a:pPr>
              <a:defRPr sz="1000"/>
            </a:pPr>
          </a:p>
        </c:txPr>
        <c:crossAx val="-2100718248"/>
        <c:crosses val="autoZero"/>
        <c:auto val="1"/>
        <c:lblAlgn val="ctr"/>
        <c:lblOffset val="100"/>
        <c:tickLblSkip val="3"/>
        <c:noMultiLvlLbl val="0"/>
      </c:catAx>
      <c:valAx>
        <c:axId val="-2100718248"/>
        <c:scaling>
          <c:orientation val="minMax"/>
          <c:max val="125000.0"/>
          <c:min val="0.0"/>
        </c:scaling>
        <c:delete val="0"/>
        <c:axPos val="l"/>
        <c:majorGridlines>
          <c:spPr>
            <a:ln>
              <a:solidFill>
                <a:srgbClr val="E6EAE7"/>
              </a:solidFill>
            </a:ln>
          </c:spPr>
        </c:majorGridlines>
        <c:numFmt formatCode="$#,##0;[Red]($#,##0);&quot;-&quot;" sourceLinked="0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000"/>
            </a:pPr>
          </a:p>
        </c:txPr>
        <c:crossAx val="-2101159928"/>
        <c:crosses val="autoZero"/>
        <c:crossBetween val="midCat"/>
        <c:majorUnit val="25000.0"/>
      </c:valAx>
    </c:plotArea>
    <c:plotVisOnly val="1"/>
    <c:dispBlanksAs val="zero"/>
    <c:showDLblsOverMax val="0"/>
  </c:chart>
  <c:txPr>
    <a:bodyPr/>
    <a:lstStyle/>
    <a:p>
      <a:pPr>
        <a:defRPr sz="1800">
          <a:latin typeface="Roboto"/>
        </a:defRPr>
      </a:pPr>
      <a:endParaRPr/>
    </a:p>
  </c:tx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1"/>
    <c:plotArea>
      <c:layout>
        <c:manualLayout>
          <c:layoutTarget val="inner"/>
          <c:xMode val="edge"/>
          <c:yMode val="edge"/>
          <c:x val="0.11"/>
          <c:y val="0.05"/>
          <c:w val="0.86"/>
          <c:h val="0.8"/>
        </c:manualLayout>
      </c:layout>
      <c:area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Revenue $</c:v>
                </c:pt>
              </c:strCache>
            </c:strRef>
          </c:tx>
          <c:spPr>
            <a:solidFill>
              <a:srgbClr val="0E9F6E">
                <a:alpha val="25000"/>
              </a:srgbClr>
            </a:solidFill>
            <a:ln w="31750">
              <a:solidFill>
                <a:srgbClr val="0E9F6E"/>
              </a:solidFill>
            </a:ln>
          </c:spPr>
          <c:cat>
            <c:strRef>
              <c:f>Sheet1!$A$2:$A$22</c:f>
              <c:strCache>
                <c:ptCount val="21"/>
                <c:pt idx="0">
                  <c:v>Oct 24</c:v>
                </c:pt>
                <c:pt idx="1">
                  <c:v>Nov 24</c:v>
                </c:pt>
                <c:pt idx="2">
                  <c:v>Dec 24</c:v>
                </c:pt>
                <c:pt idx="3">
                  <c:v>Jan 25</c:v>
                </c:pt>
                <c:pt idx="4">
                  <c:v>Feb 25</c:v>
                </c:pt>
                <c:pt idx="5">
                  <c:v>Mar 25</c:v>
                </c:pt>
                <c:pt idx="6">
                  <c:v>Apr 25</c:v>
                </c:pt>
                <c:pt idx="7">
                  <c:v>May 25</c:v>
                </c:pt>
                <c:pt idx="8">
                  <c:v>Jun 25</c:v>
                </c:pt>
                <c:pt idx="9">
                  <c:v>Jul 25</c:v>
                </c:pt>
                <c:pt idx="10">
                  <c:v>Aug 25</c:v>
                </c:pt>
                <c:pt idx="11">
                  <c:v>Sep 25</c:v>
                </c:pt>
                <c:pt idx="12">
                  <c:v>Oct 25</c:v>
                </c:pt>
                <c:pt idx="13">
                  <c:v>Nov 25</c:v>
                </c:pt>
                <c:pt idx="14">
                  <c:v>Dec 25</c:v>
                </c:pt>
                <c:pt idx="15">
                  <c:v>Jan 26</c:v>
                </c:pt>
                <c:pt idx="16">
                  <c:v>Feb 26</c:v>
                </c:pt>
                <c:pt idx="17">
                  <c:v>Mar 26</c:v>
                </c:pt>
                <c:pt idx="18">
                  <c:v>Apr 26</c:v>
                </c:pt>
                <c:pt idx="19">
                  <c:v>May 26</c:v>
                </c:pt>
                <c:pt idx="20">
                  <c:v>Jun 26</c:v>
                </c:pt>
              </c:strCache>
            </c:strRef>
          </c:cat>
          <c:val>
            <c:numRef>
              <c:f>Sheet1!$B$2:$B$22</c:f>
              <c:numCache>
                <c:formatCode>$#,##0;[Red]($#,##0);"-"</c:formatCode>
                <c:ptCount val="21"/>
                <c:pt idx="0">
                  <c:v>16500</c:v>
                </c:pt>
                <c:pt idx="1">
                  <c:v>16500</c:v>
                </c:pt>
                <c:pt idx="2">
                  <c:v>16500</c:v>
                </c:pt>
                <c:pt idx="3">
                  <c:v>16500</c:v>
                </c:pt>
                <c:pt idx="4">
                  <c:v>16500</c:v>
                </c:pt>
                <c:pt idx="5">
                  <c:v>24000</c:v>
                </c:pt>
                <c:pt idx="6">
                  <c:v>24000</c:v>
                </c:pt>
                <c:pt idx="7">
                  <c:v>24000</c:v>
                </c:pt>
                <c:pt idx="8">
                  <c:v>24000</c:v>
                </c:pt>
                <c:pt idx="9">
                  <c:v>17900</c:v>
                </c:pt>
                <c:pt idx="10">
                  <c:v>17900</c:v>
                </c:pt>
                <c:pt idx="11">
                  <c:v>17900</c:v>
                </c:pt>
                <c:pt idx="12">
                  <c:v>17900</c:v>
                </c:pt>
                <c:pt idx="13">
                  <c:v>31100</c:v>
                </c:pt>
                <c:pt idx="14">
                  <c:v>31100</c:v>
                </c:pt>
                <c:pt idx="15">
                  <c:v>31100</c:v>
                </c:pt>
                <c:pt idx="16">
                  <c:v>31100</c:v>
                </c:pt>
                <c:pt idx="17">
                  <c:v>31100</c:v>
                </c:pt>
                <c:pt idx="18">
                  <c:v>31100</c:v>
                </c:pt>
                <c:pt idx="19">
                  <c:v>31100</c:v>
                </c:pt>
                <c:pt idx="20">
                  <c:v>35700</c:v>
                </c:pt>
              </c:numCache>
            </c:numRef>
          </c:val>
        </c:ser>
        <c:dLbls>
          <c:showLegendKey val="0"/>
          <c:showVal val="0"/>
          <c:showCatName val="0"/>
          <c:showSerName val="0"/>
          <c:showPercent val="0"/>
          <c:showBubbleSize val="0"/>
        </c:dLbls>
        <c:axId val="-2101159928"/>
        <c:axId val="-2100718248"/>
      </c:areaChart>
      <c:catAx>
        <c:axId val="-2101159928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nextTo"/>
        <c:txPr>
          <a:bodyPr/>
          <a:lstStyle/>
          <a:p>
            <a:pPr>
              <a:defRPr sz="1000"/>
            </a:pPr>
          </a:p>
        </c:txPr>
        <c:crossAx val="-2100718248"/>
        <c:crosses val="autoZero"/>
        <c:auto val="1"/>
        <c:lblAlgn val="ctr"/>
        <c:lblOffset val="100"/>
        <c:tickLblSkip val="3"/>
        <c:noMultiLvlLbl val="0"/>
      </c:catAx>
      <c:valAx>
        <c:axId val="-2100718248"/>
        <c:scaling>
          <c:orientation val="minMax"/>
          <c:max val="40000.0"/>
          <c:min val="0.0"/>
        </c:scaling>
        <c:delete val="0"/>
        <c:axPos val="l"/>
        <c:majorGridlines>
          <c:spPr>
            <a:ln>
              <a:solidFill>
                <a:srgbClr val="E6EAE7"/>
              </a:solidFill>
            </a:ln>
          </c:spPr>
        </c:majorGridlines>
        <c:numFmt formatCode="$#,##0;[Red]($#,##0);&quot;-&quot;" sourceLinked="0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000"/>
            </a:pPr>
          </a:p>
        </c:txPr>
        <c:crossAx val="-2101159928"/>
        <c:crosses val="autoZero"/>
        <c:crossBetween val="midCat"/>
        <c:majorUnit val="10000.0"/>
      </c:valAx>
    </c:plotArea>
    <c:plotVisOnly val="1"/>
    <c:dispBlanksAs val="zero"/>
    <c:showDLblsOverMax val="0"/>
  </c:chart>
  <c:txPr>
    <a:bodyPr/>
    <a:lstStyle/>
    <a:p>
      <a:pPr>
        <a:defRPr sz="1800">
          <a:latin typeface="Roboto"/>
        </a:defRPr>
      </a:pPr>
      <a:endParaRPr/>
    </a:p>
  </c:tx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1"/>
    <c:plotArea>
      <c:layout>
        <c:manualLayout>
          <c:layoutTarget val="inner"/>
          <c:xMode val="edge"/>
          <c:yMode val="edge"/>
          <c:x val="0.11"/>
          <c:y val="0.05"/>
          <c:w val="0.86"/>
          <c:h val="0.8"/>
        </c:manualLayout>
      </c:layout>
      <c:area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Revenue $</c:v>
                </c:pt>
              </c:strCache>
            </c:strRef>
          </c:tx>
          <c:spPr>
            <a:solidFill>
              <a:srgbClr val="0E9F6E">
                <a:alpha val="25000"/>
              </a:srgbClr>
            </a:solidFill>
            <a:ln w="31750">
              <a:solidFill>
                <a:srgbClr val="0E9F6E"/>
              </a:solidFill>
            </a:ln>
          </c:spPr>
          <c:cat>
            <c:strRef>
              <c:f>Sheet1!$A$2:$A$22</c:f>
              <c:strCache>
                <c:ptCount val="21"/>
                <c:pt idx="0">
                  <c:v>Oct 24</c:v>
                </c:pt>
                <c:pt idx="1">
                  <c:v>Nov 24</c:v>
                </c:pt>
                <c:pt idx="2">
                  <c:v>Dec 24</c:v>
                </c:pt>
                <c:pt idx="3">
                  <c:v>Jan 25</c:v>
                </c:pt>
                <c:pt idx="4">
                  <c:v>Feb 25</c:v>
                </c:pt>
                <c:pt idx="5">
                  <c:v>Mar 25</c:v>
                </c:pt>
                <c:pt idx="6">
                  <c:v>Apr 25</c:v>
                </c:pt>
                <c:pt idx="7">
                  <c:v>May 25</c:v>
                </c:pt>
                <c:pt idx="8">
                  <c:v>Jun 25</c:v>
                </c:pt>
                <c:pt idx="9">
                  <c:v>Jul 25</c:v>
                </c:pt>
                <c:pt idx="10">
                  <c:v>Aug 25</c:v>
                </c:pt>
                <c:pt idx="11">
                  <c:v>Sep 25</c:v>
                </c:pt>
                <c:pt idx="12">
                  <c:v>Oct 25</c:v>
                </c:pt>
                <c:pt idx="13">
                  <c:v>Nov 25</c:v>
                </c:pt>
                <c:pt idx="14">
                  <c:v>Dec 25</c:v>
                </c:pt>
                <c:pt idx="15">
                  <c:v>Jan 26</c:v>
                </c:pt>
                <c:pt idx="16">
                  <c:v>Feb 26</c:v>
                </c:pt>
                <c:pt idx="17">
                  <c:v>Mar 26</c:v>
                </c:pt>
                <c:pt idx="18">
                  <c:v>Apr 26</c:v>
                </c:pt>
                <c:pt idx="19">
                  <c:v>May 26</c:v>
                </c:pt>
                <c:pt idx="20">
                  <c:v>Jun 26</c:v>
                </c:pt>
              </c:strCache>
            </c:strRef>
          </c:cat>
          <c:val>
            <c:numRef>
              <c:f>Sheet1!$B$2:$B$22</c:f>
              <c:numCache>
                <c:formatCode>$#,##0;[Red]($#,##0);"-"</c:formatCode>
                <c:ptCount val="21"/>
                <c:pt idx="0">
                  <c:v>9700</c:v>
                </c:pt>
                <c:pt idx="1">
                  <c:v>5100</c:v>
                </c:pt>
                <c:pt idx="2">
                  <c:v>5700</c:v>
                </c:pt>
                <c:pt idx="3">
                  <c:v>7000</c:v>
                </c:pt>
                <c:pt idx="4">
                  <c:v>12700</c:v>
                </c:pt>
                <c:pt idx="5">
                  <c:v>7000</c:v>
                </c:pt>
                <c:pt idx="6">
                  <c:v>5100</c:v>
                </c:pt>
                <c:pt idx="7">
                  <c:v>15400</c:v>
                </c:pt>
                <c:pt idx="8">
                  <c:v>4300</c:v>
                </c:pt>
                <c:pt idx="9">
                  <c:v>5700</c:v>
                </c:pt>
                <c:pt idx="10">
                  <c:v>7000</c:v>
                </c:pt>
                <c:pt idx="11">
                  <c:v>5700</c:v>
                </c:pt>
                <c:pt idx="12">
                  <c:v>10000</c:v>
                </c:pt>
                <c:pt idx="13">
                  <c:v>9700</c:v>
                </c:pt>
                <c:pt idx="14">
                  <c:v>12700</c:v>
                </c:pt>
                <c:pt idx="15">
                  <c:v>4300</c:v>
                </c:pt>
                <c:pt idx="16">
                  <c:v>9700</c:v>
                </c:pt>
                <c:pt idx="17">
                  <c:v>7000</c:v>
                </c:pt>
                <c:pt idx="18">
                  <c:v>5700</c:v>
                </c:pt>
                <c:pt idx="19">
                  <c:v>5700</c:v>
                </c:pt>
                <c:pt idx="20">
                  <c:v>7000</c:v>
                </c:pt>
              </c:numCache>
            </c:numRef>
          </c:val>
        </c:ser>
        <c:dLbls>
          <c:showLegendKey val="0"/>
          <c:showVal val="0"/>
          <c:showCatName val="0"/>
          <c:showSerName val="0"/>
          <c:showPercent val="0"/>
          <c:showBubbleSize val="0"/>
        </c:dLbls>
        <c:axId val="-2101159928"/>
        <c:axId val="-2100718248"/>
      </c:areaChart>
      <c:catAx>
        <c:axId val="-2101159928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nextTo"/>
        <c:txPr>
          <a:bodyPr/>
          <a:lstStyle/>
          <a:p>
            <a:pPr>
              <a:defRPr sz="1000"/>
            </a:pPr>
          </a:p>
        </c:txPr>
        <c:crossAx val="-2100718248"/>
        <c:crosses val="autoZero"/>
        <c:auto val="1"/>
        <c:lblAlgn val="ctr"/>
        <c:lblOffset val="100"/>
        <c:tickLblSkip val="3"/>
        <c:noMultiLvlLbl val="0"/>
      </c:catAx>
      <c:valAx>
        <c:axId val="-2100718248"/>
        <c:scaling>
          <c:orientation val="minMax"/>
          <c:max val="20000.0"/>
          <c:min val="0.0"/>
        </c:scaling>
        <c:delete val="0"/>
        <c:axPos val="l"/>
        <c:majorGridlines>
          <c:spPr>
            <a:ln>
              <a:solidFill>
                <a:srgbClr val="E6EAE7"/>
              </a:solidFill>
            </a:ln>
          </c:spPr>
        </c:majorGridlines>
        <c:numFmt formatCode="$#,##0;[Red]($#,##0);&quot;-&quot;" sourceLinked="0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000"/>
            </a:pPr>
          </a:p>
        </c:txPr>
        <c:crossAx val="-2101159928"/>
        <c:crosses val="autoZero"/>
        <c:crossBetween val="midCat"/>
        <c:majorUnit val="5000.0"/>
      </c:valAx>
    </c:plotArea>
    <c:plotVisOnly val="1"/>
    <c:dispBlanksAs val="zero"/>
    <c:showDLblsOverMax val="0"/>
  </c:chart>
  <c:txPr>
    <a:bodyPr/>
    <a:lstStyle/>
    <a:p>
      <a:pPr>
        <a:defRPr sz="1800">
          <a:latin typeface="Roboto"/>
        </a:defRPr>
      </a:pPr>
      <a:endParaRPr/>
    </a:p>
  </c:txPr>
  <c:externalData r:id="rId1">
    <c:autoUpdate val="0"/>
  </c:externalData>
</c:chartSpac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Which products and services are growing?. Sample Advisory Pty Ltd. Period: June 2026. Revenue, gross margin and growth (year on year) by product or service line over 24 months. Pick a line and every number, chart and note follows 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Services · All. June against June last year: 28.8%; Year to date (Jul to Jun 2026): $1,111,490; Gross margin, year to date: 67.0%. Revenue is $1,111,490 this financial year to date (Jul to Jun 2026). Training makes the highest gross margin (76.7%); Projects the lowest (65.0%). The business needs 56.9% gross margin just to cover overheads. Projects: 65.0% gross margin, 25.0 points over the 40.0% target ($174,174 ahead on $696,290 this financial year to date). Training: 76.7% gross margin, 36.7 points over the 40.0% target ($33,120 ahead on $90,200 this financial year to date).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Services · Projects. June against June last year: 20.0%; Year to date (Jul to Jun 2026): $696,290; Gross margin, year to date: 65.0%. Projects brought in $696,290 this financial year to date, at a 65.0% gross margin (below the 67.0% overall). Projects: 65.0% gross margin, 25.0 points over the 40.0% target ($174,174 ahead on $696,290 this financial year to date).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Services · Retainers. June against June last year: 48.8%; Year to date (Jul to Jun 2026): $325,000; Gross margin, year to date: 68.5%. Retainers brought in $325,000 this financial year to date, at a 68.5% gross margin (above the 67.0% overall). Retainers: 68.5% gross margin, 28.5 points over the 40.0% target ($92,520 ahead on $325,000 this financial year to date).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Services · Training. June against June last year: 62.8%; Year to date (Jul to Jun 2026): $90,200; Gross margin, year to date: 76.7%. Training brought in $90,200 this financial year to date, at a 76.7% gross margin (above the 67.0% overall). Training: 76.7% gross margin, 36.7 points over the 40.0% target ($33,120 ahead on $90,200 this financial year to date).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By type of work: financial year to date (Jul to Jun 2026) against the same period last year · Services. Same period last year: Not available: the data starts October 2024. From gross margin to profit: June's client work made $81,520 gross margin (63.9%). Consultant time not charged to client work took $20,532 and overheads $52,050, leaving $8,938 profit before tax (7.0% of revenue). To cover overheads, client work needs a 56.9% gross margin on average.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2.xml"/><Relationship Id="rId3" Type="http://schemas.openxmlformats.org/officeDocument/2006/relationships/chart" Target="../charts/chart1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3.xml"/><Relationship Id="rId3" Type="http://schemas.openxmlformats.org/officeDocument/2006/relationships/chart" Target="../charts/chart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4.xml"/><Relationship Id="rId3" Type="http://schemas.openxmlformats.org/officeDocument/2006/relationships/chart" Target="../charts/chart3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5.xml"/><Relationship Id="rId3" Type="http://schemas.openxmlformats.org/officeDocument/2006/relationships/chart" Target="../charts/chart4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6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457200" y="1965960"/>
            <a:ext cx="11277295" cy="1097280"/>
          </a:xfrm>
        </p:spPr>
        <p:txBody>
          <a:bodyPr wrap="square"/>
          <a:lstStyle/>
          <a:p>
            <a:pPr algn="l">
              <a:defRPr>
                <a:latin typeface="Roboto"/>
              </a:defRPr>
            </a:pPr>
            <a:r>
              <a:rPr sz="3400" b="1">
                <a:solidFill>
                  <a:srgbClr val="25342A"/>
                </a:solidFill>
                <a:latin typeface="Roboto"/>
              </a:rPr>
              <a:t>Which products and services are growing?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548640"/>
            <a:ext cx="640080" cy="640080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>
                <a:latin typeface="Roboto"/>
              </a:defRPr>
            </a:pPr>
            <a:r>
              <a:rPr sz="1600" b="1">
                <a:solidFill>
                  <a:srgbClr val="FFFFFF"/>
                </a:solidFill>
                <a:latin typeface="Roboto"/>
              </a:rPr>
              <a:t>4th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234440" y="658368"/>
            <a:ext cx="5486400" cy="457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800" b="1">
                <a:solidFill>
                  <a:srgbClr val="25342A"/>
                </a:solidFill>
                <a:latin typeface="Roboto"/>
              </a:rPr>
              <a:t>The Fourth Sheet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554480"/>
            <a:ext cx="10972800" cy="3657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1">
                <a:solidFill>
                  <a:srgbClr val="8A7A52"/>
                </a:solidFill>
                <a:latin typeface="Roboto"/>
              </a:rPr>
              <a:t>SAMPLE DATA · invented figures for demonstration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3154680"/>
            <a:ext cx="11277295" cy="457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600" b="0">
                <a:solidFill>
                  <a:srgbClr val="5F6F63"/>
                </a:solidFill>
                <a:latin typeface="Roboto"/>
              </a:rPr>
              <a:t>Sample Advisory Pty Ltd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3703320"/>
            <a:ext cx="11277295" cy="5359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400" b="0">
                <a:solidFill>
                  <a:srgbClr val="25342A"/>
                </a:solidFill>
                <a:latin typeface="Roboto"/>
              </a:rPr>
              <a:t>Period: June 2026. Revenue, gross margin and growth (year on year) by product or service line over 24 months. Pick a line and every number, chart and note follows it.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4330700"/>
            <a:ext cx="11277295" cy="10972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How final is this data?</a:t>
            </a:r>
          </a:p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June 2026: Locked. June 2026 is locked (closed 2 Jul 2026). These numbers won't change.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6492240"/>
            <a:ext cx="292608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growth-services.pptx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108960" y="6492240"/>
            <a:ext cx="59436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Data retrieved 2pm, Tue 6 Oct 2026 · Generated 22 Oct 2026, 4:57pm · Sample data · Made with Python (python-pptx)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Slide 1 of 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384048"/>
            <a:ext cx="11277295" cy="475488"/>
          </a:xfrm>
        </p:spPr>
        <p:txBody>
          <a:bodyPr wrap="square" lIns="45720" rIns="45720" tIns="0" bIns="0" anchor="t"/>
          <a:lstStyle/>
          <a:p>
            <a:pPr algn="l">
              <a:defRPr>
                <a:latin typeface="Roboto"/>
              </a:defRPr>
            </a:pPr>
            <a:r>
              <a:rPr sz="2400" b="1">
                <a:solidFill>
                  <a:srgbClr val="25342A"/>
                </a:solidFill>
                <a:latin typeface="Roboto"/>
              </a:rPr>
              <a:t>Services · All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4" name="TextBox 3"/>
          <p:cNvSpPr txBox="1"/>
          <p:nvPr/>
        </p:nvSpPr>
        <p:spPr>
          <a:xfrm>
            <a:off x="457200" y="146304"/>
            <a:ext cx="8229600" cy="25603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Sample Advisory Pty Ltd · Which products and services are growing?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14400"/>
            <a:ext cx="11277295" cy="26365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5F6F63"/>
                </a:solidFill>
                <a:latin typeface="Roboto"/>
              </a:rPr>
              <a:t>Revenue, gross margin and growth by type of work, by month · All. Gross margin is not profit.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278636"/>
            <a:ext cx="3606698" cy="118872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7" name="TextBox 6"/>
          <p:cNvSpPr txBox="1"/>
          <p:nvPr/>
        </p:nvSpPr>
        <p:spPr>
          <a:xfrm>
            <a:off x="594360" y="1351788"/>
            <a:ext cx="3332378" cy="38404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June against June last year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4360" y="1717548"/>
            <a:ext cx="3332378" cy="502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2200" b="1">
                <a:solidFill>
                  <a:srgbClr val="2F7A5D"/>
                </a:solidFill>
                <a:latin typeface="Roboto"/>
              </a:rPr>
              <a:t>28.8%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0" y="2083308"/>
            <a:ext cx="3332378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$127,580 against $99,060</a:t>
            </a:r>
          </a:p>
        </p:txBody>
      </p:sp>
      <p:sp>
        <p:nvSpPr>
          <p:cNvPr id="10" name="Rectangle 9"/>
          <p:cNvSpPr/>
          <p:nvPr/>
        </p:nvSpPr>
        <p:spPr>
          <a:xfrm>
            <a:off x="4292498" y="1278636"/>
            <a:ext cx="3606698" cy="118872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4429658" y="1351788"/>
            <a:ext cx="3332378" cy="38404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Year to date (Jul to Jun 2026)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429658" y="1717548"/>
            <a:ext cx="3332378" cy="502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2200" b="1">
                <a:solidFill>
                  <a:srgbClr val="2F7A5D"/>
                </a:solidFill>
                <a:latin typeface="Roboto"/>
              </a:rPr>
              <a:t>$1,111,490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429658" y="2083308"/>
            <a:ext cx="3332378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same period last year: not in the data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127796" y="1278636"/>
            <a:ext cx="3606698" cy="118872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15" name="TextBox 14"/>
          <p:cNvSpPr txBox="1"/>
          <p:nvPr/>
        </p:nvSpPr>
        <p:spPr>
          <a:xfrm>
            <a:off x="8264956" y="1351788"/>
            <a:ext cx="3332378" cy="38404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Gross margin, year to date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64956" y="1717548"/>
            <a:ext cx="3332378" cy="502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2200" b="1">
                <a:solidFill>
                  <a:srgbClr val="2F7A5D"/>
                </a:solidFill>
                <a:latin typeface="Roboto"/>
              </a:rPr>
              <a:t>67.0%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64956" y="2083308"/>
            <a:ext cx="3332378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$744,410 before overheads</a:t>
            </a:r>
          </a:p>
        </p:txBody>
      </p:sp>
      <p:graphicFrame>
        <p:nvGraphicFramePr>
          <p:cNvPr id="18" name="Chart 17"/>
          <p:cNvGraphicFramePr>
            <a:graphicFrameLocks noGrp="1"/>
          </p:cNvGraphicFramePr>
          <p:nvPr/>
        </p:nvGraphicFramePr>
        <p:xfrm>
          <a:off x="457200" y="2604516"/>
          <a:ext cx="11277295" cy="2318004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19" name="Rectangle 18"/>
          <p:cNvSpPr/>
          <p:nvPr/>
        </p:nvSpPr>
        <p:spPr>
          <a:xfrm>
            <a:off x="457200" y="5013960"/>
            <a:ext cx="5501487" cy="1295400"/>
          </a:xfrm>
          <a:prstGeom prst="rect">
            <a:avLst/>
          </a:prstGeom>
          <a:solidFill>
            <a:srgbClr val="FFFFFF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20" name="TextBox 19"/>
          <p:cNvSpPr txBox="1"/>
          <p:nvPr/>
        </p:nvSpPr>
        <p:spPr>
          <a:xfrm>
            <a:off x="594360" y="5068824"/>
            <a:ext cx="5227167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1">
                <a:solidFill>
                  <a:srgbClr val="5F6F63"/>
                </a:solidFill>
                <a:latin typeface="Roboto"/>
              </a:rPr>
              <a:t>WHAT IT SHOWS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94360" y="5343144"/>
            <a:ext cx="5227167" cy="9296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25342A"/>
                </a:solidFill>
                <a:latin typeface="Roboto"/>
              </a:rPr>
              <a:t>Revenue is $1,111,490 this financial year to date (Jul to Jun 2026). Training makes the highest gross margin (76.7%); Projects the lowest (65.0%). The business needs 56.9% gross margin just to cover overheads.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233007" y="5013960"/>
            <a:ext cx="5501487" cy="1295400"/>
          </a:xfrm>
          <a:prstGeom prst="rect">
            <a:avLst/>
          </a:prstGeom>
          <a:solidFill>
            <a:srgbClr val="EEF5F0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23" name="TextBox 22"/>
          <p:cNvSpPr txBox="1"/>
          <p:nvPr/>
        </p:nvSpPr>
        <p:spPr>
          <a:xfrm>
            <a:off x="6370167" y="5068824"/>
            <a:ext cx="5227167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1">
                <a:solidFill>
                  <a:srgbClr val="5F6F63"/>
                </a:solidFill>
                <a:latin typeface="Roboto"/>
              </a:rPr>
              <a:t>WHAT YOU'D DO ABOUT IT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370167" y="5343144"/>
            <a:ext cx="5227167" cy="9296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25342A"/>
                </a:solidFill>
                <a:latin typeface="Roboto"/>
              </a:rPr>
              <a:t>Projects: 65.0% gross margin, 25.0 points over the 40.0% target ($174,174 ahead on $696,290 this financial year to date). Training: 76.7% gross margin, 36.7 points over the 40.0% target ($33,120 ahead on $90,200 this financial year to date).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57200" y="6492240"/>
            <a:ext cx="292608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growth-services.pptx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108960" y="6492240"/>
            <a:ext cx="59436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Data retrieved 2pm, Tue 6 Oct 2026 · Generated 22 Oct 2026, 4:57pm · Sample data · Made with Python (python-pptx)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Slide 2 of 6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384048"/>
            <a:ext cx="11277295" cy="475488"/>
          </a:xfrm>
        </p:spPr>
        <p:txBody>
          <a:bodyPr wrap="square" lIns="45720" rIns="45720" tIns="0" bIns="0" anchor="t"/>
          <a:lstStyle/>
          <a:p>
            <a:pPr algn="l">
              <a:defRPr>
                <a:latin typeface="Roboto"/>
              </a:defRPr>
            </a:pPr>
            <a:r>
              <a:rPr sz="2400" b="1">
                <a:solidFill>
                  <a:srgbClr val="25342A"/>
                </a:solidFill>
                <a:latin typeface="Roboto"/>
              </a:rPr>
              <a:t>Services · Projects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4" name="TextBox 3"/>
          <p:cNvSpPr txBox="1"/>
          <p:nvPr/>
        </p:nvSpPr>
        <p:spPr>
          <a:xfrm>
            <a:off x="457200" y="146304"/>
            <a:ext cx="8229600" cy="25603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Sample Advisory Pty Ltd · Which products and services are growing?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14400"/>
            <a:ext cx="11277295" cy="26365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5F6F63"/>
                </a:solidFill>
                <a:latin typeface="Roboto"/>
              </a:rPr>
              <a:t>Revenue, gross margin and growth by type of work, by month · Projects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278636"/>
            <a:ext cx="3606698" cy="118872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7" name="TextBox 6"/>
          <p:cNvSpPr txBox="1"/>
          <p:nvPr/>
        </p:nvSpPr>
        <p:spPr>
          <a:xfrm>
            <a:off x="594360" y="1351788"/>
            <a:ext cx="3332378" cy="38404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June against June last year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4360" y="1717548"/>
            <a:ext cx="3332378" cy="502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2200" b="1">
                <a:solidFill>
                  <a:srgbClr val="2F7A5D"/>
                </a:solidFill>
                <a:latin typeface="Roboto"/>
              </a:rPr>
              <a:t>20.0%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0" y="2083308"/>
            <a:ext cx="3332378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$84,880 against $70,760</a:t>
            </a:r>
          </a:p>
        </p:txBody>
      </p:sp>
      <p:sp>
        <p:nvSpPr>
          <p:cNvPr id="10" name="Rectangle 9"/>
          <p:cNvSpPr/>
          <p:nvPr/>
        </p:nvSpPr>
        <p:spPr>
          <a:xfrm>
            <a:off x="4292498" y="1278636"/>
            <a:ext cx="3606698" cy="118872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4429658" y="1351788"/>
            <a:ext cx="3332378" cy="38404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Year to date (Jul to Jun 2026)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429658" y="1717548"/>
            <a:ext cx="3332378" cy="502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2200" b="1">
                <a:solidFill>
                  <a:srgbClr val="2F7A5D"/>
                </a:solidFill>
                <a:latin typeface="Roboto"/>
              </a:rPr>
              <a:t>$696,290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429658" y="2083308"/>
            <a:ext cx="3332378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same period last year: not in the data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127796" y="1278636"/>
            <a:ext cx="3606698" cy="118872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15" name="TextBox 14"/>
          <p:cNvSpPr txBox="1"/>
          <p:nvPr/>
        </p:nvSpPr>
        <p:spPr>
          <a:xfrm>
            <a:off x="8264956" y="1351788"/>
            <a:ext cx="3332378" cy="38404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Gross margin, year to date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64956" y="1717548"/>
            <a:ext cx="3332378" cy="502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2200" b="1">
                <a:solidFill>
                  <a:srgbClr val="2F7A5D"/>
                </a:solidFill>
                <a:latin typeface="Roboto"/>
              </a:rPr>
              <a:t>65.0%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64956" y="2083308"/>
            <a:ext cx="3332378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$452,690 before overheads</a:t>
            </a:r>
          </a:p>
        </p:txBody>
      </p:sp>
      <p:graphicFrame>
        <p:nvGraphicFramePr>
          <p:cNvPr id="18" name="Chart 17"/>
          <p:cNvGraphicFramePr>
            <a:graphicFrameLocks noGrp="1"/>
          </p:cNvGraphicFramePr>
          <p:nvPr/>
        </p:nvGraphicFramePr>
        <p:xfrm>
          <a:off x="457200" y="2604516"/>
          <a:ext cx="11277295" cy="2714244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19" name="Rectangle 18"/>
          <p:cNvSpPr/>
          <p:nvPr/>
        </p:nvSpPr>
        <p:spPr>
          <a:xfrm>
            <a:off x="457200" y="5410200"/>
            <a:ext cx="5501487" cy="899160"/>
          </a:xfrm>
          <a:prstGeom prst="rect">
            <a:avLst/>
          </a:prstGeom>
          <a:solidFill>
            <a:srgbClr val="FFFFFF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20" name="TextBox 19"/>
          <p:cNvSpPr txBox="1"/>
          <p:nvPr/>
        </p:nvSpPr>
        <p:spPr>
          <a:xfrm>
            <a:off x="594360" y="5465064"/>
            <a:ext cx="5227167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1">
                <a:solidFill>
                  <a:srgbClr val="5F6F63"/>
                </a:solidFill>
                <a:latin typeface="Roboto"/>
              </a:rPr>
              <a:t>WHAT IT SHOWS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94360" y="5739384"/>
            <a:ext cx="5227167" cy="5334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25342A"/>
                </a:solidFill>
                <a:latin typeface="Roboto"/>
              </a:rPr>
              <a:t>Projects brought in $696,290 this financial year to date, at a 65.0% gross margin (below the 67.0% overall).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233007" y="5410200"/>
            <a:ext cx="5501487" cy="899160"/>
          </a:xfrm>
          <a:prstGeom prst="rect">
            <a:avLst/>
          </a:prstGeom>
          <a:solidFill>
            <a:srgbClr val="EEF5F0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23" name="TextBox 22"/>
          <p:cNvSpPr txBox="1"/>
          <p:nvPr/>
        </p:nvSpPr>
        <p:spPr>
          <a:xfrm>
            <a:off x="6370167" y="5465064"/>
            <a:ext cx="5227167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1">
                <a:solidFill>
                  <a:srgbClr val="5F6F63"/>
                </a:solidFill>
                <a:latin typeface="Roboto"/>
              </a:rPr>
              <a:t>WHAT YOU'D DO ABOUT IT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370167" y="5739384"/>
            <a:ext cx="5227167" cy="5334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25342A"/>
                </a:solidFill>
                <a:latin typeface="Roboto"/>
              </a:rPr>
              <a:t>Projects: 65.0% gross margin, 25.0 points over the 40.0% target ($174,174 ahead on $696,290 this financial year to date).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57200" y="6492240"/>
            <a:ext cx="292608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growth-services.pptx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108960" y="6492240"/>
            <a:ext cx="59436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Data retrieved 2pm, Tue 6 Oct 2026 · Generated 22 Oct 2026, 4:57pm · Sample data · Made with Python (python-pptx)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Slide 3 of 6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384048"/>
            <a:ext cx="11277295" cy="475488"/>
          </a:xfrm>
        </p:spPr>
        <p:txBody>
          <a:bodyPr wrap="square" lIns="45720" rIns="45720" tIns="0" bIns="0" anchor="t"/>
          <a:lstStyle/>
          <a:p>
            <a:pPr algn="l">
              <a:defRPr>
                <a:latin typeface="Roboto"/>
              </a:defRPr>
            </a:pPr>
            <a:r>
              <a:rPr sz="2400" b="1">
                <a:solidFill>
                  <a:srgbClr val="25342A"/>
                </a:solidFill>
                <a:latin typeface="Roboto"/>
              </a:rPr>
              <a:t>Services · Retainers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4" name="TextBox 3"/>
          <p:cNvSpPr txBox="1"/>
          <p:nvPr/>
        </p:nvSpPr>
        <p:spPr>
          <a:xfrm>
            <a:off x="457200" y="146304"/>
            <a:ext cx="8229600" cy="25603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Sample Advisory Pty Ltd · Which products and services are growing?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14400"/>
            <a:ext cx="11277295" cy="26365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5F6F63"/>
                </a:solidFill>
                <a:latin typeface="Roboto"/>
              </a:rPr>
              <a:t>Revenue, gross margin and growth by type of work, by month · Retainers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278636"/>
            <a:ext cx="3606698" cy="118872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7" name="TextBox 6"/>
          <p:cNvSpPr txBox="1"/>
          <p:nvPr/>
        </p:nvSpPr>
        <p:spPr>
          <a:xfrm>
            <a:off x="594360" y="1351788"/>
            <a:ext cx="3332378" cy="38404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June against June last year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4360" y="1717548"/>
            <a:ext cx="3332378" cy="502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2200" b="1">
                <a:solidFill>
                  <a:srgbClr val="2F7A5D"/>
                </a:solidFill>
                <a:latin typeface="Roboto"/>
              </a:rPr>
              <a:t>48.8%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0" y="2083308"/>
            <a:ext cx="3332378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$35,700 against $24,000</a:t>
            </a:r>
          </a:p>
        </p:txBody>
      </p:sp>
      <p:sp>
        <p:nvSpPr>
          <p:cNvPr id="10" name="Rectangle 9"/>
          <p:cNvSpPr/>
          <p:nvPr/>
        </p:nvSpPr>
        <p:spPr>
          <a:xfrm>
            <a:off x="4292498" y="1278636"/>
            <a:ext cx="3606698" cy="118872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4429658" y="1351788"/>
            <a:ext cx="3332378" cy="38404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Year to date (Jul to Jun 2026)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429658" y="1717548"/>
            <a:ext cx="3332378" cy="502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2200" b="1">
                <a:solidFill>
                  <a:srgbClr val="2F7A5D"/>
                </a:solidFill>
                <a:latin typeface="Roboto"/>
              </a:rPr>
              <a:t>$325,000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429658" y="2083308"/>
            <a:ext cx="3332378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same period last year: not in the data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127796" y="1278636"/>
            <a:ext cx="3606698" cy="118872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15" name="TextBox 14"/>
          <p:cNvSpPr txBox="1"/>
          <p:nvPr/>
        </p:nvSpPr>
        <p:spPr>
          <a:xfrm>
            <a:off x="8264956" y="1351788"/>
            <a:ext cx="3332378" cy="38404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Gross margin, year to date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64956" y="1717548"/>
            <a:ext cx="3332378" cy="502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2200" b="1">
                <a:solidFill>
                  <a:srgbClr val="2F7A5D"/>
                </a:solidFill>
                <a:latin typeface="Roboto"/>
              </a:rPr>
              <a:t>68.5%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64956" y="2083308"/>
            <a:ext cx="3332378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$222,520 before overheads</a:t>
            </a:r>
          </a:p>
        </p:txBody>
      </p:sp>
      <p:graphicFrame>
        <p:nvGraphicFramePr>
          <p:cNvPr id="18" name="Chart 17"/>
          <p:cNvGraphicFramePr>
            <a:graphicFrameLocks noGrp="1"/>
          </p:cNvGraphicFramePr>
          <p:nvPr/>
        </p:nvGraphicFramePr>
        <p:xfrm>
          <a:off x="457200" y="2604516"/>
          <a:ext cx="11277295" cy="2714244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19" name="Rectangle 18"/>
          <p:cNvSpPr/>
          <p:nvPr/>
        </p:nvSpPr>
        <p:spPr>
          <a:xfrm>
            <a:off x="457200" y="5410200"/>
            <a:ext cx="5501487" cy="899160"/>
          </a:xfrm>
          <a:prstGeom prst="rect">
            <a:avLst/>
          </a:prstGeom>
          <a:solidFill>
            <a:srgbClr val="FFFFFF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20" name="TextBox 19"/>
          <p:cNvSpPr txBox="1"/>
          <p:nvPr/>
        </p:nvSpPr>
        <p:spPr>
          <a:xfrm>
            <a:off x="594360" y="5465064"/>
            <a:ext cx="5227167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1">
                <a:solidFill>
                  <a:srgbClr val="5F6F63"/>
                </a:solidFill>
                <a:latin typeface="Roboto"/>
              </a:rPr>
              <a:t>WHAT IT SHOWS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94360" y="5739384"/>
            <a:ext cx="5227167" cy="5334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25342A"/>
                </a:solidFill>
                <a:latin typeface="Roboto"/>
              </a:rPr>
              <a:t>Retainers brought in $325,000 this financial year to date, at a 68.5% gross margin (above the 67.0% overall).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233007" y="5410200"/>
            <a:ext cx="5501487" cy="899160"/>
          </a:xfrm>
          <a:prstGeom prst="rect">
            <a:avLst/>
          </a:prstGeom>
          <a:solidFill>
            <a:srgbClr val="EEF5F0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23" name="TextBox 22"/>
          <p:cNvSpPr txBox="1"/>
          <p:nvPr/>
        </p:nvSpPr>
        <p:spPr>
          <a:xfrm>
            <a:off x="6370167" y="5465064"/>
            <a:ext cx="5227167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1">
                <a:solidFill>
                  <a:srgbClr val="5F6F63"/>
                </a:solidFill>
                <a:latin typeface="Roboto"/>
              </a:rPr>
              <a:t>WHAT YOU'D DO ABOUT IT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370167" y="5739384"/>
            <a:ext cx="5227167" cy="5334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25342A"/>
                </a:solidFill>
                <a:latin typeface="Roboto"/>
              </a:rPr>
              <a:t>Retainers: 68.5% gross margin, 28.5 points over the 40.0% target ($92,520 ahead on $325,000 this financial year to date).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57200" y="6492240"/>
            <a:ext cx="292608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growth-services.pptx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108960" y="6492240"/>
            <a:ext cx="59436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Data retrieved 2pm, Tue 6 Oct 2026 · Generated 22 Oct 2026, 4:57pm · Sample data · Made with Python (python-pptx)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Slide 4 of 6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384048"/>
            <a:ext cx="11277295" cy="475488"/>
          </a:xfrm>
        </p:spPr>
        <p:txBody>
          <a:bodyPr wrap="square" lIns="45720" rIns="45720" tIns="0" bIns="0" anchor="t"/>
          <a:lstStyle/>
          <a:p>
            <a:pPr algn="l">
              <a:defRPr>
                <a:latin typeface="Roboto"/>
              </a:defRPr>
            </a:pPr>
            <a:r>
              <a:rPr sz="2400" b="1">
                <a:solidFill>
                  <a:srgbClr val="25342A"/>
                </a:solidFill>
                <a:latin typeface="Roboto"/>
              </a:rPr>
              <a:t>Services · Training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4" name="TextBox 3"/>
          <p:cNvSpPr txBox="1"/>
          <p:nvPr/>
        </p:nvSpPr>
        <p:spPr>
          <a:xfrm>
            <a:off x="457200" y="146304"/>
            <a:ext cx="8229600" cy="25603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Sample Advisory Pty Ltd · Which products and services are growing?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14400"/>
            <a:ext cx="11277295" cy="26365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5F6F63"/>
                </a:solidFill>
                <a:latin typeface="Roboto"/>
              </a:rPr>
              <a:t>Revenue, gross margin and growth by type of work, by month · Training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278636"/>
            <a:ext cx="3606698" cy="118872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7" name="TextBox 6"/>
          <p:cNvSpPr txBox="1"/>
          <p:nvPr/>
        </p:nvSpPr>
        <p:spPr>
          <a:xfrm>
            <a:off x="594360" y="1351788"/>
            <a:ext cx="3332378" cy="38404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June against June last year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4360" y="1717548"/>
            <a:ext cx="3332378" cy="502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2200" b="1">
                <a:solidFill>
                  <a:srgbClr val="2F7A5D"/>
                </a:solidFill>
                <a:latin typeface="Roboto"/>
              </a:rPr>
              <a:t>62.8%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0" y="2083308"/>
            <a:ext cx="3332378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$7,000 against $4,300</a:t>
            </a:r>
          </a:p>
        </p:txBody>
      </p:sp>
      <p:sp>
        <p:nvSpPr>
          <p:cNvPr id="10" name="Rectangle 9"/>
          <p:cNvSpPr/>
          <p:nvPr/>
        </p:nvSpPr>
        <p:spPr>
          <a:xfrm>
            <a:off x="4292498" y="1278636"/>
            <a:ext cx="3606698" cy="118872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4429658" y="1351788"/>
            <a:ext cx="3332378" cy="38404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Year to date (Jul to Jun 2026)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429658" y="1717548"/>
            <a:ext cx="3332378" cy="502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2200" b="1">
                <a:solidFill>
                  <a:srgbClr val="2F7A5D"/>
                </a:solidFill>
                <a:latin typeface="Roboto"/>
              </a:rPr>
              <a:t>$90,200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429658" y="2083308"/>
            <a:ext cx="3332378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same period last year: not in the data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127796" y="1278636"/>
            <a:ext cx="3606698" cy="118872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15" name="TextBox 14"/>
          <p:cNvSpPr txBox="1"/>
          <p:nvPr/>
        </p:nvSpPr>
        <p:spPr>
          <a:xfrm>
            <a:off x="8264956" y="1351788"/>
            <a:ext cx="3332378" cy="38404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Gross margin, year to date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64956" y="1717548"/>
            <a:ext cx="3332378" cy="502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2200" b="1">
                <a:solidFill>
                  <a:srgbClr val="2F7A5D"/>
                </a:solidFill>
                <a:latin typeface="Roboto"/>
              </a:rPr>
              <a:t>76.7%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64956" y="2083308"/>
            <a:ext cx="3332378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$69,200 before overheads</a:t>
            </a:r>
          </a:p>
        </p:txBody>
      </p:sp>
      <p:graphicFrame>
        <p:nvGraphicFramePr>
          <p:cNvPr id="18" name="Chart 17"/>
          <p:cNvGraphicFramePr>
            <a:graphicFrameLocks noGrp="1"/>
          </p:cNvGraphicFramePr>
          <p:nvPr/>
        </p:nvGraphicFramePr>
        <p:xfrm>
          <a:off x="457200" y="2604516"/>
          <a:ext cx="11277295" cy="2714244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19" name="Rectangle 18"/>
          <p:cNvSpPr/>
          <p:nvPr/>
        </p:nvSpPr>
        <p:spPr>
          <a:xfrm>
            <a:off x="457200" y="5410200"/>
            <a:ext cx="5501487" cy="899160"/>
          </a:xfrm>
          <a:prstGeom prst="rect">
            <a:avLst/>
          </a:prstGeom>
          <a:solidFill>
            <a:srgbClr val="FFFFFF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20" name="TextBox 19"/>
          <p:cNvSpPr txBox="1"/>
          <p:nvPr/>
        </p:nvSpPr>
        <p:spPr>
          <a:xfrm>
            <a:off x="594360" y="5465064"/>
            <a:ext cx="5227167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1">
                <a:solidFill>
                  <a:srgbClr val="5F6F63"/>
                </a:solidFill>
                <a:latin typeface="Roboto"/>
              </a:rPr>
              <a:t>WHAT IT SHOWS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94360" y="5739384"/>
            <a:ext cx="5227167" cy="5334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25342A"/>
                </a:solidFill>
                <a:latin typeface="Roboto"/>
              </a:rPr>
              <a:t>Training brought in $90,200 this financial year to date, at a 76.7% gross margin (above the 67.0% overall).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233007" y="5410200"/>
            <a:ext cx="5501487" cy="899160"/>
          </a:xfrm>
          <a:prstGeom prst="rect">
            <a:avLst/>
          </a:prstGeom>
          <a:solidFill>
            <a:srgbClr val="EEF5F0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23" name="TextBox 22"/>
          <p:cNvSpPr txBox="1"/>
          <p:nvPr/>
        </p:nvSpPr>
        <p:spPr>
          <a:xfrm>
            <a:off x="6370167" y="5465064"/>
            <a:ext cx="5227167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1">
                <a:solidFill>
                  <a:srgbClr val="5F6F63"/>
                </a:solidFill>
                <a:latin typeface="Roboto"/>
              </a:rPr>
              <a:t>WHAT YOU'D DO ABOUT IT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370167" y="5739384"/>
            <a:ext cx="5227167" cy="5334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25342A"/>
                </a:solidFill>
                <a:latin typeface="Roboto"/>
              </a:rPr>
              <a:t>Training: 76.7% gross margin, 36.7 points over the 40.0% target ($33,120 ahead on $90,200 this financial year to date).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57200" y="6492240"/>
            <a:ext cx="292608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growth-services.pptx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108960" y="6492240"/>
            <a:ext cx="59436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Data retrieved 2pm, Tue 6 Oct 2026 · Generated 22 Oct 2026, 4:57pm · Sample data · Made with Python (python-pptx)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Slide 5 of 6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384048"/>
            <a:ext cx="11277295" cy="719328"/>
          </a:xfrm>
        </p:spPr>
        <p:txBody>
          <a:bodyPr wrap="square" lIns="45720" rIns="45720" tIns="0" bIns="0" anchor="t"/>
          <a:lstStyle/>
          <a:p>
            <a:pPr algn="l">
              <a:defRPr>
                <a:latin typeface="Roboto"/>
              </a:defRPr>
            </a:pPr>
            <a:r>
              <a:rPr sz="2000" b="1">
                <a:solidFill>
                  <a:srgbClr val="25342A"/>
                </a:solidFill>
                <a:latin typeface="Roboto"/>
              </a:rPr>
              <a:t>By type of work: financial year to date (Jul to Jun 2026) against the same period last year · Services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4" name="TextBox 3"/>
          <p:cNvSpPr txBox="1"/>
          <p:nvPr/>
        </p:nvSpPr>
        <p:spPr>
          <a:xfrm>
            <a:off x="457200" y="146304"/>
            <a:ext cx="8229600" cy="25603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Sample Advisory Pty Ltd · Which products and services are growing?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58240"/>
            <a:ext cx="11277295" cy="64465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5F6F63"/>
                </a:solidFill>
                <a:latin typeface="Roboto"/>
              </a:rPr>
              <a:t>Same period last year: Not available: the data starts October 2024. From gross margin to profit: June's client work made $81,520 gross margin (63.9%). Consultant time not charged to client work took $20,532 and overheads $52,050, leaving $8,938 profit before tax (7.0% of revenue). To cover overheads, client work needs a 56.9% gross margin on average.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457200" y="1903476"/>
          <a:ext cx="11277295" cy="15544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79549"/>
                <a:gridCol w="1879549"/>
                <a:gridCol w="1879549"/>
                <a:gridCol w="1879549"/>
                <a:gridCol w="1879549"/>
                <a:gridCol w="1879550"/>
              </a:tblGrid>
              <a:tr h="310896"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</a:p>
                  </a:txBody>
                  <a:tcPr>
                    <a:solidFill>
                      <a:srgbClr val="2F7A5D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Roboto"/>
                        </a:rPr>
                        <a:t>Year to date</a:t>
                      </a:r>
                    </a:p>
                  </a:txBody>
                  <a:tcPr>
                    <a:solidFill>
                      <a:srgbClr val="2F7A5D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Roboto"/>
                        </a:rPr>
                        <a:t>Same period last year</a:t>
                      </a:r>
                    </a:p>
                  </a:txBody>
                  <a:tcPr>
                    <a:solidFill>
                      <a:srgbClr val="2F7A5D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Roboto"/>
                        </a:rPr>
                        <a:t>Growth</a:t>
                      </a:r>
                    </a:p>
                  </a:txBody>
                  <a:tcPr>
                    <a:solidFill>
                      <a:srgbClr val="2F7A5D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Roboto"/>
                        </a:rPr>
                        <a:t>Gross margin $</a:t>
                      </a:r>
                    </a:p>
                  </a:txBody>
                  <a:tcPr>
                    <a:solidFill>
                      <a:srgbClr val="2F7A5D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Roboto"/>
                        </a:rPr>
                        <a:t>Gross margin %</a:t>
                      </a:r>
                    </a:p>
                  </a:txBody>
                  <a:tcPr>
                    <a:solidFill>
                      <a:srgbClr val="2F7A5D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Projects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$696,290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–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–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$452,690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65.0%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Retainers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$325,000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–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–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$222,520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68.5%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Training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$90,200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–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–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$69,200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76.7%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050" b="1">
                          <a:solidFill>
                            <a:srgbClr val="25342A"/>
                          </a:solidFill>
                          <a:latin typeface="Roboto"/>
                        </a:rPr>
                        <a:t>Total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 b="1">
                          <a:solidFill>
                            <a:srgbClr val="25342A"/>
                          </a:solidFill>
                          <a:latin typeface="Roboto"/>
                        </a:rPr>
                        <a:t>$1,111,490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 b="1">
                          <a:solidFill>
                            <a:srgbClr val="25342A"/>
                          </a:solidFill>
                          <a:latin typeface="Roboto"/>
                        </a:rPr>
                        <a:t>–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 b="1">
                          <a:solidFill>
                            <a:srgbClr val="25342A"/>
                          </a:solidFill>
                          <a:latin typeface="Roboto"/>
                        </a:rPr>
                        <a:t>–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 b="1">
                          <a:solidFill>
                            <a:srgbClr val="25342A"/>
                          </a:solidFill>
                          <a:latin typeface="Roboto"/>
                        </a:rPr>
                        <a:t>$744,410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 b="1">
                          <a:solidFill>
                            <a:srgbClr val="25342A"/>
                          </a:solidFill>
                          <a:latin typeface="Roboto"/>
                        </a:rPr>
                        <a:t>67.0%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457200" y="6492240"/>
            <a:ext cx="292608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growth-services.pptx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108960" y="6492240"/>
            <a:ext cx="59436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Data retrieved 2pm, Tue 6 Oct 2026 · Generated 22 Oct 2026, 4:57pm · Sample data · Made with Python (python-pptx)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Slide 6 of 6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25342A"/>
      </a:dk2>
      <a:lt2>
        <a:srgbClr val="F4F7F2"/>
      </a:lt2>
      <a:accent1>
        <a:srgbClr val="2F7A5D"/>
      </a:accent1>
      <a:accent2>
        <a:srgbClr val="0E9F6E"/>
      </a:accent2>
      <a:accent3>
        <a:srgbClr val="7D8790"/>
      </a:accent3>
      <a:accent4>
        <a:srgbClr val="8A6D3B"/>
      </a:accent4>
      <a:accent5>
        <a:srgbClr val="B42318"/>
      </a:accent5>
      <a:accent6>
        <a:srgbClr val="8E9CAB"/>
      </a:accent6>
      <a:hlink>
        <a:srgbClr val="0000FF"/>
      </a:hlink>
      <a:folHlink>
        <a:srgbClr val="800080"/>
      </a:folHlink>
    </a:clrScheme>
    <a:fontScheme name="Office">
      <a:majorFont>
        <a:latin typeface="Roboto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Roboto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