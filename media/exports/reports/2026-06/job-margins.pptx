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Installations</c:v>
                </c:pt>
                <c:pt idx="1">
                  <c:v>Call-outs and repairs</c:v>
                </c:pt>
                <c:pt idx="2">
                  <c:v>Maintenance contracts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36.2</c:v>
                </c:pt>
                <c:pt idx="1">
                  <c:v>49.1</c:v>
                </c:pt>
                <c:pt idx="2">
                  <c:v>63.9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3.48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dPt>
            <c:idx val="7"/>
            <c:spPr>
              <a:solidFill>
                <a:srgbClr val="0E9F6E"/>
              </a:solidFill>
            </c:spPr>
          </c:dPt>
          <c:dPt>
            <c:idx val="8"/>
            <c:spPr>
              <a:solidFill>
                <a:srgbClr val="0E9F6E"/>
              </a:solidFill>
            </c:spPr>
          </c:dPt>
          <c:dPt>
            <c:idx val="9"/>
            <c:spPr>
              <a:solidFill>
                <a:srgbClr val="0E9F6E"/>
              </a:solidFill>
            </c:spPr>
          </c:dPt>
          <c:dPt>
            <c:idx val="10"/>
            <c:spPr>
              <a:solidFill>
                <a:srgbClr val="0E9F6E"/>
              </a:solidFill>
            </c:spPr>
          </c:dPt>
          <c:dPt>
            <c:idx val="11"/>
            <c:spPr>
              <a:solidFill>
                <a:srgbClr val="0E9F6E"/>
              </a:solidFill>
            </c:spPr>
          </c:dPt>
          <c:dPt>
            <c:idx val="12"/>
            <c:spPr>
              <a:solidFill>
                <a:srgbClr val="0E9F6E"/>
              </a:solidFill>
            </c:spPr>
          </c:dPt>
          <c:dPt>
            <c:idx val="13"/>
            <c:spPr>
              <a:solidFill>
                <a:srgbClr val="0E9F6E"/>
              </a:solidFill>
            </c:spPr>
          </c:dPt>
          <c:cat>
            <c:strRef>
              <c:f>Sheet1!$A$2:$A$15</c:f>
              <c:strCache>
                <c:ptCount val="14"/>
                <c:pt idx="0">
                  <c:v>Kangaroo Point townhouses</c:v>
                </c:pt>
                <c:pt idx="1">
                  <c:v>West End brewery</c:v>
                </c:pt>
                <c:pt idx="2">
                  <c:v>Rocklea factory</c:v>
                </c:pt>
                <c:pt idx="3">
                  <c:v>Wacol logistics depot</c:v>
                </c:pt>
                <c:pt idx="4">
                  <c:v>Milton office tower</c:v>
                </c:pt>
                <c:pt idx="5">
                  <c:v>Bulimba school</c:v>
                </c:pt>
                <c:pt idx="6">
                  <c:v>Chermside retail centre</c:v>
                </c:pt>
                <c:pt idx="7">
                  <c:v>Southbank cafe group</c:v>
                </c:pt>
                <c:pt idx="8">
                  <c:v>Fortitude Valley hotel</c:v>
                </c:pt>
                <c:pt idx="9">
                  <c:v>Riverside Apartments (strata)</c:v>
                </c:pt>
                <c:pt idx="10">
                  <c:v>Newstead gym</c:v>
                </c:pt>
                <c:pt idx="11">
                  <c:v>Ashgrove aged care</c:v>
                </c:pt>
                <c:pt idx="12">
                  <c:v>Wynnum medical centre</c:v>
                </c:pt>
                <c:pt idx="13">
                  <c:v>Carindale vet clinic</c:v>
                </c:pt>
              </c:strCache>
            </c:strRef>
          </c:cat>
          <c:val>
            <c:numRef>
              <c:f>Sheet1!$B$2:$B$15</c:f>
              <c:numCache>
                <c:formatCode>0.0"%";[Red](0.0"%")</c:formatCode>
                <c:ptCount val="14"/>
                <c:pt idx="0">
                  <c:v>62.9</c:v>
                </c:pt>
                <c:pt idx="1">
                  <c:v>63.1</c:v>
                </c:pt>
                <c:pt idx="2">
                  <c:v>63.1</c:v>
                </c:pt>
                <c:pt idx="3">
                  <c:v>63.4</c:v>
                </c:pt>
                <c:pt idx="4">
                  <c:v>63.4</c:v>
                </c:pt>
                <c:pt idx="5">
                  <c:v>63.6</c:v>
                </c:pt>
                <c:pt idx="6">
                  <c:v>63.8</c:v>
                </c:pt>
                <c:pt idx="7">
                  <c:v>64.0</c:v>
                </c:pt>
                <c:pt idx="8">
                  <c:v>64.2</c:v>
                </c:pt>
                <c:pt idx="9">
                  <c:v>64.3</c:v>
                </c:pt>
                <c:pt idx="10">
                  <c:v>64.3</c:v>
                </c:pt>
                <c:pt idx="11">
                  <c:v>64.4</c:v>
                </c:pt>
                <c:pt idx="12">
                  <c:v>65.1</c:v>
                </c:pt>
                <c:pt idx="13">
                  <c:v>66.2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6.1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Installation J-2523</c:v>
                </c:pt>
                <c:pt idx="1">
                  <c:v>Installation J-2521</c:v>
                </c:pt>
                <c:pt idx="2">
                  <c:v>Installation J-2524</c:v>
                </c:pt>
                <c:pt idx="3">
                  <c:v>Installation J-2520</c:v>
                </c:pt>
                <c:pt idx="4">
                  <c:v>Installation J-2522</c:v>
                </c:pt>
              </c:strCache>
            </c:strRef>
          </c:cat>
          <c:val>
            <c:numRef>
              <c:f>Sheet1!$B$2:$B$6</c:f>
              <c:numCache>
                <c:formatCode>0.0"%";[Red](0.0"%")</c:formatCode>
                <c:ptCount val="5"/>
                <c:pt idx="0">
                  <c:v>35.8</c:v>
                </c:pt>
                <c:pt idx="1">
                  <c:v>35.9</c:v>
                </c:pt>
                <c:pt idx="2">
                  <c:v>36.1</c:v>
                </c:pt>
                <c:pt idx="3">
                  <c:v>36.6</c:v>
                </c:pt>
                <c:pt idx="4">
                  <c:v>37.1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1.634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1.5-hour call-outs (8)</c:v>
                </c:pt>
                <c:pt idx="1">
                  <c:v>1-hour call-outs (6)</c:v>
                </c:pt>
                <c:pt idx="2">
                  <c:v>2-hour call-outs (13)</c:v>
                </c:pt>
                <c:pt idx="3">
                  <c:v>2.5-hour call-outs (5)</c:v>
                </c:pt>
                <c:pt idx="4">
                  <c:v>3-hour call-outs (11)</c:v>
                </c:pt>
                <c:pt idx="5">
                  <c:v>4-hour call-outs (14)</c:v>
                </c:pt>
              </c:strCache>
            </c:strRef>
          </c:cat>
          <c:val>
            <c:numRef>
              <c:f>Sheet1!$B$2:$B$7</c:f>
              <c:numCache>
                <c:formatCode>0.0"%";[Red](0.0"%")</c:formatCode>
                <c:ptCount val="6"/>
                <c:pt idx="0">
                  <c:v>44.5</c:v>
                </c:pt>
                <c:pt idx="1">
                  <c:v>44.9</c:v>
                </c:pt>
                <c:pt idx="2">
                  <c:v>46.1</c:v>
                </c:pt>
                <c:pt idx="3">
                  <c:v>48.6</c:v>
                </c:pt>
                <c:pt idx="4">
                  <c:v>51.0</c:v>
                </c:pt>
                <c:pt idx="5">
                  <c:v>51.8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9.56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0.0"%";[Red](0.0"%")</c:formatCode>
                <c:ptCount val="21"/>
                <c:pt idx="0">
                  <c:v>40.1</c:v>
                </c:pt>
                <c:pt idx="1">
                  <c:v>43.5</c:v>
                </c:pt>
                <c:pt idx="2">
                  <c:v>46.5</c:v>
                </c:pt>
                <c:pt idx="3">
                  <c:v>48.5</c:v>
                </c:pt>
                <c:pt idx="4">
                  <c:v>42.9</c:v>
                </c:pt>
                <c:pt idx="5">
                  <c:v>43.0</c:v>
                </c:pt>
                <c:pt idx="6">
                  <c:v>44.7</c:v>
                </c:pt>
                <c:pt idx="7">
                  <c:v>42.1</c:v>
                </c:pt>
                <c:pt idx="8">
                  <c:v>46.8</c:v>
                </c:pt>
                <c:pt idx="9">
                  <c:v>42.3</c:v>
                </c:pt>
                <c:pt idx="10">
                  <c:v>49.5</c:v>
                </c:pt>
                <c:pt idx="11">
                  <c:v>44.0</c:v>
                </c:pt>
                <c:pt idx="12">
                  <c:v>44.7</c:v>
                </c:pt>
                <c:pt idx="13">
                  <c:v>40.5</c:v>
                </c:pt>
                <c:pt idx="14">
                  <c:v>43.7</c:v>
                </c:pt>
                <c:pt idx="15">
                  <c:v>41.9</c:v>
                </c:pt>
                <c:pt idx="16">
                  <c:v>44.9</c:v>
                </c:pt>
                <c:pt idx="17">
                  <c:v>42.2</c:v>
                </c:pt>
                <c:pt idx="18">
                  <c:v>47.7</c:v>
                </c:pt>
                <c:pt idx="19">
                  <c:v>45.2</c:v>
                </c:pt>
                <c:pt idx="20">
                  <c:v>44.8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jobs actually make money?. Sample Electrical &amp; Air Pty Ltd. Period: June 2026. In short: Jobs made a 44.8% gross margin in June: maintenance contracts the most (63.9%), installations the least (36.2%).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gross margin to profit. June's jobs made $86,532 gross margin (44.8%). Technician time not charged to jobs took $27,397 and overheads $59,260, leaving ($125) profit before tax ((0.1%) of revenue). To cover overheads, jobs need a 44.9%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jobs. Job gross margin, June · All jobs: 44.8%; Job gross margin, May · All jobs: 45.2%; Gross margin jobs need to break even: 44.9%. In June maintenance contracts made a 63.9% job gross margin, installations made a 36.2% job gross margin, call-outs and repairs made a 49.1% job gross margin (technician time at $68 an hour, wages and all on-costs). Jobs need 44.9% just to cover overheads. Installations: 36.2% gross margin, 1.2 points over the 35.0% target ($1,348 ahead on $115,600 in June). Maintenance contracts: 63.9% gross margin, 28.9 points over the 35.0% target ($13,094 ahead on $45,350 in June).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Maintenance contracts. Job gross margin, June · Maintenance contracts: 63.9%; Job gross margin, May · Maintenance contracts: 63.9%; Gross margin jobs need to break even: 44.9%. All 14 contracts made more than the 35.0% job gross margin target. The thinnest was Kangaroo Point townhouses at 62.9% job gross margin: 14.0 h of technician time on a $2,700 monthly fee. The thinnest, Kangaroo Point townhouses: 62.9% gross margin, 27.9 points over the 35.0% target ($753 ahead on $2,700 in June). All maintenance contracts: 63.9% gross margin, 28.9 points over the 35.0% target ($13,094 ahead on $45,350 in June).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on each maintenance contract, June 2026. The month's fee less materials and technician time at $68/hour. Target 35.0% is what to price for; break-even 44.9% only covers overheads and time not charged.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Installations. Job gross margin, June · Installations: 36.2%; Job gross margin, May · Installations: 35.9%; Gross margin jobs need to break even: 44.9%. 0 of the 5 installation jobs invoiced in June made less than the 35.0% job gross margin target. The Installation J-2523 made a 35.8% job gross margin: 58.0 h of technician time ($3,944) and $1,200 of subcontractors on a $16,900 job. Jobs need 44.9% gross margin just to cover overheads. Every installation cleared the 35.0% target. Most profitable: Installation J-2522 (37.1%).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Call-outs and repairs. Job gross margin, June · Call-outs and repairs: 49.1%; Job gross margin, May · Call-outs and repairs: 48.6%; Gross margin jobs need to break even: 44.9%; Technician time charged, June: $23,723; Materials charged, June: $8,359. 57 call-outs in June billed $23,723 of technician time and $8,359 of materials ($6,430 at cost plus 30%), and made a 49.1% job gross margin between them. Gross margins run from 44.5% to 51.8% by length: the hourly rate covers technician time comfortably, so the gross margin mostly moves with how much material goes on the van. All call-outs: 49.1% gross margin, 14.1 points over the 35.0% target ($4,529 ahead on $32,082 in June).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jobs actually make money?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June 2026. In short: Jobs made a 44.8% gross margin in June: maintenance contracts the most (63.9%), installations the least (36.2%).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From gross margin to profit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June's jobs made $86,532 gross margin (44.8%). Technician time not charged to jobs took $27,397 and overheads $59,260, leaving ($125) profit before tax ((0.1%) of revenue). To cover overheads, jobs need a 44.9%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9136"/>
          <a:ext cx="11277294" cy="34198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$86,532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wages and on-costs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$79,587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charged to jobs (at cost)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$52,190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not charged to jobs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$27,397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profit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$59,135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Overheads (operating expenses, depreciation, interest)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$59,260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($125)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$193,032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jobs,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tax, % of 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(0.1%)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jobs need just to cover overheads and time not charged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by type of job, June 2026.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June · All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May · All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45.2%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(June)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1883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6955705" y="2661025"/>
            <a:ext cx="0" cy="1657625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58425" y="431865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36895" y="2661025"/>
            <a:ext cx="0" cy="1657625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39615" y="455639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44.9%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9110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202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June maintenance contracts made a 63.9% job gross margin, installations made a 36.2% job gross margin, call-outs and repairs made a 49.1% job gross margin (technician time at $68 an hour, wages and all on-costs). Jobs need 44.9%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99110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202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36.2% gross margin, 1.2 points over the 35.0% target ($1,348 ahead on $115,600 in June). Maintenance contracts: 63.9% gross margin, 28.9 points over the 35.0% target ($13,094 ahead on $45,350 in June).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June · Maintenance contracts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May · Maintenance 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(June)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8600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94360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14 contracts made more than the 35.0% job gross margin target. The thinnest was Kangaroo Point townhouses at 62.9% job gross margin: 14.0 h of technician time on a $2,700 monthly fee.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228600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70167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thinnest, Kangaroo Point townhouses: 62.9% gross margin, 27.9 points over the 35.0% target ($753 ahead on $2,700 in June). All maintenance contracts: 63.9% gross margin, 28.9 points over the 35.0% target ($13,094 ahead on $45,350 in June).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on each maintenance contract, June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The month's fee less materials and technician time at $68/hour. Target 35.0% is what to price for; break-even 44.9% only covers overheads and time not charged.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9136"/>
          <a:ext cx="11277295" cy="43373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6847469" y="1599255"/>
            <a:ext cx="0" cy="381682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50189" y="541608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98044" y="1599255"/>
            <a:ext cx="0" cy="3816827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00764" y="5653826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44.9%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each installation invoiced in June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June · Installations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36.2%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May · Installations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35.9%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(June)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8273991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76711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28067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430787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44.9%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0 of the 5 installation jobs invoiced in June made less than the 35.0% job gross margin target. The Installation J-2523 made a 35.8% job gross margin: 58.0 h of technician time ($3,944) and $1,200 of subcontractors on a $16,900 job. Jobs need 44.9% gross margin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Every installation cleared the 35.0% target. Most profitable: Installation J-2522 (37.1%).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call-outs by length, June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June · Call-outs and repairs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49.1%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58379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2895539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May · Call-outs and repairs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539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539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9558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196718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6718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6718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(June)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737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497897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Technician time charged, June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7897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$23,723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7897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73.9% of call-out revenue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61916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9799076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Materials charged, June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9076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$8,359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9076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$6,430 at cost, plus 30%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27" name="Connector 26"/>
          <p:cNvCxnSpPr/>
          <p:nvPr/>
        </p:nvCxnSpPr>
        <p:spPr>
          <a:xfrm>
            <a:off x="7683414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6134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70442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673162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44.9%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57 call-outs in June billed $23,723 of technician time and $8,359 of materials ($6,430 at cost plus 30%), and made a 49.1% job gross margin between them. Gross margins run from 44.5% to 51.8% by length: the hourly rate covers technician time comfortably, so the gross margin mostly moves with how much material goes on the van.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call-outs: 49.1% gross margin, 14.1 points over the 35.0% target ($4,529 ahead on $32,082 in June).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