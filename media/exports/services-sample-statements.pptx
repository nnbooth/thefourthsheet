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cat>
            <c:strRef>
              <c:f>Sheet1!$A$2:$A$11</c:f>
              <c:strCache>
                <c:ptCount val="10"/>
                <c:pt idx="0">
                  <c:v>Hospitality payroll</c:v>
                </c:pt>
                <c:pt idx="1">
                  <c:v>Excel for managers</c:v>
                </c:pt>
                <c:pt idx="2">
                  <c:v>Logistics systems rollout</c:v>
                </c:pt>
                <c:pt idx="3">
                  <c:v>Manufacturer process mapping</c:v>
                </c:pt>
                <c:pt idx="4">
                  <c:v>Dental group reporting</c:v>
                </c:pt>
                <c:pt idx="5">
                  <c:v>Construction firm finance</c:v>
                </c:pt>
                <c:pt idx="6">
                  <c:v>Health charity board pack</c:v>
                </c:pt>
                <c:pt idx="7">
                  <c:v>Agribusiness CFO support</c:v>
                </c:pt>
                <c:pt idx="8">
                  <c:v>Retail pricing review</c:v>
                </c:pt>
                <c:pt idx="9">
                  <c:v>Power BI basics</c:v>
                </c:pt>
              </c:strCache>
            </c:strRef>
          </c:cat>
          <c:val>
            <c:numRef>
              <c:f>Sheet1!$B$2:$B$11</c:f>
              <c:numCache>
                <c:formatCode>0.0"%";[Red](0.0"%")</c:formatCode>
                <c:ptCount val="10"/>
                <c:pt idx="0">
                  <c:v>32.2</c:v>
                </c:pt>
                <c:pt idx="1">
                  <c:v>34.4</c:v>
                </c:pt>
                <c:pt idx="2">
                  <c:v>41.9</c:v>
                </c:pt>
                <c:pt idx="3">
                  <c:v>57.7</c:v>
                </c:pt>
                <c:pt idx="4">
                  <c:v>64.8</c:v>
                </c:pt>
                <c:pt idx="5">
                  <c:v>66.5</c:v>
                </c:pt>
                <c:pt idx="6">
                  <c:v>66.7</c:v>
                </c:pt>
                <c:pt idx="7">
                  <c:v>68.2</c:v>
                </c:pt>
                <c:pt idx="8">
                  <c:v>71.4</c:v>
                </c:pt>
                <c:pt idx="9">
                  <c:v>83.5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6.024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$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cat>
            <c:strRef>
              <c:f>Sheet1!$A$2:$A$11</c:f>
              <c:strCache>
                <c:ptCount val="10"/>
                <c:pt idx="0">
                  <c:v>Hospitality payroll</c:v>
                </c:pt>
                <c:pt idx="1">
                  <c:v>Excel for managers</c:v>
                </c:pt>
                <c:pt idx="2">
                  <c:v>Logistics systems rollout</c:v>
                </c:pt>
                <c:pt idx="3">
                  <c:v>Manufacturer process mapping</c:v>
                </c:pt>
                <c:pt idx="4">
                  <c:v>Dental group reporting</c:v>
                </c:pt>
                <c:pt idx="5">
                  <c:v>Construction firm finance</c:v>
                </c:pt>
                <c:pt idx="6">
                  <c:v>Health charity board pack</c:v>
                </c:pt>
                <c:pt idx="7">
                  <c:v>Agribusiness CFO support</c:v>
                </c:pt>
                <c:pt idx="8">
                  <c:v>Retail pricing review</c:v>
                </c:pt>
                <c:pt idx="9">
                  <c:v>Power BI basics</c:v>
                </c:pt>
              </c:strCache>
            </c:strRef>
          </c:cat>
          <c:val>
            <c:numRef>
              <c:f>Sheet1!$B$2:$B$11</c:f>
              <c:numCache>
                <c:formatCode>$#,##0;[Red]($#,##0);"-"</c:formatCode>
                <c:ptCount val="10"/>
                <c:pt idx="0">
                  <c:v>1480</c:v>
                </c:pt>
                <c:pt idx="1">
                  <c:v>3340</c:v>
                </c:pt>
                <c:pt idx="2">
                  <c:v>17150</c:v>
                </c:pt>
                <c:pt idx="3">
                  <c:v>12800</c:v>
                </c:pt>
                <c:pt idx="4">
                  <c:v>4860</c:v>
                </c:pt>
                <c:pt idx="5">
                  <c:v>6920</c:v>
                </c:pt>
                <c:pt idx="6">
                  <c:v>7680</c:v>
                </c:pt>
                <c:pt idx="7">
                  <c:v>9000</c:v>
                </c:pt>
                <c:pt idx="8">
                  <c:v>14400</c:v>
                </c:pt>
                <c:pt idx="9">
                  <c:v>4260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722.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Monthly report pack, September 2026. Sample Advisory Pty Ltd. A Brisbane finance and operations consultancy: projects billed on milestones, monthly retainers and training. 6 consultants, 3 management and admin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fourth sheet: September 2026 vs August 2026: Consultant utilisation, September 76.2%; Revenue per billable hour $190; Unbilled work + unpaid invoices $251,402.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Gross margin on each client engagement, September 2026 work only. Gross margin % · September's revenue less contractors and consultant time at $60/hour. Before overheads: not profit. Not the whole engagement to date. One 40.0% target for every engagement for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Gross margin on each client engagement, September 2026 work only. Gross margin $ · September's revenue less contractors and consultant time at $60/hour. Before overheads: not profit. Not the whole engagement to date. One 40.0% target for every engagement for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it's worked out: Consultant utilisation. Billable hours ÷ hours available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it's worked out: Revenue per billable hour. Revenue ÷ billable hours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it's worked out: Cash tied up in work. Work in progress + unpaid invoices at month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Profit and loss, September 2026 (1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Profit and loss, September 2026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 sheet at 30 September 2026 (1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 sheet at 30 September 2026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Cash flow,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 engagements,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The business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Engagements (September)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Costs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Cash and balance 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GST, BAS and payroll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Monthly report pack, September 2026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A Brisbane finance and operations consultancy: projects billed on milestones, monthly retainers and training. 6 consultants, 3 management and admin staff.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The fourth sheet: September 2026 vs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Consultant utilisation,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76.2%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▲ from 72.6% in Aug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Revenue per billable hour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B42318"/>
                </a:solidFill>
                <a:latin typeface="Roboto"/>
              </a:rPr>
              <a:t>$190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▼ from $191 in Aug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Unbilled work + unpaid invoices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B42318"/>
                </a:solidFill>
                <a:latin typeface="Roboto"/>
              </a:rPr>
              <a:t>$251,402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▲ from $172,405 in Aug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Gross margin on each client engagement, September 2026 work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Gross margin % · September's revenue less contractors and consultant time at $60/hour. Before overheads: not profit. Not the whole engagement to date. One 40.0% target for every engagement for now.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565025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67745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40.0%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Gross margin on each client engagement, September 2026 work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Gross margin $ · September's revenue less contractors and consultant time at $60/hour. Before overheads: not profit. Not the whole engagement to date. One 40.0% target for every engagement for now.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Consultant utilisation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Billable hours ÷ hours available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78636"/>
          <a:ext cx="11277295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Billable hours (timesheets)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764.0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662.0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Consultants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Working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Hours per day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7.6 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7.6 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Hours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1,003.2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912.0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Utilisation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76.2%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72.6%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Revenue per billable hour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 ÷ billable hours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78636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$145,330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$126,500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Billable hours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764.0 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662.0 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 per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Cash tied up in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Work in progress + unpaid invoices at month 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78636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Work in progress (project time not yet billed)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$109,810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Unpaid client invoices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$141,592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$86,405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tied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$251,402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$172,405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Profit and loss, September 2026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 (hours worked)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94,830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83,800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145,330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126,500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18,830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Consultant salaries (incl. on-costs)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(60,192)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(54,720)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(5,472)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Contractors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(17,600)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(6,900)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(10,700)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cost of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(77,792)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(61,620)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(16,172)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67,538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64,880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2,658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Management and admin wages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(24,000)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(24,000)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Marketing and business development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(5,800)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(6,500)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Rent and occupancy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IT and software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(4,500)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(4,500)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Professional indemnity insurance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Travel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(1,800)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(2,600)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Profit and loss, September 2026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Other overheads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operating expenses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(49,900)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(51,400)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17,638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Depreciation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Interest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15,398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11,230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4,168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 provision (25%)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(3,850)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(2,808)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(1,042)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Net profit after tax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11,548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8,422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3,126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Balance sheet at 30 September 2026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207,781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229,278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(21,497)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Trade debtors (unpaid invoices)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141,592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86,405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55,187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Work in progress (unbilled project 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109,810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23,810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Prepayments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current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474,183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416,683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Office equipment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534,383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475,683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58,700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Trade creditors (bills due next month)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19,360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7,590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11,770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Wages owed (since the last pay run)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23,174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8,226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Super payable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3,766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2,780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986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PAYG withholding payable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47,814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31,876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GST payable (net)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20,412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12,930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7,482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Employee leave provisions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 payable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55,158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51,308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3,850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Balance sheet at 30 September 2026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current liabilities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300,210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251,358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48,852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Equipment finance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(1,700)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liabilities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314,810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267,658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47,152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Net assets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219,573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208,025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11,548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Share capital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Retained earnings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199,573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188,025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11,548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219,573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208,025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11,548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11 of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Cash flow,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Receipts from customers (invoices paid)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78,485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166,100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(87,615)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Payments to contractors and suppliers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(36,080)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(34,430)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(1,650)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Payments to employees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(58,442)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(58,442)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Interest paid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(240)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(250)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GST, PAYG and income tax paid (BAS)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operating activities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(16,277)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72,978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(89,255)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Purchase of equipment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(3,520)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(3,520)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investing activities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(3,520)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(3,520)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Equipment finance repaid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(1,700)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(1,700)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financing activities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(1,700)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(1,700)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change in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(21,497)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71,278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(92,775)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start of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229,278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158,000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71,278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Cash at end of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207,781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229,278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(21,497)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12 of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Client engagements,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Engagement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Type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Hours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Billed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Contractors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Agribusiness CFO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Construction firm finance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6,920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66.5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Dental group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Excel for managers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3,340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34.4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Health charity board pack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Hospitality payroll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1,480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32.2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Logistics systems 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33,400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Manufacturer process mapping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26,100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57.7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Power BI basics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Retail pricing review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20,160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71.4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13 of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The business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932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What it 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 Brisbane finance and operations consultancy: projects billed on milestones, monthly retainers and training. 6 consultants, 3 management and admin staff.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Reporting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September 2026, compared with August 2026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Financial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FY2027: 1 July 2026 to 30 June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14 of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Engagements (September)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12435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hours worked at each project's rate; billed on milestones (unbilled time = work in progress)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fixed monthly fee, billed monthly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fixed fee, billed on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Engagements in September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 (every one is in the spreadsheet download and CSV)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15 of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12435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Consultants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 employed full time: $60,192 in September incl. on-costs (every available hour at $60)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Engagement costing rate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$60/hour = consultant salaries incl. on-costs ÷ available hours, worked out each month; time charged to clients + time not charged = salaries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Working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 in August (21 weekdays, less the Ekka People's Day holiday, Wed 12 Aug), 22 in September; 7.6 hours a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25% of profit, provided monthly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16 of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Cash and balance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6217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Client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each invoice is paid on its own date; unpaid invoices at month end = debtors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Contractors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paid the following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17 of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GST, BAS and payroll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186537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registered; 10%, accruals basis: GST on a sale is owed when it's invoiced, a credit on a bill is claimed when it's received. The P&amp;L excludes GST; invoices, bills, debtors, creditors and cash include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BAS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quarterly, self-lodged: GST on sales − GST credits + PAYG withheld + PAYG instalment. July to September is due 28 October; October to December, 28 February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fortnightly on Thursdays: $33,205 gross (a 26th of the year's gross wages); net pay $25,236 and super $3,985 paid on the day; PAYG withheld (about 24% of gross, $7,969) goes with the BAS. Two months a year have three pay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Super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12% of gross wages, paid with each pay run (Payday Super, from 1 July 2026)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Payroll 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none: Queensland's threshold is $1.3 million of wages a year (rate 4.75% above it); this business pays about $967,000 including super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Banking days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money only moves on banking days: a payment due on a weekend or Queensland public holiday moves to the next banking day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services-sample-statements.pptx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18 of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