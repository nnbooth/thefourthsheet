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0.0"%";[Red](0.0"%")</c:formatCode>
                <c:ptCount val="10"/>
                <c:pt idx="0">
                  <c:v>32.2</c:v>
                </c:pt>
                <c:pt idx="1">
                  <c:v>34.4</c:v>
                </c:pt>
                <c:pt idx="2">
                  <c:v>41.9</c:v>
                </c:pt>
                <c:pt idx="3">
                  <c:v>57.7</c:v>
                </c:pt>
                <c:pt idx="4">
                  <c:v>64.8</c:v>
                </c:pt>
                <c:pt idx="5">
                  <c:v>66.5</c:v>
                </c:pt>
                <c:pt idx="6">
                  <c:v>66.7</c:v>
                </c:pt>
                <c:pt idx="7">
                  <c:v>68.2</c:v>
                </c:pt>
                <c:pt idx="8">
                  <c:v>71.4</c:v>
                </c:pt>
                <c:pt idx="9">
                  <c:v>83.5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6.02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$#,##0;[Red]($#,##0);"-"</c:formatCode>
                <c:ptCount val="10"/>
                <c:pt idx="0">
                  <c:v>1480</c:v>
                </c:pt>
                <c:pt idx="1">
                  <c:v>3340</c:v>
                </c:pt>
                <c:pt idx="2">
                  <c:v>17150</c:v>
                </c:pt>
                <c:pt idx="3">
                  <c:v>12800</c:v>
                </c:pt>
                <c:pt idx="4">
                  <c:v>4860</c:v>
                </c:pt>
                <c:pt idx="5">
                  <c:v>6920</c:v>
                </c:pt>
                <c:pt idx="6">
                  <c:v>7680</c:v>
                </c:pt>
                <c:pt idx="7">
                  <c:v>9000</c:v>
                </c:pt>
                <c:pt idx="8">
                  <c:v>14400</c:v>
                </c:pt>
                <c:pt idx="9">
                  <c:v>4260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722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Advisory Pty Ltd. 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Consultant utilisation, September 76.2%; Revenue per billable hour $190; Unbilled work + unpaid invoices $251,402.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Consultant utilisation. Billable hours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Revenue per billable hour. Revenue ÷ billable hours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Cash tied up in work. Work in progress + unpaid invoices at month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engagements,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Engagements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GST, BAS and payroll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Consultant utilisation,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72.6%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Revenue per billable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$190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$191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Unbilled work + unpaid 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$251,402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$172,405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565025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67745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40.0%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Consultant 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Billable hours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1,003.2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912.0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Utilisation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Revenue per billable hour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 ÷ billable hours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$145,330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per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Cash tied up in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Work in progress + unpaid invoices at month 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(project time not yet billed)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$109,810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Unpaid client invoices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$141,592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$86,405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$251,402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$172,405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 (hours worked)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94,830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145,330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18,830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 salaries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(60,192)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(54,720)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(5,472)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(77,792)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(61,620)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(16,172)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67,538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64,880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2,658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Management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and business development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Professional indemnity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Travel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(49,900)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(51,400)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(3,850)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(2,808)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8,422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3,126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207,781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229,278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(21,497)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141,592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86,405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55,187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(unbilled project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109,810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474,183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416,683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534,383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475,683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19,360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11,770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Wages owed (since the last pay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23,174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3,766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986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PAYG withholding payable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15,938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payable (net)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20,412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7,482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55,158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51,308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300,210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251,358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48,852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314,810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267,658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47,152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219,573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208,025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199,573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188,025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219,573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208,025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78,485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(87,615)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contractors and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(34,430)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(1,650)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(58,442)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(58,442)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GST, PAYG and income tax paid (BAS)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(16,277)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72,978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(89,255)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(21,497)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(92,775)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229,278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207,781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229,278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(21,497)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Client engagements,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Engagement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Billed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Agribusiness CFO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Construction firm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Dental group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Excel for managers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3,340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Health charity board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Hospitality payroll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32.2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Logistics systems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Manufacturer process mapping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Power BI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Retail pricing review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20,160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finance and operations consultancy: projects billed on milestones, monthly retainers and training. 6 consultants, 3 management and admin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Engagements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worked at each project's rate; billed on milestones (unbilled time = work in progress)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monthly fee, billed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fee, billed on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 (every one is in the spreadsheet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employed full time: $60,192 in September incl. on-costs (every available hour at $60)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$60/hour = consultant salaries incl. on-costs ÷ available hours, worked out each month; time charged to clients + time not charged = salaries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(21 weekdays, less the Ekka People's Day holiday, Wed 12 Aug),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6217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Client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GST, BAS and payroll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86537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registered; 10%, accruals basis: GST on a sale is owed when it's invoiced, a credit on a bill is claimed when it's received. The P&amp;L excludes GST; invoices, bills, debtors, creditors and cash include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quarterly, self-lodged: GST on sales − GST credits + PAYG withheld + PAYG instalment. July to September is due 28 October; October to December, 28 February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fortnightly on Thursdays: $33,205 gross (a 26th of the year's gross wages); net pay $25,236 and super $3,985 paid on the day; PAYG withheld (about 24% of gross, $7,969) goes with the BAS. Two months a year have three 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12% of gross wages, paid with each pay run (Payday Super, from 1 July 2026)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Payroll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Queensland's threshold is $1.3 million of wages a year (rate 4.75% above it); this business pays about $967,000 including super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Banking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only moves on banking days: a payment due on a weekend or Queensland public holiday moves to the next banking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