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budget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8A6D3B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B42318"/>
              </a:solidFill>
            </c:spPr>
          </c:dPt>
          <c:cat>
            <c:strRef>
              <c:f>Sheet1!$A$2:$A$7</c:f>
              <c:strCache>
                <c:ptCount val="6"/>
                <c:pt idx="0">
                  <c:v>Mental health first aid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  <c:pt idx="4">
                  <c:v>Volunteer coordinator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0.0"% over";0.0"% under";"on budget"</c:formatCode>
                <c:ptCount val="6"/>
                <c:pt idx="0">
                  <c:v>-4.7</c:v>
                </c:pt>
                <c:pt idx="1">
                  <c:v>-4.6</c:v>
                </c:pt>
                <c:pt idx="2">
                  <c:v>-0.7</c:v>
                </c:pt>
                <c:pt idx="3">
                  <c:v>0.0</c:v>
                </c:pt>
                <c:pt idx="4">
                  <c:v>0.0</c:v>
                </c:pt>
                <c:pt idx="5">
                  <c:v>2.1</c:v>
                </c:pt>
              </c:numCache>
            </c:numRef>
          </c:val>
        </c:ser>
        <c:dLbls>
          <c:numFmt formatCode="0.0&quot;% over&quot;;0.0&quot;% under&quot;;&quot;on budget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15"/>
          <c:min val="-5.404999999999999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8A6D3B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B42318"/>
              </a:solidFill>
            </c:spPr>
          </c:dPt>
          <c:cat>
            <c:strRef>
              <c:f>Sheet1!$A$2:$A$7</c:f>
              <c:strCache>
                <c:ptCount val="6"/>
                <c:pt idx="0">
                  <c:v>Mental health first aid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  <c:pt idx="4">
                  <c:v>Volunteer coordinator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$#,##0" over";$#,##0" under";"on budget"</c:formatCode>
                <c:ptCount val="6"/>
                <c:pt idx="0">
                  <c:v>-2800</c:v>
                </c:pt>
                <c:pt idx="1">
                  <c:v>-12300</c:v>
                </c:pt>
                <c:pt idx="2">
                  <c:v>-400</c:v>
                </c:pt>
                <c:pt idx="3">
                  <c:v>0</c:v>
                </c:pt>
                <c:pt idx="4">
                  <c:v>0</c:v>
                </c:pt>
                <c:pt idx="5">
                  <c:v>6300</c:v>
                </c:pt>
              </c:numCache>
            </c:numRef>
          </c:val>
        </c:ser>
        <c:dLbls>
          <c:numFmt formatCode="$#,##0&quot; over&quot;;$#,##0&quot; under&quot;;&quot;on budget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44.999999999999"/>
          <c:min val="-14144.999999999998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report pack, September 2026. Sample Community Services Ltd. A Brisbane community services charity funded by six grants, donations, events and program fees. About 18 staff. Registered charity, income-tax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sheet: September 2026 vs August 2026: Cost to raise a dollar, September 20¢; Unrestricted cash runway 1.9 months; Grants ending in 6 months $210,500.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grant: over or under budget to 30 September 2026. % of budget · Spending to date against budget to date (the grant spread evenly over its months). Over budget in red, under budget in green; within 1% in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grant: over or under budget to 30 September 2026. $ · Spending to date against budget to date (the grant spread evenly over its months). Over budget in red, under budget in green; within 1% in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Cost to raise a dollar. Fundraising costs ÷ money raised (grants, donations, events), in cents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Unrestricted cash runway. (Cash at bank − unspent grant money − GST and PAYG owed to the ATO) ÷ a month's cash spending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Grants ending in the next 6 months. Grant total − spent to date, for each grant ending soon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Income and expenditure,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Income and expenditure,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flow,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 at 30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The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Grants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Other income and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Cash and balance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GST, BAS and payroll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 Brisbane community services charity funded by six grants, donations, events and program fees. About 18 staff. Registered charity, income-tax exempt.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20¢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▲ from 13¢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1.9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■ same as Aug (1.9 months)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Grants ending in 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$210,500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spend in 6 months · 4 grants 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Each grant: over or under budget to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% of budget · Spending to date against budget to date (the grant spread evenly over its months). Over budget in red, under budget in green; within 1% in amber.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Each grant: over or under budget to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$ · Spending to date against budget to date (the grant spread evenly over its months). Over budget in red, under budget in green; within 1% in amber.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Cost to raise a dollar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Fundraising costs ÷ money raised (grants, donations, events), in cents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writing and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Donor campaigns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Event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Money raised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$146,500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Cost per dollar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Unrestricted cash runway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(Cash at bank − unspent grant money − GST and PAYG owed to the ATO) ÷ a month's cash spending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$527,060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$547,394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Less unspent grant money (belongs to funders' programs)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($156,100)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($221,900)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Less GST and PAYG withheld owed to the ATO (paid with the BAS)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($65,523)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($51,696)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$305,437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$273,798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spending in the month (expenses less depreciation)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Runway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1.9 months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1.9 months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Grants ending in the next 6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total − spent to date, for each grant ending soon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 (ends 31 Dec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 (ends 31 Mar 2027)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 (ends 31 Mar 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 (ends 28 Feb 2027)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still to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$210,500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Income and expenditure,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176,180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120,350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55,830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program wages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(57,750)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(55,275)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(2,475)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program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(19,250)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(18,425)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delivery wages (untied)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Income and expenditure,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costs (untied)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program spend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(97,600)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(93,200)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writing and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Donor campaigns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Event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(16,900)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fundraising 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(29,400)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(17,700)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Administration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Occupancy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administration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(35,900)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(36,300)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(165,800)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(144,100)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Surplus for the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(23,750)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34,130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527,060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547,394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(20,334)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 receivable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11,440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10,780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 receivable (spent ahead of instalment)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580,400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588,874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(8,474)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752,600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763,974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(11,374)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Payables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71,775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51,178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20,597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Wages owed (since the last pay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3,444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PAYG withholding payable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40,086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 payable (net)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25,437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24,972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 received in advance (unspent)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(65,800)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166,600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165,900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501,075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522,829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(21,754)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251,525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241,145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Accumulated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251,525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241,145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instalments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 and fundraising received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73,660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55,260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received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(51,178)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(36,500)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(14,678)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(74,666)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(74,666)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 and PAYG paid (BAS)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(20,334)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(62,606)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42,272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vehicles and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(20,334)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(62,606)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42,272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547,394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(62,606)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527,060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547,394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(20,334)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 at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7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Funder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Start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Received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Aug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Sep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Spend vs budget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Department of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2025-07-01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Housing Program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2026-01-01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2026-12-31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102,300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Local council community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Philanthropic foundation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2025-10-01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2027-03-31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Federal health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2026-04-01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2027-03-31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volunteering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2026-03-01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2027-02-28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100.0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The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93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Brisbane community services charity funded by six grants, donations, events and program fees. About 18 staff. Registered charity, income-tax exempt.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24871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Department of Families: $480,000, 2025-07 to 2027-06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Housing Program: $360,000, 2026-01 to 2026-12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Local council community grant: $48,000, 2026-07 to 2027-06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Philanthropic foundation: $90,000, 2025-10 to 2027-03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Federal health program: $120,000, 2026-04 to 2027-03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volunteering grant: $36,000, 2026-03 to 2027-02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recognised as the money is spent on the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Unspent grants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instalments received but not yet spent are a liability (grants received in advance)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Other income and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including the spring appeal in 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gala: income and costs in the same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spending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75% wages, the rest program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none: registered charity, income-tax exempt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Cash and balance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paid the following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 less unspent grant money, and less GST and PAYG withheld owed to the ATO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runway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 ÷ this month's cash spending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Reserves target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 months of spending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GST, BAS and payroll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registered (income over the $150,000 not-for-profit threshold); 10%, accruals basis. The P&amp;L excludes GST; cash, fees receivable and bills include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quarterly, self-lodged: GST on sales − GST credits + PAYG withheld. July to September is due 28 October; October to December, 28 February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fortnightly on Thursdays: $39,298 gross (a 26th of the year's gross wages); net pay $32,617 and super $4,716 paid on the day; PAYG withheld (about 17% of gross, $6,681) goes with the BAS. Two months a year have three 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12% of gross wages, paid with each pay run (Payday Super, from 1 July 2026)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Payroll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none: the charity is exempt for wages paid for its charitable work (assumption to confirm)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Banking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money only moves on banking days: a payment due on a weekend or Queensland public holiday moves to the next banking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 (assumption to confirm)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 GST: a gift isn't payment for anything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 (assumption to confirm)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taxable: GST included in what's charged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 (assumption to confirm)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taxable supplies under each funding agreement: the funder pays each instalment plus 10% 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 (assumption to confirm)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taxable: ticket sales include GST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